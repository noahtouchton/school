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omments/modernComment_117_CE0E17A4.xml" ContentType="application/vnd.ms-powerpoint.comments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62" r:id="rId3"/>
    <p:sldId id="267" r:id="rId4"/>
    <p:sldId id="278" r:id="rId5"/>
    <p:sldId id="279" r:id="rId6"/>
    <p:sldId id="280" r:id="rId7"/>
    <p:sldId id="281" r:id="rId8"/>
    <p:sldId id="282" r:id="rId9"/>
    <p:sldId id="273" r:id="rId10"/>
    <p:sldId id="274" r:id="rId11"/>
    <p:sldId id="275" r:id="rId12"/>
    <p:sldId id="276" r:id="rId13"/>
    <p:sldId id="283" r:id="rId14"/>
    <p:sldId id="284" r:id="rId15"/>
    <p:sldId id="302" r:id="rId16"/>
    <p:sldId id="285" r:id="rId17"/>
    <p:sldId id="303" r:id="rId18"/>
    <p:sldId id="286" r:id="rId19"/>
    <p:sldId id="287" r:id="rId20"/>
    <p:sldId id="269" r:id="rId21"/>
    <p:sldId id="301" r:id="rId22"/>
    <p:sldId id="289" r:id="rId23"/>
    <p:sldId id="288" r:id="rId24"/>
    <p:sldId id="300" r:id="rId25"/>
    <p:sldId id="290" r:id="rId26"/>
    <p:sldId id="291" r:id="rId27"/>
    <p:sldId id="298" r:id="rId28"/>
    <p:sldId id="292" r:id="rId29"/>
    <p:sldId id="293" r:id="rId30"/>
    <p:sldId id="294" r:id="rId31"/>
    <p:sldId id="295" r:id="rId32"/>
    <p:sldId id="296" r:id="rId33"/>
    <p:sldId id="297" r:id="rId34"/>
    <p:sldId id="299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738358B-D4DA-3BF5-FC61-C8B9053DA9E8}" name="Noah Touchton" initials="NT" userId="8efb8ab309629862" providerId="Windows Live"/>
  <p188:author id="{C9D694ED-FC33-40EA-AF97-62CA419D652F}" name="Camargo, Naomi" initials="CN" userId="S::anaomi.camargo@ufl.edu::06bc4c7e-40a3-4ed3-98c3-eb58ec89633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4C9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755"/>
    <p:restoredTop sz="94573"/>
  </p:normalViewPr>
  <p:slideViewPr>
    <p:cSldViewPr snapToGrid="0">
      <p:cViewPr varScale="1">
        <p:scale>
          <a:sx n="100" d="100"/>
          <a:sy n="100" d="100"/>
        </p:scale>
        <p:origin x="184" y="11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40" Type="http://schemas.microsoft.com/office/2018/10/relationships/authors" Target="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Mass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DA1C-284C-8797-6BA8852B8B76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DA1C-284C-8797-6BA8852B8B76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DA1C-284C-8797-6BA8852B8B76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DA1C-284C-8797-6BA8852B8B76}"/>
              </c:ext>
            </c:extLst>
          </c:dPt>
          <c:dPt>
            <c:idx val="4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DA1C-284C-8797-6BA8852B8B76}"/>
              </c:ext>
            </c:extLst>
          </c:dPt>
          <c:dPt>
            <c:idx val="5"/>
            <c:bubble3D val="0"/>
            <c:spPr>
              <a:solidFill>
                <a:schemeClr val="accent6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DA1C-284C-8797-6BA8852B8B76}"/>
              </c:ext>
            </c:extLst>
          </c:dPt>
          <c:dPt>
            <c:idx val="6"/>
            <c:bubble3D val="0"/>
            <c:spPr>
              <a:solidFill>
                <a:schemeClr val="accent1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D-DA1C-284C-8797-6BA8852B8B76}"/>
              </c:ext>
            </c:extLst>
          </c:dPt>
          <c:dPt>
            <c:idx val="7"/>
            <c:bubble3D val="0"/>
            <c:spPr>
              <a:solidFill>
                <a:schemeClr val="accent2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F-DA1C-284C-8797-6BA8852B8B76}"/>
              </c:ext>
            </c:extLst>
          </c:dPt>
          <c:cat>
            <c:strRef>
              <c:f>Sheet1!$A$2:$A$9</c:f>
              <c:strCache>
                <c:ptCount val="8"/>
                <c:pt idx="0">
                  <c:v>PULSAR-STX Transmitter</c:v>
                </c:pt>
                <c:pt idx="1">
                  <c:v>ISIS S-Band Patch Antenna</c:v>
                </c:pt>
                <c:pt idx="2">
                  <c:v>GomSpace AX100 Transceiver</c:v>
                </c:pt>
                <c:pt idx="3">
                  <c:v>AAC ANT-100 Whip Antennas (x2)</c:v>
                </c:pt>
                <c:pt idx="4">
                  <c:v>Semtech SX1262 Boards (x2)</c:v>
                </c:pt>
                <c:pt idx="5">
                  <c:v>STM32H723VET6 Microcontroller</c:v>
                </c:pt>
                <c:pt idx="6">
                  <c:v>64 GB eMMC Storage</c:v>
                </c:pt>
                <c:pt idx="7">
                  <c:v>RF Pigtail Cables (x4)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100</c:v>
                </c:pt>
                <c:pt idx="1">
                  <c:v>50</c:v>
                </c:pt>
                <c:pt idx="2">
                  <c:v>25</c:v>
                </c:pt>
                <c:pt idx="3">
                  <c:v>100</c:v>
                </c:pt>
                <c:pt idx="4">
                  <c:v>30</c:v>
                </c:pt>
                <c:pt idx="5">
                  <c:v>20</c:v>
                </c:pt>
                <c:pt idx="6">
                  <c:v>1</c:v>
                </c:pt>
                <c:pt idx="7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94-2F4D-8950-5458E720107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Baseline Power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5166-D249-AA28-6D6E40A4750C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5166-D249-AA28-6D6E40A4750C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5166-D249-AA28-6D6E40A4750C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5166-D249-AA28-6D6E40A4750C}"/>
              </c:ext>
            </c:extLst>
          </c:dPt>
          <c:dPt>
            <c:idx val="4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5166-D249-AA28-6D6E40A4750C}"/>
              </c:ext>
            </c:extLst>
          </c:dPt>
          <c:dPt>
            <c:idx val="5"/>
            <c:bubble3D val="0"/>
            <c:spPr>
              <a:solidFill>
                <a:schemeClr val="accent6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5166-D249-AA28-6D6E40A4750C}"/>
              </c:ext>
            </c:extLst>
          </c:dPt>
          <c:dPt>
            <c:idx val="6"/>
            <c:bubble3D val="0"/>
            <c:spPr>
              <a:solidFill>
                <a:schemeClr val="accent1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D-5166-D249-AA28-6D6E40A4750C}"/>
              </c:ext>
            </c:extLst>
          </c:dPt>
          <c:dPt>
            <c:idx val="7"/>
            <c:bubble3D val="0"/>
            <c:spPr>
              <a:solidFill>
                <a:schemeClr val="accent2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F-5166-D249-AA28-6D6E40A4750C}"/>
              </c:ext>
            </c:extLst>
          </c:dPt>
          <c:cat>
            <c:strRef>
              <c:f>Sheet1!$A$2:$A$9</c:f>
              <c:strCache>
                <c:ptCount val="8"/>
                <c:pt idx="0">
                  <c:v>PULSAR-STX Transmitter</c:v>
                </c:pt>
                <c:pt idx="1">
                  <c:v>ISIS S-Band Patch Antenna</c:v>
                </c:pt>
                <c:pt idx="2">
                  <c:v>GomSpace AX100 Transceiver</c:v>
                </c:pt>
                <c:pt idx="3">
                  <c:v>AAC ANT-100 Whip Antennas (x2)</c:v>
                </c:pt>
                <c:pt idx="4">
                  <c:v>Semtech SX1262 Boards (x2)</c:v>
                </c:pt>
                <c:pt idx="5">
                  <c:v>STM32H723VET6 Microcontroller</c:v>
                </c:pt>
                <c:pt idx="6">
                  <c:v>64 GB eMMC Storage</c:v>
                </c:pt>
                <c:pt idx="7">
                  <c:v>RF Pigtail Cables (x4)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0.5</c:v>
                </c:pt>
                <c:pt idx="1">
                  <c:v>0</c:v>
                </c:pt>
                <c:pt idx="2">
                  <c:v>0.2</c:v>
                </c:pt>
                <c:pt idx="3">
                  <c:v>0</c:v>
                </c:pt>
                <c:pt idx="4">
                  <c:v>0.05</c:v>
                </c:pt>
                <c:pt idx="5">
                  <c:v>0.3</c:v>
                </c:pt>
                <c:pt idx="6">
                  <c:v>0.1</c:v>
                </c:pt>
                <c:pt idx="7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94-2F4D-8950-5458E720107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Peak Power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A4F-1C44-BEC2-33F0D889A295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A4F-1C44-BEC2-33F0D889A295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A4F-1C44-BEC2-33F0D889A295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0A4F-1C44-BEC2-33F0D889A295}"/>
              </c:ext>
            </c:extLst>
          </c:dPt>
          <c:dPt>
            <c:idx val="4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0A4F-1C44-BEC2-33F0D889A295}"/>
              </c:ext>
            </c:extLst>
          </c:dPt>
          <c:dPt>
            <c:idx val="5"/>
            <c:bubble3D val="0"/>
            <c:spPr>
              <a:solidFill>
                <a:schemeClr val="accent6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0A4F-1C44-BEC2-33F0D889A295}"/>
              </c:ext>
            </c:extLst>
          </c:dPt>
          <c:dPt>
            <c:idx val="6"/>
            <c:bubble3D val="0"/>
            <c:spPr>
              <a:solidFill>
                <a:schemeClr val="accent1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D-0A4F-1C44-BEC2-33F0D889A295}"/>
              </c:ext>
            </c:extLst>
          </c:dPt>
          <c:dPt>
            <c:idx val="7"/>
            <c:bubble3D val="0"/>
            <c:spPr>
              <a:solidFill>
                <a:schemeClr val="accent2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F-0A4F-1C44-BEC2-33F0D889A295}"/>
              </c:ext>
            </c:extLst>
          </c:dPt>
          <c:cat>
            <c:strRef>
              <c:f>Sheet1!$A$2:$A$9</c:f>
              <c:strCache>
                <c:ptCount val="8"/>
                <c:pt idx="0">
                  <c:v>PULSAR-STX Transmitter</c:v>
                </c:pt>
                <c:pt idx="1">
                  <c:v>ISIS S-Band Patch Antenna</c:v>
                </c:pt>
                <c:pt idx="2">
                  <c:v>GomSpace AX100 Transceiver</c:v>
                </c:pt>
                <c:pt idx="3">
                  <c:v>AAC ANT-100 Whip Antennas (x2)</c:v>
                </c:pt>
                <c:pt idx="4">
                  <c:v>Semtech SX1262 Boards (x2)</c:v>
                </c:pt>
                <c:pt idx="5">
                  <c:v>STM32H723VET6 Microcontroller</c:v>
                </c:pt>
                <c:pt idx="6">
                  <c:v>64 GB eMMC Storage</c:v>
                </c:pt>
                <c:pt idx="7">
                  <c:v>RF Pigtail Cables (x4)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</c:v>
                </c:pt>
                <c:pt idx="1">
                  <c:v>0</c:v>
                </c:pt>
                <c:pt idx="2">
                  <c:v>2.6</c:v>
                </c:pt>
                <c:pt idx="3">
                  <c:v>0</c:v>
                </c:pt>
                <c:pt idx="4">
                  <c:v>0.3</c:v>
                </c:pt>
                <c:pt idx="5">
                  <c:v>0.7</c:v>
                </c:pt>
                <c:pt idx="6">
                  <c:v>0.3</c:v>
                </c:pt>
                <c:pt idx="7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0A4F-1C44-BEC2-33F0D889A29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omments/modernComment_117_CE0E17A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552F5C3B-D78F-B644-840F-15328616AF92}" authorId="{1738358B-D4DA-3BF5-FC61-C8B9053DA9E8}" created="2025-10-02T22:05:09.96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457030052" sldId="279"/>
      <ac:graphicFrameMk id="12" creationId="{FBA8BBE2-2343-766C-1793-DC5519F3512C}"/>
    </ac:deMkLst>
    <p188:txBody>
      <a:bodyPr/>
      <a:lstStyle/>
      <a:p>
        <a:r>
          <a:rPr lang="en-US"/>
          <a:t>change this number when accounting for engineering data.</a:t>
        </a:r>
      </a:p>
    </p188:txBody>
  </p188:cm>
</p188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418A7C-2B12-8D14-563D-9DCB36C271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332BE1-279E-4118-9FE3-7952B079A510}" type="datetimeFigureOut">
              <a:rPr lang="en-US" smtClean="0"/>
              <a:t>10/3/25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FC884CD-E564-1556-AC37-875E5E158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B7705BF-59F9-7D3A-4871-157F5B6C7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365885"/>
      </p:ext>
    </p:extLst>
  </p:cSld>
  <p:clrMapOvr>
    <a:masterClrMapping/>
  </p:clrMapOvr>
  <p:hf hdr="0" ftr="0"/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7156E-175E-4DBA-9D21-B772C320F342}" type="datetimeFigureOut">
              <a:rPr lang="en-US" dirty="0"/>
              <a:t>10/3/25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5383890"/>
      </p:ext>
    </p:extLst>
  </p:cSld>
  <p:clrMapOvr>
    <a:masterClrMapping/>
  </p:clrMapOvr>
  <p:hf hdr="0" ft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895F6E-3D02-4292-95D1-C62B3126321B}" type="datetimeFigureOut">
              <a:rPr lang="en-US" dirty="0"/>
              <a:t>10/3/25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0154458"/>
      </p:ext>
    </p:extLst>
  </p:cSld>
  <p:clrMapOvr>
    <a:masterClrMapping/>
  </p:clrMapOvr>
  <p:hf hdr="0" ft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B5ACB-D10C-44A8-9570-124370F4CB38}" type="datetimeFigureOut">
              <a:rPr lang="en-US" dirty="0"/>
              <a:t>10/3/25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0060793"/>
      </p:ext>
    </p:extLst>
  </p:cSld>
  <p:clrMapOvr>
    <a:masterClrMapping/>
  </p:clrMapOvr>
  <p:hf hdr="0" ft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8D84F4-0E7A-4BDE-98C6-AE68FB974645}" type="datetimeFigureOut">
              <a:rPr lang="en-US" dirty="0"/>
              <a:t>10/3/25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6430153"/>
      </p:ext>
    </p:extLst>
  </p:cSld>
  <p:clrMapOvr>
    <a:masterClrMapping/>
  </p:clrMapOvr>
  <p:hf hdr="0" ft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FF1D8-9801-4C4B-92F3-66C9A863BD74}" type="datetimeFigureOut">
              <a:rPr lang="en-US" dirty="0"/>
              <a:t>10/3/25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1543976"/>
      </p:ext>
    </p:extLst>
  </p:cSld>
  <p:clrMapOvr>
    <a:masterClrMapping/>
  </p:clrMapOvr>
  <p:hf hdr="0" ft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FE8FD-B23E-4E1A-83EF-0847EBEA0105}" type="datetimeFigureOut">
              <a:rPr lang="en-US" dirty="0"/>
              <a:t>10/3/25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56439"/>
      </p:ext>
    </p:extLst>
  </p:cSld>
  <p:clrMapOvr>
    <a:masterClrMapping/>
  </p:clrMapOvr>
  <p:hf hdr="0" ft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DF891E-A7C2-465C-AD39-8EDCB0F58E3C}" type="datetimeFigureOut">
              <a:rPr lang="en-US" dirty="0"/>
              <a:t>10/3/25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7333672"/>
      </p:ext>
    </p:extLst>
  </p:cSld>
  <p:clrMapOvr>
    <a:masterClrMapping/>
  </p:clrMapOvr>
  <p:hf hdr="0" ft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F93E5-AFB6-485C-8E3C-32F92A07875F}" type="datetimeFigureOut">
              <a:rPr lang="en-US" dirty="0"/>
              <a:t>10/3/25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5727182"/>
      </p:ext>
    </p:extLst>
  </p:cSld>
  <p:clrMapOvr>
    <a:masterClrMapping/>
  </p:clrMapOvr>
  <p:hf hdr="0" ft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76D0F-5A12-4D0A-80B0-1A6122B61E7B}" type="datetimeFigureOut">
              <a:rPr lang="en-US" dirty="0"/>
              <a:t>10/3/25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3393876"/>
      </p:ext>
    </p:extLst>
  </p:cSld>
  <p:clrMapOvr>
    <a:masterClrMapping/>
  </p:clrMapOvr>
  <p:hf hdr="0" ft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E8C84-89CA-44AB-B0BE-5C91BAF75478}" type="datetimeFigureOut">
              <a:rPr lang="en-US" dirty="0"/>
              <a:t>10/3/25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1395366"/>
      </p:ext>
    </p:extLst>
  </p:cSld>
  <p:clrMapOvr>
    <a:masterClrMapping/>
  </p:clrMapOvr>
  <p:hf hdr="0" ftr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3A332BE1-279E-4118-9FE3-7952B079A510}" type="datetimeFigureOut">
              <a:rPr lang="en-US" dirty="0"/>
              <a:t>10/3/25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7223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microsoft.com/office/2018/10/relationships/comments" Target="../comments/modernComment_117_CE0E17A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Premium Photo | Globe view of Planet Earth from space Shows the earth's ...">
            <a:extLst>
              <a:ext uri="{FF2B5EF4-FFF2-40B4-BE49-F238E27FC236}">
                <a16:creationId xmlns:a16="http://schemas.microsoft.com/office/drawing/2014/main" id="{0C6812E7-DFBA-EBB4-9F52-92085382EAE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l="444"/>
          <a:stretch>
            <a:fillRect/>
          </a:stretch>
        </p:blipFill>
        <p:spPr>
          <a:xfrm>
            <a:off x="-2" y="-2"/>
            <a:ext cx="12192001" cy="685800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8318" y="432497"/>
            <a:ext cx="9014269" cy="975396"/>
          </a:xfrm>
        </p:spPr>
        <p:txBody>
          <a:bodyPr anchor="t">
            <a:normAutofit fontScale="90000"/>
          </a:bodyPr>
          <a:lstStyle/>
          <a:p>
            <a:r>
              <a:rPr lang="en-US" sz="6000">
                <a:solidFill>
                  <a:srgbClr val="FFFFFF"/>
                </a:solidFill>
                <a:latin typeface="Bierstadt"/>
              </a:rPr>
              <a:t>TANGO GATOR-SAT Project</a:t>
            </a:r>
            <a:br>
              <a:rPr lang="en-US" sz="6000">
                <a:latin typeface="Bierstadt"/>
              </a:rPr>
            </a:br>
            <a:endParaRPr lang="en-US" sz="6000">
              <a:solidFill>
                <a:srgbClr val="FFFFFF"/>
              </a:solidFill>
              <a:latin typeface="Bierstadt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452974" y="1411703"/>
            <a:ext cx="3300696" cy="1348716"/>
          </a:xfrm>
        </p:spPr>
        <p:txBody>
          <a:bodyPr anchor="t">
            <a:normAutofit/>
          </a:bodyPr>
          <a:lstStyle/>
          <a:p>
            <a:r>
              <a:rPr lang="en-US" sz="2400" i="0">
                <a:solidFill>
                  <a:srgbClr val="FFFFFF"/>
                </a:solidFill>
                <a:latin typeface="Bierstadt"/>
              </a:rPr>
              <a:t>System Design Review</a:t>
            </a:r>
          </a:p>
          <a:p>
            <a:endParaRPr lang="en-US" sz="2400" i="0">
              <a:solidFill>
                <a:srgbClr val="FFFFFF"/>
              </a:solidFill>
              <a:latin typeface="Bierstadt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C3C06EBE-E9C3-444A-210C-EBACF003A901}"/>
              </a:ext>
            </a:extLst>
          </p:cNvPr>
          <p:cNvSpPr txBox="1">
            <a:spLocks/>
          </p:cNvSpPr>
          <p:nvPr/>
        </p:nvSpPr>
        <p:spPr>
          <a:xfrm>
            <a:off x="920479" y="5135267"/>
            <a:ext cx="10363411" cy="172402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2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400" i="0">
                <a:solidFill>
                  <a:srgbClr val="FFFFFF"/>
                </a:solidFill>
                <a:latin typeface="Bierstadt"/>
              </a:rPr>
              <a:t>Naomi Camargo, </a:t>
            </a:r>
            <a:r>
              <a:rPr lang="en-US" sz="2400" i="0" err="1">
                <a:solidFill>
                  <a:srgbClr val="FFFFFF"/>
                </a:solidFill>
                <a:latin typeface="Bierstadt"/>
              </a:rPr>
              <a:t>Shadalou</a:t>
            </a:r>
            <a:r>
              <a:rPr lang="en-US" sz="2400" i="0">
                <a:solidFill>
                  <a:srgbClr val="FFFFFF"/>
                </a:solidFill>
                <a:latin typeface="Bierstadt"/>
              </a:rPr>
              <a:t> Fernandez, Andre Hada, Nicholas Hirsh, Nicholas Kottas, Dhruv Mathuria, Nishtha Rajani, Noah Touchton, Ian Truelsegaard</a:t>
            </a:r>
            <a:endParaRPr lang="en-US">
              <a:solidFill>
                <a:srgbClr val="FFFFFF"/>
              </a:solidFill>
              <a:latin typeface="Bierstadt"/>
            </a:endParaRPr>
          </a:p>
          <a:p>
            <a:pPr algn="ctr"/>
            <a:r>
              <a:rPr lang="en-US" i="0">
                <a:latin typeface="Bierstadt"/>
              </a:rPr>
              <a:t>University of Florida – EAS4700  - October 9th, 2025</a:t>
            </a:r>
            <a:endParaRPr lang="en-US">
              <a:latin typeface="Bierstadt"/>
            </a:endParaRPr>
          </a:p>
        </p:txBody>
      </p:sp>
      <p:pic>
        <p:nvPicPr>
          <p:cNvPr id="6" name="Picture 5" descr="A logo of a planet&#10;&#10;AI-generated content may be incorrect.">
            <a:extLst>
              <a:ext uri="{FF2B5EF4-FFF2-40B4-BE49-F238E27FC236}">
                <a16:creationId xmlns:a16="http://schemas.microsoft.com/office/drawing/2014/main" id="{482A37D7-B211-E317-6F3D-B5EF854A0E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1224" y="1944077"/>
            <a:ext cx="2999322" cy="2969847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0AFBF62-DAFC-98A8-A6DC-DAE8EE2E6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dirty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080926-DADE-7FD2-0802-1D75C28AA5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Premium Photo | Globe view of Planet Earth from space Shows the earth's ...">
            <a:extLst>
              <a:ext uri="{FF2B5EF4-FFF2-40B4-BE49-F238E27FC236}">
                <a16:creationId xmlns:a16="http://schemas.microsoft.com/office/drawing/2014/main" id="{75C04BA0-6172-125A-4182-389C879964D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l="444"/>
          <a:stretch>
            <a:fillRect/>
          </a:stretch>
        </p:blipFill>
        <p:spPr>
          <a:xfrm>
            <a:off x="-2" y="-2"/>
            <a:ext cx="12192001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BC9915F-44FE-A6E5-82B5-5D023366B8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93165" y="2454728"/>
            <a:ext cx="9014269" cy="975396"/>
          </a:xfrm>
        </p:spPr>
        <p:txBody>
          <a:bodyPr anchor="t">
            <a:normAutofit fontScale="90000"/>
          </a:bodyPr>
          <a:lstStyle/>
          <a:p>
            <a:r>
              <a:rPr lang="en-US" sz="6000" dirty="0">
                <a:solidFill>
                  <a:srgbClr val="FFFFFF"/>
                </a:solidFill>
                <a:latin typeface="Bierstadt"/>
              </a:rPr>
              <a:t>Communications</a:t>
            </a:r>
            <a:br>
              <a:rPr lang="en-US" sz="6000" dirty="0">
                <a:latin typeface="Bierstadt"/>
              </a:rPr>
            </a:br>
            <a:endParaRPr lang="en-US" sz="6000" dirty="0">
              <a:latin typeface="Bierstadt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4A4F2D-8B1D-5F28-0BB9-88DD5046C8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47821" y="3433933"/>
            <a:ext cx="3300696" cy="1348716"/>
          </a:xfrm>
        </p:spPr>
        <p:txBody>
          <a:bodyPr anchor="t">
            <a:normAutofit/>
          </a:bodyPr>
          <a:lstStyle/>
          <a:p>
            <a:r>
              <a:rPr lang="en-US" sz="2800" dirty="0">
                <a:solidFill>
                  <a:srgbClr val="FFFFFF"/>
                </a:solidFill>
                <a:latin typeface="Bierstadt"/>
              </a:rPr>
              <a:t>Noah Touchton</a:t>
            </a:r>
            <a:endParaRPr lang="en-US" sz="2800" i="0" dirty="0">
              <a:solidFill>
                <a:srgbClr val="FFFFFF"/>
              </a:solidFill>
              <a:latin typeface="Bierstadt"/>
            </a:endParaRPr>
          </a:p>
          <a:p>
            <a:endParaRPr lang="en-US" sz="2400" i="0" dirty="0">
              <a:solidFill>
                <a:srgbClr val="FFFFFF"/>
              </a:solidFill>
              <a:latin typeface="Bierstadt"/>
            </a:endParaRPr>
          </a:p>
        </p:txBody>
      </p:sp>
      <p:pic>
        <p:nvPicPr>
          <p:cNvPr id="6" name="Picture 5" descr="A logo of a planet&#10;&#10;AI-generated content may be incorrect.">
            <a:extLst>
              <a:ext uri="{FF2B5EF4-FFF2-40B4-BE49-F238E27FC236}">
                <a16:creationId xmlns:a16="http://schemas.microsoft.com/office/drawing/2014/main" id="{8F7B27B6-1DC6-F11D-4D99-5F030A3633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7399" y="168402"/>
            <a:ext cx="1672568" cy="1582152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F93B5F8-1909-5B8D-036E-75207B5BE2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dirty="0"/>
              <a:t>2</a:t>
            </a:fld>
            <a:endParaRPr lang="en-US"/>
          </a:p>
        </p:txBody>
      </p:sp>
      <p:pic>
        <p:nvPicPr>
          <p:cNvPr id="4" name="Picture 3" descr="A black and white sign with white text&#10;&#10;AI-generated content may be incorrect.">
            <a:extLst>
              <a:ext uri="{FF2B5EF4-FFF2-40B4-BE49-F238E27FC236}">
                <a16:creationId xmlns:a16="http://schemas.microsoft.com/office/drawing/2014/main" id="{7DE0DF91-5BC1-0621-4E2F-80087AC14C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538" y="168822"/>
            <a:ext cx="4103077" cy="1000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85405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231DDD-2837-2F06-3938-99A9ED1DA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4D4A4-1DA0-41DE-33D4-7D34DCABFF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03497"/>
            <a:ext cx="10653578" cy="1132258"/>
          </a:xfrm>
        </p:spPr>
        <p:txBody>
          <a:bodyPr/>
          <a:lstStyle/>
          <a:p>
            <a:r>
              <a:rPr lang="en-US" dirty="0"/>
              <a:t>System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E6774-84BA-5D10-9573-80AB216746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708681"/>
            <a:ext cx="11155680" cy="3767328"/>
          </a:xfrm>
        </p:spPr>
        <p:txBody>
          <a:bodyPr vert="horz" lIns="91440" tIns="45720" rIns="91440" bIns="45720" rtlCol="0" anchor="t">
            <a:normAutofit fontScale="77500" lnSpcReduction="20000"/>
          </a:bodyPr>
          <a:lstStyle/>
          <a:p>
            <a:pPr marL="0" indent="0">
              <a:buNone/>
            </a:pPr>
            <a:endParaRPr lang="en-US" sz="1400" dirty="0">
              <a:latin typeface="Bierstadt"/>
              <a:ea typeface="Calibri"/>
              <a:cs typeface="Calibri"/>
            </a:endParaRPr>
          </a:p>
          <a:p>
            <a:r>
              <a:rPr lang="en-US" sz="1400" dirty="0">
                <a:latin typeface="Bierstadt"/>
                <a:ea typeface="Calibri"/>
                <a:cs typeface="Calibri"/>
              </a:rPr>
              <a:t>One onboard computer in the main satellite manages data handling, with a 64GB eMMC for buffering payload data prior to downlink.</a:t>
            </a:r>
          </a:p>
          <a:p>
            <a:r>
              <a:rPr lang="en-US" sz="1400" dirty="0">
                <a:latin typeface="Bierstadt"/>
                <a:ea typeface="Calibri"/>
                <a:cs typeface="Calibri"/>
              </a:rPr>
              <a:t>The communication system has dedicated subsystems for downlink, telemetry and command, and inter-sat links.</a:t>
            </a:r>
          </a:p>
          <a:p>
            <a:r>
              <a:rPr lang="en-US" sz="1600" dirty="0">
                <a:latin typeface="Bierstadt"/>
                <a:ea typeface="Calibri"/>
                <a:cs typeface="Calibri"/>
              </a:rPr>
              <a:t>Data Handling</a:t>
            </a:r>
          </a:p>
          <a:p>
            <a:pPr lvl="1"/>
            <a:r>
              <a:rPr lang="en-US" sz="1400" dirty="0">
                <a:latin typeface="Bierstadt"/>
                <a:ea typeface="Calibri"/>
                <a:cs typeface="Calibri"/>
              </a:rPr>
              <a:t>Controlled by </a:t>
            </a:r>
            <a:r>
              <a:rPr lang="en-US" sz="1400" dirty="0"/>
              <a:t>STM32H723VET6 microcontroller.</a:t>
            </a:r>
          </a:p>
          <a:p>
            <a:pPr lvl="1"/>
            <a:r>
              <a:rPr lang="en-US" sz="1400" dirty="0">
                <a:latin typeface="Bierstadt"/>
                <a:ea typeface="Calibri"/>
                <a:cs typeface="Calibri"/>
              </a:rPr>
              <a:t>Buffered on a SDINBDG4-64G-ZA3 eMMC.</a:t>
            </a:r>
          </a:p>
          <a:p>
            <a:r>
              <a:rPr lang="en-US" sz="1600" dirty="0">
                <a:latin typeface="Bierstadt"/>
                <a:ea typeface="Calibri"/>
                <a:cs typeface="Calibri"/>
              </a:rPr>
              <a:t>Payload Downlink</a:t>
            </a:r>
          </a:p>
          <a:p>
            <a:pPr lvl="1"/>
            <a:r>
              <a:rPr lang="en-US" sz="1400" dirty="0">
                <a:latin typeface="Bierstadt"/>
                <a:ea typeface="Calibri"/>
                <a:cs typeface="Calibri"/>
              </a:rPr>
              <a:t>Using S-Band frequency.</a:t>
            </a:r>
          </a:p>
          <a:p>
            <a:pPr lvl="1"/>
            <a:r>
              <a:rPr lang="en-US" sz="1400" dirty="0">
                <a:latin typeface="Bierstadt"/>
                <a:ea typeface="Calibri"/>
                <a:cs typeface="Calibri"/>
              </a:rPr>
              <a:t>Sent by </a:t>
            </a:r>
            <a:r>
              <a:rPr lang="en-US" sz="1400" dirty="0"/>
              <a:t>AAC-Clyde PULSAR-STX transmitter and ISISPACE S-Band Patch Antenna.</a:t>
            </a:r>
            <a:endParaRPr lang="en-US" sz="1400" dirty="0">
              <a:latin typeface="Bierstadt"/>
              <a:ea typeface="Calibri"/>
              <a:cs typeface="Calibri"/>
            </a:endParaRPr>
          </a:p>
          <a:p>
            <a:r>
              <a:rPr lang="en-US" sz="1600" dirty="0">
                <a:latin typeface="Bierstadt"/>
                <a:ea typeface="Calibri"/>
                <a:cs typeface="Calibri"/>
              </a:rPr>
              <a:t>Telemetry &amp; Command</a:t>
            </a:r>
          </a:p>
          <a:p>
            <a:pPr lvl="1"/>
            <a:r>
              <a:rPr lang="en-US" sz="1400" dirty="0">
                <a:latin typeface="Bierstadt"/>
                <a:ea typeface="Calibri"/>
                <a:cs typeface="Calibri"/>
              </a:rPr>
              <a:t>Uses </a:t>
            </a:r>
            <a:r>
              <a:rPr lang="en-US" sz="1400" dirty="0" err="1"/>
              <a:t>GomSpace</a:t>
            </a:r>
            <a:r>
              <a:rPr lang="en-US" sz="1400" dirty="0"/>
              <a:t> AX100 S-Band transceiver and S-Band TT&amp;C antenna to receive commands from the ground.</a:t>
            </a:r>
          </a:p>
          <a:p>
            <a:r>
              <a:rPr lang="en-US" sz="1600" dirty="0">
                <a:latin typeface="Bierstadt"/>
                <a:ea typeface="Calibri"/>
                <a:cs typeface="Calibri"/>
              </a:rPr>
              <a:t>Inter-Sat Communication</a:t>
            </a:r>
          </a:p>
          <a:p>
            <a:pPr lvl="1"/>
            <a:r>
              <a:rPr lang="en-US" sz="1400" dirty="0">
                <a:solidFill>
                  <a:srgbClr val="FF0000"/>
                </a:solidFill>
                <a:latin typeface="Bierstadt"/>
                <a:ea typeface="Calibri"/>
                <a:cs typeface="Calibri"/>
              </a:rPr>
              <a:t>Uses Sub-GHz ISM</a:t>
            </a:r>
          </a:p>
          <a:p>
            <a:pPr lvl="1"/>
            <a:r>
              <a:rPr lang="en-US" sz="1400" dirty="0"/>
              <a:t>Uses Semtech SX1262 modules and AAC ANT-100 Static Whip to communicate between satellites.</a:t>
            </a:r>
            <a:endParaRPr lang="en-US" sz="1400" dirty="0">
              <a:latin typeface="Bierstadt"/>
              <a:ea typeface="Calibri"/>
              <a:cs typeface="Calibri"/>
            </a:endParaRPr>
          </a:p>
        </p:txBody>
      </p:sp>
      <p:pic>
        <p:nvPicPr>
          <p:cNvPr id="9" name="Picture 8" descr="A logo of a planet&#10;&#10;AI-generated content may be incorrect.">
            <a:extLst>
              <a:ext uri="{FF2B5EF4-FFF2-40B4-BE49-F238E27FC236}">
                <a16:creationId xmlns:a16="http://schemas.microsoft.com/office/drawing/2014/main" id="{E6D4AEEB-DB8E-F994-0D5B-17DE16EA3F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0540" y="196315"/>
            <a:ext cx="1293894" cy="1288609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9B35ADC-BC7C-78F8-E57D-05D459293AD0}"/>
              </a:ext>
            </a:extLst>
          </p:cNvPr>
          <p:cNvCxnSpPr/>
          <p:nvPr/>
        </p:nvCxnSpPr>
        <p:spPr>
          <a:xfrm flipV="1">
            <a:off x="526142" y="1094617"/>
            <a:ext cx="9748761" cy="30239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4975F04-4B91-666F-69DB-04584D4B1539}"/>
              </a:ext>
            </a:extLst>
          </p:cNvPr>
          <p:cNvSpPr txBox="1"/>
          <p:nvPr/>
        </p:nvSpPr>
        <p:spPr>
          <a:xfrm>
            <a:off x="3190350" y="6440249"/>
            <a:ext cx="581129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 dirty="0">
                <a:solidFill>
                  <a:schemeClr val="bg1">
                    <a:lumMod val="49000"/>
                  </a:schemeClr>
                </a:solidFill>
                <a:latin typeface="Bierstadt"/>
              </a:rPr>
              <a:t>Noah Touchton – </a:t>
            </a:r>
            <a:r>
              <a:rPr lang="en-US" b="1">
                <a:solidFill>
                  <a:schemeClr val="bg1">
                    <a:lumMod val="49000"/>
                  </a:schemeClr>
                </a:solidFill>
                <a:latin typeface="Bierstadt"/>
              </a:rPr>
              <a:t>ntouchton@ufl.edu</a:t>
            </a:r>
            <a:endParaRPr lang="en-US" dirty="0">
              <a:solidFill>
                <a:schemeClr val="bg1">
                  <a:lumMod val="49000"/>
                </a:schemeClr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70F8EDEC-93BC-E121-CA40-9EC2EA066D25}"/>
              </a:ext>
            </a:extLst>
          </p:cNvPr>
          <p:cNvCxnSpPr>
            <a:cxnSpLocks/>
          </p:cNvCxnSpPr>
          <p:nvPr/>
        </p:nvCxnSpPr>
        <p:spPr>
          <a:xfrm>
            <a:off x="526141" y="6362093"/>
            <a:ext cx="11151808" cy="18141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21C386-C1BF-1482-DDED-D1A12F0E2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3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412DE6-4D23-698E-E23D-88FDB8A0548C}"/>
              </a:ext>
            </a:extLst>
          </p:cNvPr>
          <p:cNvSpPr txBox="1"/>
          <p:nvPr/>
        </p:nvSpPr>
        <p:spPr>
          <a:xfrm>
            <a:off x="611347" y="6442164"/>
            <a:ext cx="413881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10/09/25</a:t>
            </a:r>
            <a:r>
              <a:rPr lang="en-US">
                <a:latin typeface="Bierstadt Bold"/>
              </a:rPr>
              <a:t> 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A0DBF7-B88D-71C3-1ED2-616A23DE1562}"/>
              </a:ext>
            </a:extLst>
          </p:cNvPr>
          <p:cNvSpPr txBox="1"/>
          <p:nvPr/>
        </p:nvSpPr>
        <p:spPr>
          <a:xfrm>
            <a:off x="9638323" y="644378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TANGO SDR​ - UF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585816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DB7A2E-13B2-97F2-1FC1-86BC9C0DD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EF3F16-FD47-F8AF-2E57-9EDEB34876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03497"/>
            <a:ext cx="10653578" cy="1132258"/>
          </a:xfrm>
        </p:spPr>
        <p:txBody>
          <a:bodyPr/>
          <a:lstStyle/>
          <a:p>
            <a:r>
              <a:rPr lang="en-US" dirty="0"/>
              <a:t>Requirements</a:t>
            </a:r>
          </a:p>
        </p:txBody>
      </p:sp>
      <p:pic>
        <p:nvPicPr>
          <p:cNvPr id="9" name="Picture 8" descr="A logo of a planet&#10;&#10;AI-generated content may be incorrect.">
            <a:extLst>
              <a:ext uri="{FF2B5EF4-FFF2-40B4-BE49-F238E27FC236}">
                <a16:creationId xmlns:a16="http://schemas.microsoft.com/office/drawing/2014/main" id="{6B82A333-B516-A601-6EBE-6F263D17FA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0540" y="196315"/>
            <a:ext cx="1293894" cy="1288609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CD03C87-692C-960D-9D00-8350949FFF66}"/>
              </a:ext>
            </a:extLst>
          </p:cNvPr>
          <p:cNvCxnSpPr/>
          <p:nvPr/>
        </p:nvCxnSpPr>
        <p:spPr>
          <a:xfrm flipV="1">
            <a:off x="526142" y="1094617"/>
            <a:ext cx="9748761" cy="30239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55FE356-3806-AA83-1ADB-87CEAB059C2A}"/>
              </a:ext>
            </a:extLst>
          </p:cNvPr>
          <p:cNvSpPr txBox="1"/>
          <p:nvPr/>
        </p:nvSpPr>
        <p:spPr>
          <a:xfrm>
            <a:off x="3190350" y="6440249"/>
            <a:ext cx="581129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 dirty="0">
                <a:solidFill>
                  <a:schemeClr val="bg1">
                    <a:lumMod val="49000"/>
                  </a:schemeClr>
                </a:solidFill>
                <a:latin typeface="Bierstadt"/>
              </a:rPr>
              <a:t>Noah Touchton – </a:t>
            </a:r>
            <a:r>
              <a:rPr lang="en-US" b="1" dirty="0" err="1">
                <a:solidFill>
                  <a:schemeClr val="bg1">
                    <a:lumMod val="49000"/>
                  </a:schemeClr>
                </a:solidFill>
                <a:latin typeface="Bierstadt"/>
              </a:rPr>
              <a:t>ntouchton@ufl.edu</a:t>
            </a:r>
            <a:endParaRPr lang="en-US" dirty="0">
              <a:solidFill>
                <a:schemeClr val="bg1">
                  <a:lumMod val="49000"/>
                </a:schemeClr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B5E840E-B333-0697-D9B4-B6040F3A6CF5}"/>
              </a:ext>
            </a:extLst>
          </p:cNvPr>
          <p:cNvCxnSpPr>
            <a:cxnSpLocks/>
          </p:cNvCxnSpPr>
          <p:nvPr/>
        </p:nvCxnSpPr>
        <p:spPr>
          <a:xfrm>
            <a:off x="526141" y="6362093"/>
            <a:ext cx="11151808" cy="18141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D6FC90-757C-B671-9F2C-D098C56B08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4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F350A2-635D-08F5-6707-909431252937}"/>
              </a:ext>
            </a:extLst>
          </p:cNvPr>
          <p:cNvSpPr txBox="1"/>
          <p:nvPr/>
        </p:nvSpPr>
        <p:spPr>
          <a:xfrm>
            <a:off x="611347" y="6442164"/>
            <a:ext cx="413881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10/09/25</a:t>
            </a:r>
            <a:r>
              <a:rPr lang="en-US">
                <a:latin typeface="Bierstadt Bold"/>
              </a:rPr>
              <a:t> 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50A452-2A0C-C38B-DDAD-F072F8AE87E6}"/>
              </a:ext>
            </a:extLst>
          </p:cNvPr>
          <p:cNvSpPr txBox="1"/>
          <p:nvPr/>
        </p:nvSpPr>
        <p:spPr>
          <a:xfrm>
            <a:off x="9638323" y="644378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TANGO SDR​ - UF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  <p:graphicFrame>
        <p:nvGraphicFramePr>
          <p:cNvPr id="12" name="Content Placeholder 4">
            <a:extLst>
              <a:ext uri="{FF2B5EF4-FFF2-40B4-BE49-F238E27FC236}">
                <a16:creationId xmlns:a16="http://schemas.microsoft.com/office/drawing/2014/main" id="{7101C6CB-413A-3D44-6902-6DF8C53D453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70214873"/>
              </p:ext>
            </p:extLst>
          </p:nvPr>
        </p:nvGraphicFramePr>
        <p:xfrm>
          <a:off x="612775" y="1716088"/>
          <a:ext cx="10653708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5618">
                  <a:extLst>
                    <a:ext uri="{9D8B030D-6E8A-4147-A177-3AD203B41FA5}">
                      <a16:colId xmlns:a16="http://schemas.microsoft.com/office/drawing/2014/main" val="3098987667"/>
                    </a:ext>
                  </a:extLst>
                </a:gridCol>
                <a:gridCol w="1775618">
                  <a:extLst>
                    <a:ext uri="{9D8B030D-6E8A-4147-A177-3AD203B41FA5}">
                      <a16:colId xmlns:a16="http://schemas.microsoft.com/office/drawing/2014/main" val="3687653135"/>
                    </a:ext>
                  </a:extLst>
                </a:gridCol>
                <a:gridCol w="1775618">
                  <a:extLst>
                    <a:ext uri="{9D8B030D-6E8A-4147-A177-3AD203B41FA5}">
                      <a16:colId xmlns:a16="http://schemas.microsoft.com/office/drawing/2014/main" val="908228730"/>
                    </a:ext>
                  </a:extLst>
                </a:gridCol>
                <a:gridCol w="1966698">
                  <a:extLst>
                    <a:ext uri="{9D8B030D-6E8A-4147-A177-3AD203B41FA5}">
                      <a16:colId xmlns:a16="http://schemas.microsoft.com/office/drawing/2014/main" val="3533606866"/>
                    </a:ext>
                  </a:extLst>
                </a:gridCol>
                <a:gridCol w="1939637">
                  <a:extLst>
                    <a:ext uri="{9D8B030D-6E8A-4147-A177-3AD203B41FA5}">
                      <a16:colId xmlns:a16="http://schemas.microsoft.com/office/drawing/2014/main" val="2473987835"/>
                    </a:ext>
                  </a:extLst>
                </a:gridCol>
                <a:gridCol w="1420519">
                  <a:extLst>
                    <a:ext uri="{9D8B030D-6E8A-4147-A177-3AD203B41FA5}">
                      <a16:colId xmlns:a16="http://schemas.microsoft.com/office/drawing/2014/main" val="330848909"/>
                    </a:ext>
                  </a:extLst>
                </a:gridCol>
              </a:tblGrid>
              <a:tr h="26893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Standard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Source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Name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Description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Supported By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Status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4030238"/>
                  </a:ext>
                </a:extLst>
              </a:tr>
              <a:tr h="100850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ASD-GTRS-020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EAS 4700 Project Requirements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Communication System Capability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he GATOR-SAT </a:t>
                      </a:r>
                      <a:r>
                        <a:rPr lang="en-US" sz="1050" b="0" i="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SmallSat</a:t>
                      </a:r>
                      <a:r>
                        <a:rPr lang="en-US" sz="105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shall be able to receive commands and transmit image,</a:t>
                      </a:r>
                      <a:br>
                        <a:rPr lang="en-US" sz="1050" dirty="0"/>
                      </a:br>
                      <a:r>
                        <a:rPr lang="en-US" sz="105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health, and status data directly to Earth ground stations within sight of the spacecraft</a:t>
                      </a:r>
                      <a:br>
                        <a:rPr lang="en-US" sz="1050" dirty="0"/>
                      </a:br>
                      <a:r>
                        <a:rPr lang="en-US" sz="105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along its orbital path.</a:t>
                      </a:r>
                      <a:endParaRPr lang="en-US" sz="1050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The S-Band antenna and transmitter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4263199"/>
                  </a:ext>
                </a:extLst>
              </a:tr>
              <a:tr h="10085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ASD-GTRS-018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EAS 4700 Project Requirements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Maximum Mission 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GATOR-SAT </a:t>
                      </a:r>
                      <a:r>
                        <a:rPr lang="en-US" sz="1050" b="0" i="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SmallSat</a:t>
                      </a:r>
                      <a:r>
                        <a:rPr lang="en-US" sz="105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shall have sufficient fuel to support observation operations</a:t>
                      </a:r>
                      <a:br>
                        <a:rPr lang="en-US" sz="1050" dirty="0"/>
                      </a:br>
                      <a:r>
                        <a:rPr lang="en-US" sz="105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and maintain the orbit for six months, not including transit time to/from the target orbit</a:t>
                      </a:r>
                      <a:br>
                        <a:rPr lang="en-US" sz="1050" dirty="0"/>
                      </a:br>
                      <a:r>
                        <a:rPr lang="en-US" sz="105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for the initial proof-of-concept mission.</a:t>
                      </a:r>
                      <a:endParaRPr 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27196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78619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268D4-57CF-29C7-A197-514E3848B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DEB924-D940-ABA0-A76B-E76F73B9C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03497"/>
            <a:ext cx="10653578" cy="1132258"/>
          </a:xfrm>
        </p:spPr>
        <p:txBody>
          <a:bodyPr/>
          <a:lstStyle/>
          <a:p>
            <a:r>
              <a:rPr lang="en-US" dirty="0"/>
              <a:t>Derived Requirements</a:t>
            </a:r>
          </a:p>
        </p:txBody>
      </p:sp>
      <p:pic>
        <p:nvPicPr>
          <p:cNvPr id="9" name="Picture 8" descr="A logo of a planet&#10;&#10;AI-generated content may be incorrect.">
            <a:extLst>
              <a:ext uri="{FF2B5EF4-FFF2-40B4-BE49-F238E27FC236}">
                <a16:creationId xmlns:a16="http://schemas.microsoft.com/office/drawing/2014/main" id="{2FAA98FB-2720-11D9-403D-E42CDD673A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10540" y="196315"/>
            <a:ext cx="1293894" cy="1288609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B5C7C5F-6F10-C41D-57B0-5C64B6E7D38D}"/>
              </a:ext>
            </a:extLst>
          </p:cNvPr>
          <p:cNvCxnSpPr/>
          <p:nvPr/>
        </p:nvCxnSpPr>
        <p:spPr>
          <a:xfrm flipV="1">
            <a:off x="526142" y="1094617"/>
            <a:ext cx="9748761" cy="30239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EE36B08-C224-87FD-63B4-5E2E20A6F358}"/>
              </a:ext>
            </a:extLst>
          </p:cNvPr>
          <p:cNvSpPr txBox="1"/>
          <p:nvPr/>
        </p:nvSpPr>
        <p:spPr>
          <a:xfrm>
            <a:off x="3190350" y="6440249"/>
            <a:ext cx="581129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 dirty="0">
                <a:solidFill>
                  <a:schemeClr val="bg1">
                    <a:lumMod val="49000"/>
                  </a:schemeClr>
                </a:solidFill>
                <a:latin typeface="Bierstadt"/>
              </a:rPr>
              <a:t>Noah Touchton – </a:t>
            </a:r>
            <a:r>
              <a:rPr lang="en-US" b="1" dirty="0" err="1">
                <a:solidFill>
                  <a:schemeClr val="bg1">
                    <a:lumMod val="49000"/>
                  </a:schemeClr>
                </a:solidFill>
                <a:latin typeface="Bierstadt"/>
              </a:rPr>
              <a:t>ntouchton@ufl.edu</a:t>
            </a:r>
            <a:endParaRPr lang="en-US" dirty="0">
              <a:solidFill>
                <a:schemeClr val="bg1">
                  <a:lumMod val="49000"/>
                </a:schemeClr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95030FF6-C711-7321-F09B-66F546198C81}"/>
              </a:ext>
            </a:extLst>
          </p:cNvPr>
          <p:cNvCxnSpPr>
            <a:cxnSpLocks/>
          </p:cNvCxnSpPr>
          <p:nvPr/>
        </p:nvCxnSpPr>
        <p:spPr>
          <a:xfrm>
            <a:off x="526141" y="6362093"/>
            <a:ext cx="11151808" cy="18141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1D8CF2-C532-36BE-1959-A9F8040E25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5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4352554-79AA-F5FA-6802-C74E6D439749}"/>
              </a:ext>
            </a:extLst>
          </p:cNvPr>
          <p:cNvSpPr txBox="1"/>
          <p:nvPr/>
        </p:nvSpPr>
        <p:spPr>
          <a:xfrm>
            <a:off x="611347" y="6442164"/>
            <a:ext cx="413881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10/09/25</a:t>
            </a:r>
            <a:r>
              <a:rPr lang="en-US">
                <a:latin typeface="Bierstadt Bold"/>
              </a:rPr>
              <a:t> 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9A2047-3DA5-6DEE-12FD-78EC172CC0D1}"/>
              </a:ext>
            </a:extLst>
          </p:cNvPr>
          <p:cNvSpPr txBox="1"/>
          <p:nvPr/>
        </p:nvSpPr>
        <p:spPr>
          <a:xfrm>
            <a:off x="9638323" y="644378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TANGO SDR​ - UF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  <p:graphicFrame>
        <p:nvGraphicFramePr>
          <p:cNvPr id="12" name="Content Placeholder 4">
            <a:extLst>
              <a:ext uri="{FF2B5EF4-FFF2-40B4-BE49-F238E27FC236}">
                <a16:creationId xmlns:a16="http://schemas.microsoft.com/office/drawing/2014/main" id="{FBA8BBE2-2343-766C-1793-DC5519F3512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55507679"/>
              </p:ext>
            </p:extLst>
          </p:nvPr>
        </p:nvGraphicFramePr>
        <p:xfrm>
          <a:off x="612775" y="1716088"/>
          <a:ext cx="10653708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5618">
                  <a:extLst>
                    <a:ext uri="{9D8B030D-6E8A-4147-A177-3AD203B41FA5}">
                      <a16:colId xmlns:a16="http://schemas.microsoft.com/office/drawing/2014/main" val="3098987667"/>
                    </a:ext>
                  </a:extLst>
                </a:gridCol>
                <a:gridCol w="1775618">
                  <a:extLst>
                    <a:ext uri="{9D8B030D-6E8A-4147-A177-3AD203B41FA5}">
                      <a16:colId xmlns:a16="http://schemas.microsoft.com/office/drawing/2014/main" val="3687653135"/>
                    </a:ext>
                  </a:extLst>
                </a:gridCol>
                <a:gridCol w="1775618">
                  <a:extLst>
                    <a:ext uri="{9D8B030D-6E8A-4147-A177-3AD203B41FA5}">
                      <a16:colId xmlns:a16="http://schemas.microsoft.com/office/drawing/2014/main" val="908228730"/>
                    </a:ext>
                  </a:extLst>
                </a:gridCol>
                <a:gridCol w="1966698">
                  <a:extLst>
                    <a:ext uri="{9D8B030D-6E8A-4147-A177-3AD203B41FA5}">
                      <a16:colId xmlns:a16="http://schemas.microsoft.com/office/drawing/2014/main" val="3533606866"/>
                    </a:ext>
                  </a:extLst>
                </a:gridCol>
                <a:gridCol w="1939637">
                  <a:extLst>
                    <a:ext uri="{9D8B030D-6E8A-4147-A177-3AD203B41FA5}">
                      <a16:colId xmlns:a16="http://schemas.microsoft.com/office/drawing/2014/main" val="2473987835"/>
                    </a:ext>
                  </a:extLst>
                </a:gridCol>
                <a:gridCol w="1420519">
                  <a:extLst>
                    <a:ext uri="{9D8B030D-6E8A-4147-A177-3AD203B41FA5}">
                      <a16:colId xmlns:a16="http://schemas.microsoft.com/office/drawing/2014/main" val="330848909"/>
                    </a:ext>
                  </a:extLst>
                </a:gridCol>
              </a:tblGrid>
              <a:tr h="363062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Standard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Source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Name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Description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Supported By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Status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4030238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COM-GTRS-01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ASD-GTRS-020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/>
                        <a:t>Downlink Data System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The spacecraft shall provide access to payload and housekeeping data through a high-rate S-Band link.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Fairbanks/RBC Ground Stations, PULSAR-STX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4263199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COM-GTRS-02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ASD-GTRS-020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Data Buffering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dirty="0"/>
                        <a:t>T</a:t>
                      </a:r>
                      <a:r>
                        <a:rPr lang="en-US" sz="1050" b="0" dirty="0"/>
                        <a:t>he spacecraft shall store ≥7 days (≈2 GB) of data in case of missed passes.</a:t>
                      </a:r>
                    </a:p>
                    <a:p>
                      <a:pPr algn="ctr"/>
                      <a:endParaRPr 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STM32H723VET6 + 64 GB eMMC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2719692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COM-GTRS-03</a:t>
                      </a:r>
                    </a:p>
                    <a:p>
                      <a:pPr algn="ctr"/>
                      <a:endParaRPr lang="en-US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ASD-GTRS-020</a:t>
                      </a:r>
                    </a:p>
                    <a:p>
                      <a:pPr algn="ctr"/>
                      <a:endParaRPr lang="en-US" sz="1800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 err="1"/>
                        <a:t>InterSat</a:t>
                      </a:r>
                      <a:r>
                        <a:rPr lang="en-US" sz="1400" b="0" dirty="0"/>
                        <a:t> Crosslink Rate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/>
                        <a:t>The spacecraft shall support intersatellite communications at ≥100 kbps, enabling data relay and coordination.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PULSAR-STX + ISISPACE Patch Antenna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4782230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COM-GTRS-04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ASD-GTRS-020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/>
                        <a:t>TT&amp;C Link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The spacecraft shall maintain a continuous S-Band TT&amp;C link at ≥9.6 kbps for health/status telemetry and command reception.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PULSAR-STX, link budget margin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3541077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COM-GTRS-05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COM-GTRS-01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Daily Data Volume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/>
                        <a:t>The spacecraft shall downlink at least </a:t>
                      </a:r>
                      <a:r>
                        <a:rPr lang="en-US" sz="1050" b="0" dirty="0">
                          <a:solidFill>
                            <a:srgbClr val="FF0000"/>
                          </a:solidFill>
                        </a:rPr>
                        <a:t>288 MB </a:t>
                      </a:r>
                      <a:r>
                        <a:rPr lang="en-US" sz="1050" b="0" dirty="0"/>
                        <a:t>per day to satisfy payload science return.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SX1262 transceivers + ANT-100 whips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25532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5703005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229625-08D8-8E9A-1208-4FB47A537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3000DC-BE20-F554-3BFE-70F304B708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03497"/>
            <a:ext cx="10653578" cy="1132258"/>
          </a:xfrm>
        </p:spPr>
        <p:txBody>
          <a:bodyPr/>
          <a:lstStyle/>
          <a:p>
            <a:r>
              <a:rPr lang="en-US" dirty="0"/>
              <a:t>Derived Requirements</a:t>
            </a:r>
          </a:p>
        </p:txBody>
      </p:sp>
      <p:pic>
        <p:nvPicPr>
          <p:cNvPr id="9" name="Picture 8" descr="A logo of a planet&#10;&#10;AI-generated content may be incorrect.">
            <a:extLst>
              <a:ext uri="{FF2B5EF4-FFF2-40B4-BE49-F238E27FC236}">
                <a16:creationId xmlns:a16="http://schemas.microsoft.com/office/drawing/2014/main" id="{164337FB-E5EE-36D1-7F3C-30A89B72F8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0540" y="196315"/>
            <a:ext cx="1293894" cy="1288609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2C9ACEC-2B76-DFE9-91B9-3DBC21F966F5}"/>
              </a:ext>
            </a:extLst>
          </p:cNvPr>
          <p:cNvCxnSpPr/>
          <p:nvPr/>
        </p:nvCxnSpPr>
        <p:spPr>
          <a:xfrm flipV="1">
            <a:off x="526142" y="1094617"/>
            <a:ext cx="9748761" cy="30239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466BD21-DD39-E80C-27CC-42058527C1BF}"/>
              </a:ext>
            </a:extLst>
          </p:cNvPr>
          <p:cNvSpPr txBox="1"/>
          <p:nvPr/>
        </p:nvSpPr>
        <p:spPr>
          <a:xfrm>
            <a:off x="3190350" y="6440249"/>
            <a:ext cx="581129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 dirty="0">
                <a:solidFill>
                  <a:schemeClr val="bg1">
                    <a:lumMod val="49000"/>
                  </a:schemeClr>
                </a:solidFill>
                <a:latin typeface="Bierstadt"/>
              </a:rPr>
              <a:t>Noah Touchton – </a:t>
            </a:r>
            <a:r>
              <a:rPr lang="en-US" b="1" dirty="0" err="1">
                <a:solidFill>
                  <a:schemeClr val="bg1">
                    <a:lumMod val="49000"/>
                  </a:schemeClr>
                </a:solidFill>
                <a:latin typeface="Bierstadt"/>
              </a:rPr>
              <a:t>ntouchton@ufl.edu</a:t>
            </a:r>
            <a:endParaRPr lang="en-US" dirty="0">
              <a:solidFill>
                <a:schemeClr val="bg1">
                  <a:lumMod val="49000"/>
                </a:schemeClr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7A6F1462-C6C4-7E0E-D87A-84D035E0DD77}"/>
              </a:ext>
            </a:extLst>
          </p:cNvPr>
          <p:cNvCxnSpPr>
            <a:cxnSpLocks/>
          </p:cNvCxnSpPr>
          <p:nvPr/>
        </p:nvCxnSpPr>
        <p:spPr>
          <a:xfrm>
            <a:off x="526141" y="6362093"/>
            <a:ext cx="11151808" cy="18141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428323-ADF8-F4F5-CCA6-3518C5C9E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6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145BD2-F777-174F-B761-6B07BA78C390}"/>
              </a:ext>
            </a:extLst>
          </p:cNvPr>
          <p:cNvSpPr txBox="1"/>
          <p:nvPr/>
        </p:nvSpPr>
        <p:spPr>
          <a:xfrm>
            <a:off x="611347" y="6442164"/>
            <a:ext cx="413881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10/09/25</a:t>
            </a:r>
            <a:r>
              <a:rPr lang="en-US">
                <a:latin typeface="Bierstadt Bold"/>
              </a:rPr>
              <a:t> 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D49F08-1916-EB2C-0832-375094C90459}"/>
              </a:ext>
            </a:extLst>
          </p:cNvPr>
          <p:cNvSpPr txBox="1"/>
          <p:nvPr/>
        </p:nvSpPr>
        <p:spPr>
          <a:xfrm>
            <a:off x="9638323" y="644378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TANGO SDR​ - UF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  <p:graphicFrame>
        <p:nvGraphicFramePr>
          <p:cNvPr id="12" name="Content Placeholder 4">
            <a:extLst>
              <a:ext uri="{FF2B5EF4-FFF2-40B4-BE49-F238E27FC236}">
                <a16:creationId xmlns:a16="http://schemas.microsoft.com/office/drawing/2014/main" id="{6D940E9E-730B-781D-3F4C-EE49FF8429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04985211"/>
              </p:ext>
            </p:extLst>
          </p:nvPr>
        </p:nvGraphicFramePr>
        <p:xfrm>
          <a:off x="603779" y="1506858"/>
          <a:ext cx="10653708" cy="48234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5618">
                  <a:extLst>
                    <a:ext uri="{9D8B030D-6E8A-4147-A177-3AD203B41FA5}">
                      <a16:colId xmlns:a16="http://schemas.microsoft.com/office/drawing/2014/main" val="3098987667"/>
                    </a:ext>
                  </a:extLst>
                </a:gridCol>
                <a:gridCol w="1775618">
                  <a:extLst>
                    <a:ext uri="{9D8B030D-6E8A-4147-A177-3AD203B41FA5}">
                      <a16:colId xmlns:a16="http://schemas.microsoft.com/office/drawing/2014/main" val="3687653135"/>
                    </a:ext>
                  </a:extLst>
                </a:gridCol>
                <a:gridCol w="1775618">
                  <a:extLst>
                    <a:ext uri="{9D8B030D-6E8A-4147-A177-3AD203B41FA5}">
                      <a16:colId xmlns:a16="http://schemas.microsoft.com/office/drawing/2014/main" val="908228730"/>
                    </a:ext>
                  </a:extLst>
                </a:gridCol>
                <a:gridCol w="1966698">
                  <a:extLst>
                    <a:ext uri="{9D8B030D-6E8A-4147-A177-3AD203B41FA5}">
                      <a16:colId xmlns:a16="http://schemas.microsoft.com/office/drawing/2014/main" val="3533606866"/>
                    </a:ext>
                  </a:extLst>
                </a:gridCol>
                <a:gridCol w="1939637">
                  <a:extLst>
                    <a:ext uri="{9D8B030D-6E8A-4147-A177-3AD203B41FA5}">
                      <a16:colId xmlns:a16="http://schemas.microsoft.com/office/drawing/2014/main" val="2473987835"/>
                    </a:ext>
                  </a:extLst>
                </a:gridCol>
                <a:gridCol w="1420519">
                  <a:extLst>
                    <a:ext uri="{9D8B030D-6E8A-4147-A177-3AD203B41FA5}">
                      <a16:colId xmlns:a16="http://schemas.microsoft.com/office/drawing/2014/main" val="330848909"/>
                    </a:ext>
                  </a:extLst>
                </a:gridCol>
              </a:tblGrid>
              <a:tr h="363062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Standard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Source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Name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Description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Supported By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Status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4030238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COM-GTRS-06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COM-GTRS-01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/>
                        <a:t>Downlink Rate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The S-Band transmitter shall support a downlink rate sufficient to clear the required </a:t>
                      </a:r>
                      <a:r>
                        <a:rPr lang="en-US" sz="1050" dirty="0">
                          <a:solidFill>
                            <a:srgbClr val="FF0000"/>
                          </a:solidFill>
                        </a:rPr>
                        <a:t>288 MB </a:t>
                      </a:r>
                      <a:r>
                        <a:rPr lang="en-US" sz="1050" dirty="0"/>
                        <a:t>within available ground station passes ,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PULSAR-STX</a:t>
                      </a:r>
                    </a:p>
                    <a:p>
                      <a:pPr algn="ctr"/>
                      <a:endParaRPr lang="en-US" sz="1200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4263199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COM-GTRS-07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COM-GTRS-01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/>
                        <a:t>Ground Contact Utilization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/>
                        <a:t>The spacecraft shall transmit stored data during at least 2 ground station passes per day, leaving one additional pass margin.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AX100 transceiver</a:t>
                      </a:r>
                    </a:p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2719692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COM-GTRS-08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ASD-GTRS-018</a:t>
                      </a:r>
                    </a:p>
                    <a:p>
                      <a:pPr algn="ctr"/>
                      <a:endParaRPr lang="en-US" sz="1800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/>
                        <a:t>Lifetime Operations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The communications subsystem shall maintain functional capability for at least six months without hardware degradation that prevents required data return.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All comms subsystem components, power/EPS margin.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4782230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COM-GTRS-09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COM-GTRS-01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/>
                        <a:t>Link Redundancy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/>
                        <a:t>The comms subsystem shall include two independent paths: a high-rate downlink (PULSAR-STX) and a low-rate TT&amp;C fallback (AX100).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PULSAR-STX + AX100.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3541077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COM-GTRS-10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COM-GTRS-01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/>
                        <a:t>Frequency Allocation Compliance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/>
                        <a:t>The S-Band system shall operate strictly within the 2.0–2.3 GHz CubeSat allocation to ensure regulatory compliance.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S-Band tuning (2.0–2.3 GHz), ground station licensing.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25532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79876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F5653-92F1-836B-8E36-06C7D9274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EA572-7A2B-775C-C9C1-BB41107D37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03497"/>
            <a:ext cx="10653578" cy="1132258"/>
          </a:xfrm>
        </p:spPr>
        <p:txBody>
          <a:bodyPr/>
          <a:lstStyle/>
          <a:p>
            <a:r>
              <a:rPr lang="en-US" dirty="0"/>
              <a:t>Derived Requirements</a:t>
            </a:r>
          </a:p>
        </p:txBody>
      </p:sp>
      <p:pic>
        <p:nvPicPr>
          <p:cNvPr id="9" name="Picture 8" descr="A logo of a planet&#10;&#10;AI-generated content may be incorrect.">
            <a:extLst>
              <a:ext uri="{FF2B5EF4-FFF2-40B4-BE49-F238E27FC236}">
                <a16:creationId xmlns:a16="http://schemas.microsoft.com/office/drawing/2014/main" id="{13536156-B507-4765-1A85-496EED6E8B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0540" y="196315"/>
            <a:ext cx="1293894" cy="1288609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BEEF96F-9EBF-E346-53EA-C011D9D68A34}"/>
              </a:ext>
            </a:extLst>
          </p:cNvPr>
          <p:cNvCxnSpPr/>
          <p:nvPr/>
        </p:nvCxnSpPr>
        <p:spPr>
          <a:xfrm flipV="1">
            <a:off x="526142" y="1094617"/>
            <a:ext cx="9748761" cy="30239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EDDFDF9-148F-1FF6-0383-7E5D9B05517A}"/>
              </a:ext>
            </a:extLst>
          </p:cNvPr>
          <p:cNvSpPr txBox="1"/>
          <p:nvPr/>
        </p:nvSpPr>
        <p:spPr>
          <a:xfrm>
            <a:off x="3190350" y="6440249"/>
            <a:ext cx="581129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 dirty="0">
                <a:solidFill>
                  <a:schemeClr val="bg1">
                    <a:lumMod val="49000"/>
                  </a:schemeClr>
                </a:solidFill>
                <a:latin typeface="Bierstadt"/>
              </a:rPr>
              <a:t>Noah Touchton – </a:t>
            </a:r>
            <a:r>
              <a:rPr lang="en-US" b="1" dirty="0" err="1">
                <a:solidFill>
                  <a:schemeClr val="bg1">
                    <a:lumMod val="49000"/>
                  </a:schemeClr>
                </a:solidFill>
                <a:latin typeface="Bierstadt"/>
              </a:rPr>
              <a:t>ntouchton@ufl.edu</a:t>
            </a:r>
            <a:endParaRPr lang="en-US" dirty="0">
              <a:solidFill>
                <a:schemeClr val="bg1">
                  <a:lumMod val="49000"/>
                </a:schemeClr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F1F673DC-1DE4-424C-CC92-BD4E890DDA83}"/>
              </a:ext>
            </a:extLst>
          </p:cNvPr>
          <p:cNvCxnSpPr>
            <a:cxnSpLocks/>
          </p:cNvCxnSpPr>
          <p:nvPr/>
        </p:nvCxnSpPr>
        <p:spPr>
          <a:xfrm>
            <a:off x="526141" y="6362093"/>
            <a:ext cx="11151808" cy="18141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3084B7-F8DE-C85E-E3E6-B72A66FC1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7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2D8523-B2AE-04A6-1618-3D46E631B9F6}"/>
              </a:ext>
            </a:extLst>
          </p:cNvPr>
          <p:cNvSpPr txBox="1"/>
          <p:nvPr/>
        </p:nvSpPr>
        <p:spPr>
          <a:xfrm>
            <a:off x="611347" y="6442164"/>
            <a:ext cx="413881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10/09/25</a:t>
            </a:r>
            <a:r>
              <a:rPr lang="en-US">
                <a:latin typeface="Bierstadt Bold"/>
              </a:rPr>
              <a:t> 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751357-9568-F596-077D-38DEAD271AD7}"/>
              </a:ext>
            </a:extLst>
          </p:cNvPr>
          <p:cNvSpPr txBox="1"/>
          <p:nvPr/>
        </p:nvSpPr>
        <p:spPr>
          <a:xfrm>
            <a:off x="9638323" y="644378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TANGO SDR​ - UF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  <p:graphicFrame>
        <p:nvGraphicFramePr>
          <p:cNvPr id="12" name="Content Placeholder 4">
            <a:extLst>
              <a:ext uri="{FF2B5EF4-FFF2-40B4-BE49-F238E27FC236}">
                <a16:creationId xmlns:a16="http://schemas.microsoft.com/office/drawing/2014/main" id="{AB63649B-52D9-F817-F125-056F9A5494B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62331869"/>
              </p:ext>
            </p:extLst>
          </p:nvPr>
        </p:nvGraphicFramePr>
        <p:xfrm>
          <a:off x="244794" y="1378737"/>
          <a:ext cx="11219549" cy="48773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56">
                  <a:extLst>
                    <a:ext uri="{9D8B030D-6E8A-4147-A177-3AD203B41FA5}">
                      <a16:colId xmlns:a16="http://schemas.microsoft.com/office/drawing/2014/main" val="3098987667"/>
                    </a:ext>
                  </a:extLst>
                </a:gridCol>
                <a:gridCol w="1695801">
                  <a:extLst>
                    <a:ext uri="{9D8B030D-6E8A-4147-A177-3AD203B41FA5}">
                      <a16:colId xmlns:a16="http://schemas.microsoft.com/office/drawing/2014/main" val="3687653135"/>
                    </a:ext>
                  </a:extLst>
                </a:gridCol>
                <a:gridCol w="1643605">
                  <a:extLst>
                    <a:ext uri="{9D8B030D-6E8A-4147-A177-3AD203B41FA5}">
                      <a16:colId xmlns:a16="http://schemas.microsoft.com/office/drawing/2014/main" val="908228730"/>
                    </a:ext>
                  </a:extLst>
                </a:gridCol>
                <a:gridCol w="3142544">
                  <a:extLst>
                    <a:ext uri="{9D8B030D-6E8A-4147-A177-3AD203B41FA5}">
                      <a16:colId xmlns:a16="http://schemas.microsoft.com/office/drawing/2014/main" val="3533606866"/>
                    </a:ext>
                  </a:extLst>
                </a:gridCol>
                <a:gridCol w="1688634">
                  <a:extLst>
                    <a:ext uri="{9D8B030D-6E8A-4147-A177-3AD203B41FA5}">
                      <a16:colId xmlns:a16="http://schemas.microsoft.com/office/drawing/2014/main" val="2473987835"/>
                    </a:ext>
                  </a:extLst>
                </a:gridCol>
                <a:gridCol w="1355109">
                  <a:extLst>
                    <a:ext uri="{9D8B030D-6E8A-4147-A177-3AD203B41FA5}">
                      <a16:colId xmlns:a16="http://schemas.microsoft.com/office/drawing/2014/main" val="330848909"/>
                    </a:ext>
                  </a:extLst>
                </a:gridCol>
              </a:tblGrid>
              <a:tr h="33389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Standard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Source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Name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Description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Supported By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Status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4030238"/>
                  </a:ext>
                </a:extLst>
              </a:tr>
              <a:tr h="96397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COM-GTRS-11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COM-GTRS-01,</a:t>
                      </a:r>
                      <a:r>
                        <a:rPr lang="en-US" b="1" dirty="0"/>
                        <a:t> </a:t>
                      </a:r>
                      <a:r>
                        <a:rPr lang="en-US" b="0" dirty="0"/>
                        <a:t>COM-GTRS-04</a:t>
                      </a:r>
                    </a:p>
                    <a:p>
                      <a:pPr algn="ctr"/>
                      <a:endParaRPr lang="en-US" sz="1800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/>
                        <a:t>Antenna Configuration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/>
                        <a:t>The spacecraft shall use a nadir-facing S-Band patch antenna for Earth link and two omnidirectional whips for crosslinks.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ISISPACE Patch (nadir-facing) + ANT-100 whips.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4263199"/>
                  </a:ext>
                </a:extLst>
              </a:tr>
              <a:tr h="81387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COM-GTRS-12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COM-GTRS-02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/>
                        <a:t>Data Prioritization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The onboard C&amp;DH system shall prioritize transmission of housekeeping + health data before payload data in the event of bandwidth limitations.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STM32 firmware logic.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2719692"/>
                  </a:ext>
                </a:extLst>
              </a:tr>
              <a:tr h="110603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COM-GTRS-13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ASD-GTRS-020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/>
                        <a:t>Data Formatting Standard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/>
                        <a:t>The spacecraft shall package payload and housekeeping data in a standardized frame structure (header, payload, checksum) so that ground stations can parse data consistently and in the correct sequence.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TM32 packetization firmware + ground software.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4782230"/>
                  </a:ext>
                </a:extLst>
              </a:tr>
              <a:tr h="81387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COM-GTRS-14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ASD-GTRS-020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/>
                        <a:t>Data Source Authentication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The spacecraft shall implement a method to verify that all uplinked commands originate from authorized ground stations, preventing unauthorized tampering.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AX100 transceiver, STM32 firmware (crypto/auth).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3541077"/>
                  </a:ext>
                </a:extLst>
              </a:tr>
              <a:tr h="81387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COM-GTRS-15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ASD-GTRS-020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dirty="0"/>
                        <a:t>Data Receipt Confirmation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The spacecraft shall support a positive acknowledgment protocol (ACK/NACK) to confirm that transmitted frames are received correctly by the ground system.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PULSAR-STX, AX100.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25532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988453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40683B-3725-8868-2043-1D1115B2D7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806044-C90F-D572-BF88-2A503F2E83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03497"/>
            <a:ext cx="10653578" cy="1132258"/>
          </a:xfrm>
        </p:spPr>
        <p:txBody>
          <a:bodyPr/>
          <a:lstStyle/>
          <a:p>
            <a:r>
              <a:rPr lang="en-US" dirty="0"/>
              <a:t>Derived Requirements</a:t>
            </a:r>
          </a:p>
        </p:txBody>
      </p:sp>
      <p:pic>
        <p:nvPicPr>
          <p:cNvPr id="9" name="Picture 8" descr="A logo of a planet&#10;&#10;AI-generated content may be incorrect.">
            <a:extLst>
              <a:ext uri="{FF2B5EF4-FFF2-40B4-BE49-F238E27FC236}">
                <a16:creationId xmlns:a16="http://schemas.microsoft.com/office/drawing/2014/main" id="{A775BFF0-4136-AF27-3923-8475EF55F1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0540" y="196315"/>
            <a:ext cx="1293894" cy="1288609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39AB97F-0585-FF54-191F-1AAD1F972716}"/>
              </a:ext>
            </a:extLst>
          </p:cNvPr>
          <p:cNvCxnSpPr/>
          <p:nvPr/>
        </p:nvCxnSpPr>
        <p:spPr>
          <a:xfrm flipV="1">
            <a:off x="526142" y="1094617"/>
            <a:ext cx="9748761" cy="30239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77B3058-6A59-4AC6-430F-E1266069C8A3}"/>
              </a:ext>
            </a:extLst>
          </p:cNvPr>
          <p:cNvSpPr txBox="1"/>
          <p:nvPr/>
        </p:nvSpPr>
        <p:spPr>
          <a:xfrm>
            <a:off x="3190350" y="6440249"/>
            <a:ext cx="581129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 dirty="0">
                <a:solidFill>
                  <a:schemeClr val="bg1">
                    <a:lumMod val="49000"/>
                  </a:schemeClr>
                </a:solidFill>
                <a:latin typeface="Bierstadt"/>
              </a:rPr>
              <a:t>Noah Touchton – </a:t>
            </a:r>
            <a:r>
              <a:rPr lang="en-US" b="1" dirty="0" err="1">
                <a:solidFill>
                  <a:schemeClr val="bg1">
                    <a:lumMod val="49000"/>
                  </a:schemeClr>
                </a:solidFill>
                <a:latin typeface="Bierstadt"/>
              </a:rPr>
              <a:t>ntouchton@ufl.edu</a:t>
            </a:r>
            <a:endParaRPr lang="en-US" dirty="0">
              <a:solidFill>
                <a:schemeClr val="bg1">
                  <a:lumMod val="49000"/>
                </a:schemeClr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2EA0BBB-F8DC-419F-909A-F033157E3299}"/>
              </a:ext>
            </a:extLst>
          </p:cNvPr>
          <p:cNvCxnSpPr>
            <a:cxnSpLocks/>
          </p:cNvCxnSpPr>
          <p:nvPr/>
        </p:nvCxnSpPr>
        <p:spPr>
          <a:xfrm>
            <a:off x="526141" y="6362093"/>
            <a:ext cx="11151808" cy="18141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CF7D40-D50D-7A2E-4FB7-F11ADAC826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8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0B9A80-9305-6557-1B36-B3F4EBDF2B86}"/>
              </a:ext>
            </a:extLst>
          </p:cNvPr>
          <p:cNvSpPr txBox="1"/>
          <p:nvPr/>
        </p:nvSpPr>
        <p:spPr>
          <a:xfrm>
            <a:off x="611347" y="6442164"/>
            <a:ext cx="413881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10/09/25</a:t>
            </a:r>
            <a:r>
              <a:rPr lang="en-US">
                <a:latin typeface="Bierstadt Bold"/>
              </a:rPr>
              <a:t> 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637122-EC9C-9489-55E8-B8A0649F128E}"/>
              </a:ext>
            </a:extLst>
          </p:cNvPr>
          <p:cNvSpPr txBox="1"/>
          <p:nvPr/>
        </p:nvSpPr>
        <p:spPr>
          <a:xfrm>
            <a:off x="9638323" y="644378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TANGO SDR​ - UF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  <p:graphicFrame>
        <p:nvGraphicFramePr>
          <p:cNvPr id="12" name="Content Placeholder 4">
            <a:extLst>
              <a:ext uri="{FF2B5EF4-FFF2-40B4-BE49-F238E27FC236}">
                <a16:creationId xmlns:a16="http://schemas.microsoft.com/office/drawing/2014/main" id="{FDF8B3DC-5963-2B71-3055-6A44D071F46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85581351"/>
              </p:ext>
            </p:extLst>
          </p:nvPr>
        </p:nvGraphicFramePr>
        <p:xfrm>
          <a:off x="244794" y="1378737"/>
          <a:ext cx="11219549" cy="46921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56">
                  <a:extLst>
                    <a:ext uri="{9D8B030D-6E8A-4147-A177-3AD203B41FA5}">
                      <a16:colId xmlns:a16="http://schemas.microsoft.com/office/drawing/2014/main" val="3098987667"/>
                    </a:ext>
                  </a:extLst>
                </a:gridCol>
                <a:gridCol w="1695801">
                  <a:extLst>
                    <a:ext uri="{9D8B030D-6E8A-4147-A177-3AD203B41FA5}">
                      <a16:colId xmlns:a16="http://schemas.microsoft.com/office/drawing/2014/main" val="3687653135"/>
                    </a:ext>
                  </a:extLst>
                </a:gridCol>
                <a:gridCol w="1643605">
                  <a:extLst>
                    <a:ext uri="{9D8B030D-6E8A-4147-A177-3AD203B41FA5}">
                      <a16:colId xmlns:a16="http://schemas.microsoft.com/office/drawing/2014/main" val="908228730"/>
                    </a:ext>
                  </a:extLst>
                </a:gridCol>
                <a:gridCol w="3142544">
                  <a:extLst>
                    <a:ext uri="{9D8B030D-6E8A-4147-A177-3AD203B41FA5}">
                      <a16:colId xmlns:a16="http://schemas.microsoft.com/office/drawing/2014/main" val="3533606866"/>
                    </a:ext>
                  </a:extLst>
                </a:gridCol>
                <a:gridCol w="1688634">
                  <a:extLst>
                    <a:ext uri="{9D8B030D-6E8A-4147-A177-3AD203B41FA5}">
                      <a16:colId xmlns:a16="http://schemas.microsoft.com/office/drawing/2014/main" val="2473987835"/>
                    </a:ext>
                  </a:extLst>
                </a:gridCol>
                <a:gridCol w="1355109">
                  <a:extLst>
                    <a:ext uri="{9D8B030D-6E8A-4147-A177-3AD203B41FA5}">
                      <a16:colId xmlns:a16="http://schemas.microsoft.com/office/drawing/2014/main" val="330848909"/>
                    </a:ext>
                  </a:extLst>
                </a:gridCol>
              </a:tblGrid>
              <a:tr h="33389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Standard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Source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Name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Description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Supported By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Status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4030238"/>
                  </a:ext>
                </a:extLst>
              </a:tr>
              <a:tr h="77878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COM-GTRS-16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COM-GTRS-13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/>
                        <a:t>Sequential Data Ordering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/>
                        <a:t>The spacecraft shall include frame counters or time tags in each transmission so the ground station can verify that data is received in the correct order without loss or duplication.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STM32 frame counters + ground station telemetry parser.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4263199"/>
                  </a:ext>
                </a:extLst>
              </a:tr>
              <a:tr h="81387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COM-GTRS-17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COM-GTRS-02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/>
                        <a:t>Data Storage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The spacecraft shall have enough onboard storage to store the buffered data.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Bierstadt"/>
                          <a:ea typeface="Calibri"/>
                          <a:cs typeface="Calibri"/>
                        </a:rPr>
                        <a:t>64GB eMMC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2719692"/>
                  </a:ext>
                </a:extLst>
              </a:tr>
              <a:tr h="1106031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0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600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4782230"/>
                  </a:ext>
                </a:extLst>
              </a:tr>
              <a:tr h="81387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3541077"/>
                  </a:ext>
                </a:extLst>
              </a:tr>
              <a:tr h="81387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0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25532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15752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51197-4795-5659-2CB8-DBBAF6B24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D88714-DC36-A76F-B7E1-7D1FE291CC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03497"/>
            <a:ext cx="10653578" cy="1132258"/>
          </a:xfrm>
        </p:spPr>
        <p:txBody>
          <a:bodyPr/>
          <a:lstStyle/>
          <a:p>
            <a:r>
              <a:rPr lang="en-US" dirty="0"/>
              <a:t>Microcontroller Trade Study</a:t>
            </a:r>
          </a:p>
        </p:txBody>
      </p:sp>
      <p:pic>
        <p:nvPicPr>
          <p:cNvPr id="9" name="Picture 8" descr="A logo of a planet&#10;&#10;AI-generated content may be incorrect.">
            <a:extLst>
              <a:ext uri="{FF2B5EF4-FFF2-40B4-BE49-F238E27FC236}">
                <a16:creationId xmlns:a16="http://schemas.microsoft.com/office/drawing/2014/main" id="{0365DBE0-2AE7-677B-4FD8-F2D85BACEA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0540" y="196315"/>
            <a:ext cx="1293894" cy="1288609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3BDEFAC-8FBE-72DD-FAEF-B55633EF76D4}"/>
              </a:ext>
            </a:extLst>
          </p:cNvPr>
          <p:cNvCxnSpPr/>
          <p:nvPr/>
        </p:nvCxnSpPr>
        <p:spPr>
          <a:xfrm flipV="1">
            <a:off x="526142" y="1094617"/>
            <a:ext cx="9748761" cy="30239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8433813-A313-D048-9117-2CB975DC1B7F}"/>
              </a:ext>
            </a:extLst>
          </p:cNvPr>
          <p:cNvSpPr txBox="1"/>
          <p:nvPr/>
        </p:nvSpPr>
        <p:spPr>
          <a:xfrm>
            <a:off x="3190350" y="6440249"/>
            <a:ext cx="581129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 dirty="0">
                <a:solidFill>
                  <a:schemeClr val="bg1">
                    <a:lumMod val="49000"/>
                  </a:schemeClr>
                </a:solidFill>
                <a:latin typeface="Bierstadt"/>
              </a:rPr>
              <a:t>Noah Touchton – </a:t>
            </a:r>
            <a:r>
              <a:rPr lang="en-US" b="1" dirty="0" err="1">
                <a:solidFill>
                  <a:schemeClr val="bg1">
                    <a:lumMod val="49000"/>
                  </a:schemeClr>
                </a:solidFill>
                <a:latin typeface="Bierstadt"/>
              </a:rPr>
              <a:t>ntouchton@ufl.edu</a:t>
            </a:r>
            <a:endParaRPr lang="en-US" dirty="0">
              <a:solidFill>
                <a:schemeClr val="bg1">
                  <a:lumMod val="49000"/>
                </a:schemeClr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13EDCF6-D22C-C409-4A14-4188A7C8C565}"/>
              </a:ext>
            </a:extLst>
          </p:cNvPr>
          <p:cNvCxnSpPr>
            <a:cxnSpLocks/>
          </p:cNvCxnSpPr>
          <p:nvPr/>
        </p:nvCxnSpPr>
        <p:spPr>
          <a:xfrm>
            <a:off x="526141" y="6362093"/>
            <a:ext cx="11151808" cy="18141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7BD599-9281-40AD-AFF0-37EACDEDF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9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725A21-6B39-FEB4-3915-BF9A2250E3FC}"/>
              </a:ext>
            </a:extLst>
          </p:cNvPr>
          <p:cNvSpPr txBox="1"/>
          <p:nvPr/>
        </p:nvSpPr>
        <p:spPr>
          <a:xfrm>
            <a:off x="611347" y="6442164"/>
            <a:ext cx="413881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10/09/25</a:t>
            </a:r>
            <a:r>
              <a:rPr lang="en-US">
                <a:latin typeface="Bierstadt Bold"/>
              </a:rPr>
              <a:t> 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9F61D73-99A4-DCD1-EAF4-32B915FEEA42}"/>
              </a:ext>
            </a:extLst>
          </p:cNvPr>
          <p:cNvSpPr txBox="1"/>
          <p:nvPr/>
        </p:nvSpPr>
        <p:spPr>
          <a:xfrm>
            <a:off x="9638323" y="644378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TANGO SDR​ - UF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7171506E-095B-AE63-2EAB-3965BB8796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679" y="1815976"/>
            <a:ext cx="11594755" cy="1984418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DFC68068-6A26-57E8-4B6B-7240489A03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1096" y="4004783"/>
            <a:ext cx="2868468" cy="2234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01301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0D4D68-6306-E2A8-FBD0-594BFECEA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58608E-E8D0-3AF8-2DC7-5D7302CCE7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03497"/>
            <a:ext cx="10653578" cy="1132258"/>
          </a:xfrm>
        </p:spPr>
        <p:txBody>
          <a:bodyPr/>
          <a:lstStyle/>
          <a:p>
            <a:r>
              <a:rPr lang="en-US" dirty="0"/>
              <a:t>Downlink Antenna Trade Study</a:t>
            </a:r>
          </a:p>
        </p:txBody>
      </p:sp>
      <p:pic>
        <p:nvPicPr>
          <p:cNvPr id="9" name="Picture 8" descr="A logo of a planet&#10;&#10;AI-generated content may be incorrect.">
            <a:extLst>
              <a:ext uri="{FF2B5EF4-FFF2-40B4-BE49-F238E27FC236}">
                <a16:creationId xmlns:a16="http://schemas.microsoft.com/office/drawing/2014/main" id="{951C0031-A988-D1A3-A821-74D7C5EEB2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0540" y="196315"/>
            <a:ext cx="1293894" cy="1288609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AA48782-E4B7-1114-7654-044DBDCF9BA8}"/>
              </a:ext>
            </a:extLst>
          </p:cNvPr>
          <p:cNvCxnSpPr/>
          <p:nvPr/>
        </p:nvCxnSpPr>
        <p:spPr>
          <a:xfrm flipV="1">
            <a:off x="526142" y="1094617"/>
            <a:ext cx="9748761" cy="30239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194406A-E5B1-6350-E0CD-25126F4E38D6}"/>
              </a:ext>
            </a:extLst>
          </p:cNvPr>
          <p:cNvSpPr txBox="1"/>
          <p:nvPr/>
        </p:nvSpPr>
        <p:spPr>
          <a:xfrm>
            <a:off x="3190350" y="6440249"/>
            <a:ext cx="581129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 dirty="0">
                <a:solidFill>
                  <a:schemeClr val="bg1">
                    <a:lumMod val="49000"/>
                  </a:schemeClr>
                </a:solidFill>
                <a:latin typeface="Bierstadt"/>
              </a:rPr>
              <a:t>Noah Touchton – </a:t>
            </a:r>
            <a:r>
              <a:rPr lang="en-US" b="1" dirty="0" err="1">
                <a:solidFill>
                  <a:schemeClr val="bg1">
                    <a:lumMod val="49000"/>
                  </a:schemeClr>
                </a:solidFill>
                <a:latin typeface="Bierstadt"/>
              </a:rPr>
              <a:t>ntouchton@ufl.edu</a:t>
            </a:r>
            <a:endParaRPr lang="en-US" dirty="0">
              <a:solidFill>
                <a:schemeClr val="bg1">
                  <a:lumMod val="49000"/>
                </a:schemeClr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9CE686E3-2770-899E-E9A6-66A5F4C909BD}"/>
              </a:ext>
            </a:extLst>
          </p:cNvPr>
          <p:cNvCxnSpPr>
            <a:cxnSpLocks/>
          </p:cNvCxnSpPr>
          <p:nvPr/>
        </p:nvCxnSpPr>
        <p:spPr>
          <a:xfrm>
            <a:off x="526141" y="6362093"/>
            <a:ext cx="11151808" cy="18141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02206F-975C-D3E4-ED0B-09FA75B31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10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C0E57B-CE66-BA43-3D33-9F54C4BAC9B8}"/>
              </a:ext>
            </a:extLst>
          </p:cNvPr>
          <p:cNvSpPr txBox="1"/>
          <p:nvPr/>
        </p:nvSpPr>
        <p:spPr>
          <a:xfrm>
            <a:off x="611347" y="6442164"/>
            <a:ext cx="413881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10/09/25</a:t>
            </a:r>
            <a:r>
              <a:rPr lang="en-US">
                <a:latin typeface="Bierstadt Bold"/>
              </a:rPr>
              <a:t> 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424B7D-2570-CD92-6E28-439DFD175B22}"/>
              </a:ext>
            </a:extLst>
          </p:cNvPr>
          <p:cNvSpPr txBox="1"/>
          <p:nvPr/>
        </p:nvSpPr>
        <p:spPr>
          <a:xfrm>
            <a:off x="9638323" y="644378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TANGO SDR​ - UF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54DFE7B6-F598-5A81-8C1A-9E22234A66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160" y="1518967"/>
            <a:ext cx="10536553" cy="2363696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47FE9357-8F6F-452F-220A-C858E06EE7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1080" y="4079394"/>
            <a:ext cx="2839344" cy="2280784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A1D30B54-6298-6867-EBC4-4F01BE0835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5144" y="3956231"/>
            <a:ext cx="2378939" cy="2332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35935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FE987-BA2B-BBC8-49EA-45A708E4B9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408EE9-4092-BE9A-7D80-34BB8DC5B1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03497"/>
            <a:ext cx="10653578" cy="1132258"/>
          </a:xfrm>
        </p:spPr>
        <p:txBody>
          <a:bodyPr/>
          <a:lstStyle/>
          <a:p>
            <a:r>
              <a:rPr lang="en-US" dirty="0"/>
              <a:t>Transceiver Trade Study</a:t>
            </a:r>
          </a:p>
        </p:txBody>
      </p:sp>
      <p:pic>
        <p:nvPicPr>
          <p:cNvPr id="9" name="Picture 8" descr="A logo of a planet&#10;&#10;AI-generated content may be incorrect.">
            <a:extLst>
              <a:ext uri="{FF2B5EF4-FFF2-40B4-BE49-F238E27FC236}">
                <a16:creationId xmlns:a16="http://schemas.microsoft.com/office/drawing/2014/main" id="{B340A970-7F09-BA98-8606-0D9025B3EA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0540" y="196315"/>
            <a:ext cx="1293894" cy="1288609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FB73115-2195-2D58-3D71-1816D8783646}"/>
              </a:ext>
            </a:extLst>
          </p:cNvPr>
          <p:cNvCxnSpPr/>
          <p:nvPr/>
        </p:nvCxnSpPr>
        <p:spPr>
          <a:xfrm flipV="1">
            <a:off x="526142" y="1094617"/>
            <a:ext cx="9748761" cy="30239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D586AAC-F959-9D8C-0935-DD184E7285E9}"/>
              </a:ext>
            </a:extLst>
          </p:cNvPr>
          <p:cNvSpPr txBox="1"/>
          <p:nvPr/>
        </p:nvSpPr>
        <p:spPr>
          <a:xfrm>
            <a:off x="3190350" y="6440249"/>
            <a:ext cx="581129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 dirty="0">
                <a:solidFill>
                  <a:schemeClr val="bg1">
                    <a:lumMod val="49000"/>
                  </a:schemeClr>
                </a:solidFill>
                <a:latin typeface="Bierstadt"/>
              </a:rPr>
              <a:t>Noah Touchton – </a:t>
            </a:r>
            <a:r>
              <a:rPr lang="en-US" b="1" dirty="0" err="1">
                <a:solidFill>
                  <a:schemeClr val="bg1">
                    <a:lumMod val="49000"/>
                  </a:schemeClr>
                </a:solidFill>
                <a:latin typeface="Bierstadt"/>
              </a:rPr>
              <a:t>ntouchton@ufl.edu</a:t>
            </a:r>
            <a:endParaRPr lang="en-US" dirty="0">
              <a:solidFill>
                <a:schemeClr val="bg1">
                  <a:lumMod val="49000"/>
                </a:schemeClr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5A884B9-7087-72BA-D8E8-3DE72BB8BA40}"/>
              </a:ext>
            </a:extLst>
          </p:cNvPr>
          <p:cNvCxnSpPr>
            <a:cxnSpLocks/>
          </p:cNvCxnSpPr>
          <p:nvPr/>
        </p:nvCxnSpPr>
        <p:spPr>
          <a:xfrm>
            <a:off x="526141" y="6362093"/>
            <a:ext cx="11151808" cy="18141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6A1216-0177-EE25-1317-4C4BC09BF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11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896F69-BF74-0856-05A1-1E3D8D2D1375}"/>
              </a:ext>
            </a:extLst>
          </p:cNvPr>
          <p:cNvSpPr txBox="1"/>
          <p:nvPr/>
        </p:nvSpPr>
        <p:spPr>
          <a:xfrm>
            <a:off x="611347" y="6442164"/>
            <a:ext cx="413881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10/09/25</a:t>
            </a:r>
            <a:r>
              <a:rPr lang="en-US">
                <a:latin typeface="Bierstadt Bold"/>
              </a:rPr>
              <a:t> 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DA886E-1A5E-4E8C-1DF3-EB3DBCFD67F3}"/>
              </a:ext>
            </a:extLst>
          </p:cNvPr>
          <p:cNvSpPr txBox="1"/>
          <p:nvPr/>
        </p:nvSpPr>
        <p:spPr>
          <a:xfrm>
            <a:off x="9638323" y="644378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TANGO SDR​ - UF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6F15DBD-E974-7458-6C80-A55BA51D1E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72" y="1692106"/>
            <a:ext cx="10048617" cy="197031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24FFE0F-55D8-3701-1BA6-203AF8E9AD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93369" y="3795501"/>
            <a:ext cx="3614305" cy="2503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4125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ED0C1C-8F18-A2CC-9132-A0870E11B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74757-3119-E992-2651-0810FB2F39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03497"/>
            <a:ext cx="10653578" cy="1132258"/>
          </a:xfrm>
        </p:spPr>
        <p:txBody>
          <a:bodyPr/>
          <a:lstStyle/>
          <a:p>
            <a:r>
              <a:rPr lang="en-US" dirty="0"/>
              <a:t>Transmitter Trade Study</a:t>
            </a:r>
          </a:p>
        </p:txBody>
      </p:sp>
      <p:pic>
        <p:nvPicPr>
          <p:cNvPr id="9" name="Picture 8" descr="A logo of a planet&#10;&#10;AI-generated content may be incorrect.">
            <a:extLst>
              <a:ext uri="{FF2B5EF4-FFF2-40B4-BE49-F238E27FC236}">
                <a16:creationId xmlns:a16="http://schemas.microsoft.com/office/drawing/2014/main" id="{2178272F-A6A9-29A8-F319-E1B7A25050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0540" y="196315"/>
            <a:ext cx="1293894" cy="1288609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01440A1-3712-04E2-BB5C-9D1ABFC847E5}"/>
              </a:ext>
            </a:extLst>
          </p:cNvPr>
          <p:cNvCxnSpPr/>
          <p:nvPr/>
        </p:nvCxnSpPr>
        <p:spPr>
          <a:xfrm flipV="1">
            <a:off x="526142" y="1094617"/>
            <a:ext cx="9748761" cy="30239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874CED5-D91F-2C73-F3F9-6269E822FE48}"/>
              </a:ext>
            </a:extLst>
          </p:cNvPr>
          <p:cNvSpPr txBox="1"/>
          <p:nvPr/>
        </p:nvSpPr>
        <p:spPr>
          <a:xfrm>
            <a:off x="3190350" y="6440249"/>
            <a:ext cx="581129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 dirty="0">
                <a:solidFill>
                  <a:schemeClr val="bg1">
                    <a:lumMod val="49000"/>
                  </a:schemeClr>
                </a:solidFill>
                <a:latin typeface="Bierstadt"/>
              </a:rPr>
              <a:t>Noah Touchton – </a:t>
            </a:r>
            <a:r>
              <a:rPr lang="en-US" b="1" dirty="0" err="1">
                <a:solidFill>
                  <a:schemeClr val="bg1">
                    <a:lumMod val="49000"/>
                  </a:schemeClr>
                </a:solidFill>
                <a:latin typeface="Bierstadt"/>
              </a:rPr>
              <a:t>ntouchton@ufl.edu</a:t>
            </a:r>
            <a:endParaRPr lang="en-US" dirty="0">
              <a:solidFill>
                <a:schemeClr val="bg1">
                  <a:lumMod val="49000"/>
                </a:schemeClr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7B6F461D-A385-803A-8E6D-ACFA76423524}"/>
              </a:ext>
            </a:extLst>
          </p:cNvPr>
          <p:cNvCxnSpPr>
            <a:cxnSpLocks/>
          </p:cNvCxnSpPr>
          <p:nvPr/>
        </p:nvCxnSpPr>
        <p:spPr>
          <a:xfrm>
            <a:off x="526141" y="6362093"/>
            <a:ext cx="11151808" cy="18141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FB38E8-C08E-0E25-217F-928D9655C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12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A67132-E52A-3EA8-6615-BEA8CFDA19CF}"/>
              </a:ext>
            </a:extLst>
          </p:cNvPr>
          <p:cNvSpPr txBox="1"/>
          <p:nvPr/>
        </p:nvSpPr>
        <p:spPr>
          <a:xfrm>
            <a:off x="611347" y="6442164"/>
            <a:ext cx="413881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10/09/25</a:t>
            </a:r>
            <a:r>
              <a:rPr lang="en-US">
                <a:latin typeface="Bierstadt Bold"/>
              </a:rPr>
              <a:t> 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B0EF45-EB15-48D9-D01C-75D543BCEC3F}"/>
              </a:ext>
            </a:extLst>
          </p:cNvPr>
          <p:cNvSpPr txBox="1"/>
          <p:nvPr/>
        </p:nvSpPr>
        <p:spPr>
          <a:xfrm>
            <a:off x="9638323" y="644378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TANGO SDR​ - UF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2502CFF-6D53-6040-7656-07C4F543BB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35" y="1637157"/>
            <a:ext cx="9429572" cy="205694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921C6B3-C96A-4E4C-BA2B-08BF17CB09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0241" y="3928650"/>
            <a:ext cx="2538269" cy="2198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30970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4136E-A3E7-C1DA-DD4D-5CBAB1A7E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23F36-E43E-FC73-B6F0-9D1446D2C0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03497"/>
            <a:ext cx="10653578" cy="1132258"/>
          </a:xfrm>
        </p:spPr>
        <p:txBody>
          <a:bodyPr/>
          <a:lstStyle/>
          <a:p>
            <a:r>
              <a:rPr lang="en-US" dirty="0" err="1"/>
              <a:t>InterSat</a:t>
            </a:r>
            <a:r>
              <a:rPr lang="en-US" dirty="0"/>
              <a:t> Antenna Trade Study</a:t>
            </a:r>
          </a:p>
        </p:txBody>
      </p:sp>
      <p:pic>
        <p:nvPicPr>
          <p:cNvPr id="9" name="Picture 8" descr="A logo of a planet&#10;&#10;AI-generated content may be incorrect.">
            <a:extLst>
              <a:ext uri="{FF2B5EF4-FFF2-40B4-BE49-F238E27FC236}">
                <a16:creationId xmlns:a16="http://schemas.microsoft.com/office/drawing/2014/main" id="{EF052AC8-608E-1E3F-8C34-71C0F1D71D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0540" y="196315"/>
            <a:ext cx="1293894" cy="1288609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C83F62F-133F-5A00-34A9-45DEE7741374}"/>
              </a:ext>
            </a:extLst>
          </p:cNvPr>
          <p:cNvCxnSpPr/>
          <p:nvPr/>
        </p:nvCxnSpPr>
        <p:spPr>
          <a:xfrm flipV="1">
            <a:off x="526142" y="1094617"/>
            <a:ext cx="9748761" cy="30239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A87D8B3-88F5-EC3A-DC46-4D8FBBA806E1}"/>
              </a:ext>
            </a:extLst>
          </p:cNvPr>
          <p:cNvSpPr txBox="1"/>
          <p:nvPr/>
        </p:nvSpPr>
        <p:spPr>
          <a:xfrm>
            <a:off x="3190350" y="6440249"/>
            <a:ext cx="581129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 dirty="0">
                <a:solidFill>
                  <a:schemeClr val="bg1">
                    <a:lumMod val="49000"/>
                  </a:schemeClr>
                </a:solidFill>
                <a:latin typeface="Bierstadt"/>
              </a:rPr>
              <a:t>Noah Touchton – </a:t>
            </a:r>
            <a:r>
              <a:rPr lang="en-US" b="1" dirty="0" err="1">
                <a:solidFill>
                  <a:schemeClr val="bg1">
                    <a:lumMod val="49000"/>
                  </a:schemeClr>
                </a:solidFill>
                <a:latin typeface="Bierstadt"/>
              </a:rPr>
              <a:t>ntouchton@ufl.edu</a:t>
            </a:r>
            <a:endParaRPr lang="en-US" dirty="0">
              <a:solidFill>
                <a:schemeClr val="bg1">
                  <a:lumMod val="49000"/>
                </a:schemeClr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93D902DA-E3EE-7C9D-F502-DC21A27CE8EF}"/>
              </a:ext>
            </a:extLst>
          </p:cNvPr>
          <p:cNvCxnSpPr>
            <a:cxnSpLocks/>
          </p:cNvCxnSpPr>
          <p:nvPr/>
        </p:nvCxnSpPr>
        <p:spPr>
          <a:xfrm>
            <a:off x="526141" y="6362093"/>
            <a:ext cx="11151808" cy="18141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BAD10D-38C3-0419-EA34-D0CC744B0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13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2879E0-AC52-F193-D596-1E747D2D6099}"/>
              </a:ext>
            </a:extLst>
          </p:cNvPr>
          <p:cNvSpPr txBox="1"/>
          <p:nvPr/>
        </p:nvSpPr>
        <p:spPr>
          <a:xfrm>
            <a:off x="611347" y="6442164"/>
            <a:ext cx="413881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10/09/25</a:t>
            </a:r>
            <a:r>
              <a:rPr lang="en-US">
                <a:latin typeface="Bierstadt Bold"/>
              </a:rPr>
              <a:t> 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58DE57-E3F0-DA31-75E4-576C814999CC}"/>
              </a:ext>
            </a:extLst>
          </p:cNvPr>
          <p:cNvSpPr txBox="1"/>
          <p:nvPr/>
        </p:nvSpPr>
        <p:spPr>
          <a:xfrm>
            <a:off x="9638323" y="644378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TANGO SDR​ - UF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C8EDB98-7E1F-3D11-58B8-E93CBB7F61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141" y="1621122"/>
            <a:ext cx="10905050" cy="194669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78EE4B3-D4D9-AE18-86EE-834BB31630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8619" y="3944485"/>
            <a:ext cx="2175799" cy="22054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70682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BEFDC-B5F9-617B-7929-16B70A7257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666DCD-C099-074B-AD6B-AD21B0D5ED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03497"/>
            <a:ext cx="10653578" cy="1132258"/>
          </a:xfrm>
        </p:spPr>
        <p:txBody>
          <a:bodyPr/>
          <a:lstStyle/>
          <a:p>
            <a:r>
              <a:rPr lang="en-US" dirty="0" err="1"/>
              <a:t>InterSat</a:t>
            </a:r>
            <a:r>
              <a:rPr lang="en-US" dirty="0"/>
              <a:t> </a:t>
            </a:r>
            <a:r>
              <a:rPr lang="en-US" dirty="0" err="1"/>
              <a:t>Transciever</a:t>
            </a:r>
            <a:r>
              <a:rPr lang="en-US" dirty="0"/>
              <a:t> Trade Study</a:t>
            </a:r>
          </a:p>
        </p:txBody>
      </p:sp>
      <p:pic>
        <p:nvPicPr>
          <p:cNvPr id="9" name="Picture 8" descr="A logo of a planet&#10;&#10;AI-generated content may be incorrect.">
            <a:extLst>
              <a:ext uri="{FF2B5EF4-FFF2-40B4-BE49-F238E27FC236}">
                <a16:creationId xmlns:a16="http://schemas.microsoft.com/office/drawing/2014/main" id="{BF221991-9C59-BAAC-DBD8-E0CA42CBF7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0540" y="196315"/>
            <a:ext cx="1293894" cy="1288609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6F32349-4457-1E4E-7BF3-575A4147113A}"/>
              </a:ext>
            </a:extLst>
          </p:cNvPr>
          <p:cNvCxnSpPr/>
          <p:nvPr/>
        </p:nvCxnSpPr>
        <p:spPr>
          <a:xfrm flipV="1">
            <a:off x="526142" y="1094617"/>
            <a:ext cx="9748761" cy="30239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45C3BAE-B6FC-7BEB-98DD-7FAC3573F90F}"/>
              </a:ext>
            </a:extLst>
          </p:cNvPr>
          <p:cNvSpPr txBox="1"/>
          <p:nvPr/>
        </p:nvSpPr>
        <p:spPr>
          <a:xfrm>
            <a:off x="3190350" y="6440249"/>
            <a:ext cx="581129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 dirty="0">
                <a:solidFill>
                  <a:schemeClr val="bg1">
                    <a:lumMod val="49000"/>
                  </a:schemeClr>
                </a:solidFill>
                <a:latin typeface="Bierstadt"/>
              </a:rPr>
              <a:t>Noah Touchton – </a:t>
            </a:r>
            <a:r>
              <a:rPr lang="en-US" b="1" dirty="0" err="1">
                <a:solidFill>
                  <a:schemeClr val="bg1">
                    <a:lumMod val="49000"/>
                  </a:schemeClr>
                </a:solidFill>
                <a:latin typeface="Bierstadt"/>
              </a:rPr>
              <a:t>ntouchton@ufl.edu</a:t>
            </a:r>
            <a:endParaRPr lang="en-US" dirty="0">
              <a:solidFill>
                <a:schemeClr val="bg1">
                  <a:lumMod val="49000"/>
                </a:schemeClr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F47C103-D8DD-B29F-0CF2-0E31AFD76A46}"/>
              </a:ext>
            </a:extLst>
          </p:cNvPr>
          <p:cNvCxnSpPr>
            <a:cxnSpLocks/>
          </p:cNvCxnSpPr>
          <p:nvPr/>
        </p:nvCxnSpPr>
        <p:spPr>
          <a:xfrm>
            <a:off x="526141" y="6362093"/>
            <a:ext cx="11151808" cy="18141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324928-3066-6CA6-1FA2-A38B7F01E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14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7C5B527-B186-FEC8-4A13-E7F58EA6AA29}"/>
              </a:ext>
            </a:extLst>
          </p:cNvPr>
          <p:cNvSpPr txBox="1"/>
          <p:nvPr/>
        </p:nvSpPr>
        <p:spPr>
          <a:xfrm>
            <a:off x="611347" y="6442164"/>
            <a:ext cx="413881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10/09/25</a:t>
            </a:r>
            <a:r>
              <a:rPr lang="en-US">
                <a:latin typeface="Bierstadt Bold"/>
              </a:rPr>
              <a:t> 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C40851-17E0-6BA9-9607-0B835A0422DA}"/>
              </a:ext>
            </a:extLst>
          </p:cNvPr>
          <p:cNvSpPr txBox="1"/>
          <p:nvPr/>
        </p:nvSpPr>
        <p:spPr>
          <a:xfrm>
            <a:off x="9638323" y="644378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TANGO SDR​ - UF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7DE883F-22BE-7E5D-441D-BE1FCA9F8E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514" y="1535755"/>
            <a:ext cx="9551389" cy="213423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85C65EA-32BB-5EBF-CA41-6EFD660753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2050" y="3840948"/>
            <a:ext cx="2215989" cy="2519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7245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5B9CEB-87D8-1FD0-0794-E60F4FD053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5BC4A5-EA8B-33CE-29D6-0D13970B7C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03497"/>
            <a:ext cx="10653578" cy="1132258"/>
          </a:xfrm>
        </p:spPr>
        <p:txBody>
          <a:bodyPr/>
          <a:lstStyle/>
          <a:p>
            <a:r>
              <a:rPr lang="en-US" dirty="0"/>
              <a:t>Data Storage Trade Study</a:t>
            </a:r>
          </a:p>
        </p:txBody>
      </p:sp>
      <p:pic>
        <p:nvPicPr>
          <p:cNvPr id="9" name="Picture 8" descr="A logo of a planet&#10;&#10;AI-generated content may be incorrect.">
            <a:extLst>
              <a:ext uri="{FF2B5EF4-FFF2-40B4-BE49-F238E27FC236}">
                <a16:creationId xmlns:a16="http://schemas.microsoft.com/office/drawing/2014/main" id="{10DC2967-ADE0-B3BC-D3F3-28EE82232B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0540" y="196315"/>
            <a:ext cx="1293894" cy="1288609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09A6D22-F780-CACC-3FC9-36D5B3BF94B6}"/>
              </a:ext>
            </a:extLst>
          </p:cNvPr>
          <p:cNvCxnSpPr/>
          <p:nvPr/>
        </p:nvCxnSpPr>
        <p:spPr>
          <a:xfrm flipV="1">
            <a:off x="526142" y="1094617"/>
            <a:ext cx="9748761" cy="30239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7F6C8B1-159F-42E2-C0A2-02ECE0B61888}"/>
              </a:ext>
            </a:extLst>
          </p:cNvPr>
          <p:cNvSpPr txBox="1"/>
          <p:nvPr/>
        </p:nvSpPr>
        <p:spPr>
          <a:xfrm>
            <a:off x="3190350" y="6440249"/>
            <a:ext cx="581129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 dirty="0">
                <a:solidFill>
                  <a:schemeClr val="bg1">
                    <a:lumMod val="49000"/>
                  </a:schemeClr>
                </a:solidFill>
                <a:latin typeface="Bierstadt"/>
              </a:rPr>
              <a:t>Noah Touchton – </a:t>
            </a:r>
            <a:r>
              <a:rPr lang="en-US" b="1" dirty="0" err="1">
                <a:solidFill>
                  <a:schemeClr val="bg1">
                    <a:lumMod val="49000"/>
                  </a:schemeClr>
                </a:solidFill>
                <a:latin typeface="Bierstadt"/>
              </a:rPr>
              <a:t>ntouchton@ufl.edu</a:t>
            </a:r>
            <a:endParaRPr lang="en-US" dirty="0">
              <a:solidFill>
                <a:schemeClr val="bg1">
                  <a:lumMod val="49000"/>
                </a:schemeClr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F63D772B-8001-AA44-DF1C-EA5515246AE2}"/>
              </a:ext>
            </a:extLst>
          </p:cNvPr>
          <p:cNvCxnSpPr>
            <a:cxnSpLocks/>
          </p:cNvCxnSpPr>
          <p:nvPr/>
        </p:nvCxnSpPr>
        <p:spPr>
          <a:xfrm>
            <a:off x="526141" y="6362093"/>
            <a:ext cx="11151808" cy="18141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AC8A7C-2F14-AF18-BA01-F6CD0741D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15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F2D8A77-397F-117D-6BA1-6FB8365DC89B}"/>
              </a:ext>
            </a:extLst>
          </p:cNvPr>
          <p:cNvSpPr txBox="1"/>
          <p:nvPr/>
        </p:nvSpPr>
        <p:spPr>
          <a:xfrm>
            <a:off x="611347" y="6442164"/>
            <a:ext cx="413881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10/09/25</a:t>
            </a:r>
            <a:r>
              <a:rPr lang="en-US">
                <a:latin typeface="Bierstadt Bold"/>
              </a:rPr>
              <a:t> 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87B9C5-0B4E-24A9-CD10-A6A1CF8D1C5F}"/>
              </a:ext>
            </a:extLst>
          </p:cNvPr>
          <p:cNvSpPr txBox="1"/>
          <p:nvPr/>
        </p:nvSpPr>
        <p:spPr>
          <a:xfrm>
            <a:off x="9638323" y="644378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TANGO SDR​ - UF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D523D78-2198-68C0-1C75-E062514B3F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9" y="1864984"/>
            <a:ext cx="10653577" cy="125232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B93B43C-5E3B-68DE-60C3-7FDC960A92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4073" y="3429000"/>
            <a:ext cx="3451879" cy="241702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D849844-4C3F-9D8E-AAA1-F9B1E51FF9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5385" y="3240350"/>
            <a:ext cx="3451879" cy="2380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85598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ABB3C-FD98-8D62-7F16-406EB4A25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E58DB-583F-D224-D09D-146AE04957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03497"/>
            <a:ext cx="10653578" cy="1132258"/>
          </a:xfrm>
        </p:spPr>
        <p:txBody>
          <a:bodyPr/>
          <a:lstStyle/>
          <a:p>
            <a:r>
              <a:rPr lang="en-US" dirty="0"/>
              <a:t>Component Placement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F8E34E-9BBA-EF74-FACC-DEB3C946F0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358186"/>
            <a:ext cx="11155680" cy="411782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sz="1400" dirty="0">
              <a:latin typeface="Bierstadt"/>
              <a:ea typeface="Calibri"/>
              <a:cs typeface="Calibri"/>
            </a:endParaRPr>
          </a:p>
          <a:p>
            <a:r>
              <a:rPr lang="en-US" sz="1400" dirty="0">
                <a:latin typeface="Bierstadt"/>
                <a:ea typeface="Calibri"/>
                <a:cs typeface="Calibri"/>
              </a:rPr>
              <a:t>The main communication satellite will have one S-Band transceiver and one S-Band transmitter along side an antenna.</a:t>
            </a:r>
          </a:p>
          <a:p>
            <a:r>
              <a:rPr lang="en-US" sz="1400" dirty="0">
                <a:latin typeface="Bierstadt"/>
                <a:ea typeface="Calibri"/>
                <a:cs typeface="Calibri"/>
              </a:rPr>
              <a:t>The main communication satellite will have the microcontroller alongside the data storage device.</a:t>
            </a:r>
          </a:p>
          <a:p>
            <a:r>
              <a:rPr lang="en-US" sz="1400" dirty="0">
                <a:latin typeface="Bierstadt"/>
                <a:ea typeface="Calibri"/>
                <a:cs typeface="Calibri"/>
              </a:rPr>
              <a:t>Both satellites will have the </a:t>
            </a:r>
            <a:r>
              <a:rPr lang="en-US" sz="1400" dirty="0" err="1">
                <a:latin typeface="Bierstadt"/>
                <a:ea typeface="Calibri"/>
                <a:cs typeface="Calibri"/>
              </a:rPr>
              <a:t>InterSat</a:t>
            </a:r>
            <a:r>
              <a:rPr lang="en-US" sz="1400" dirty="0">
                <a:latin typeface="Bierstadt"/>
                <a:ea typeface="Calibri"/>
                <a:cs typeface="Calibri"/>
              </a:rPr>
              <a:t> transmitters and antennas to send data back and forth.</a:t>
            </a:r>
          </a:p>
        </p:txBody>
      </p:sp>
      <p:pic>
        <p:nvPicPr>
          <p:cNvPr id="9" name="Picture 8" descr="A logo of a planet&#10;&#10;AI-generated content may be incorrect.">
            <a:extLst>
              <a:ext uri="{FF2B5EF4-FFF2-40B4-BE49-F238E27FC236}">
                <a16:creationId xmlns:a16="http://schemas.microsoft.com/office/drawing/2014/main" id="{DC96E691-EACF-8BFD-14E8-F10B90CE7F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0540" y="196315"/>
            <a:ext cx="1293894" cy="1288609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D42C703-5497-0478-9610-B8D3254C94F1}"/>
              </a:ext>
            </a:extLst>
          </p:cNvPr>
          <p:cNvCxnSpPr/>
          <p:nvPr/>
        </p:nvCxnSpPr>
        <p:spPr>
          <a:xfrm flipV="1">
            <a:off x="526142" y="1094617"/>
            <a:ext cx="9748761" cy="30239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C6BD4699-6015-D6A4-E706-D103FF1A70AB}"/>
              </a:ext>
            </a:extLst>
          </p:cNvPr>
          <p:cNvSpPr txBox="1"/>
          <p:nvPr/>
        </p:nvSpPr>
        <p:spPr>
          <a:xfrm>
            <a:off x="3190350" y="6440249"/>
            <a:ext cx="581129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 dirty="0">
                <a:solidFill>
                  <a:schemeClr val="bg1">
                    <a:lumMod val="49000"/>
                  </a:schemeClr>
                </a:solidFill>
                <a:latin typeface="Bierstadt"/>
              </a:rPr>
              <a:t>Noah Touchton – </a:t>
            </a:r>
            <a:r>
              <a:rPr lang="en-US" b="1" dirty="0" err="1">
                <a:solidFill>
                  <a:schemeClr val="bg1">
                    <a:lumMod val="49000"/>
                  </a:schemeClr>
                </a:solidFill>
                <a:latin typeface="Bierstadt"/>
              </a:rPr>
              <a:t>ntouchton@ufl.edu</a:t>
            </a:r>
            <a:endParaRPr lang="en-US" dirty="0">
              <a:solidFill>
                <a:schemeClr val="bg1">
                  <a:lumMod val="49000"/>
                </a:schemeClr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C84C24F4-3C14-AED4-CC19-ED10B09C66A8}"/>
              </a:ext>
            </a:extLst>
          </p:cNvPr>
          <p:cNvCxnSpPr>
            <a:cxnSpLocks/>
          </p:cNvCxnSpPr>
          <p:nvPr/>
        </p:nvCxnSpPr>
        <p:spPr>
          <a:xfrm>
            <a:off x="526141" y="6362093"/>
            <a:ext cx="11151808" cy="18141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D52C9F-8B4E-9740-92C1-B2B9BB392B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16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A1B4EE-2A0D-9622-D603-5AF34F6EB825}"/>
              </a:ext>
            </a:extLst>
          </p:cNvPr>
          <p:cNvSpPr txBox="1"/>
          <p:nvPr/>
        </p:nvSpPr>
        <p:spPr>
          <a:xfrm>
            <a:off x="611347" y="6442164"/>
            <a:ext cx="413881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10/09/25</a:t>
            </a:r>
            <a:r>
              <a:rPr lang="en-US">
                <a:latin typeface="Bierstadt Bold"/>
              </a:rPr>
              <a:t> 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99B0AD-9FC6-7312-D827-526C9F7CF847}"/>
              </a:ext>
            </a:extLst>
          </p:cNvPr>
          <p:cNvSpPr txBox="1"/>
          <p:nvPr/>
        </p:nvSpPr>
        <p:spPr>
          <a:xfrm>
            <a:off x="9638323" y="644378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TANGO SDR​ - UF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8B9DD8B-F6E2-30A7-1E85-EAEC33AF18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383" y="3083169"/>
            <a:ext cx="3632738" cy="310839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B999FF5-FE3B-F1C0-E7E4-9870F52C34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7061" y="3083167"/>
            <a:ext cx="3615531" cy="3108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10545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34C2AA-C560-899A-E4CD-F1EA95597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897C33-4231-AA26-C53C-504E7CE00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03497"/>
            <a:ext cx="10653578" cy="1132258"/>
          </a:xfrm>
        </p:spPr>
        <p:txBody>
          <a:bodyPr/>
          <a:lstStyle/>
          <a:p>
            <a:r>
              <a:rPr lang="en-US" dirty="0"/>
              <a:t>Ground Stations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8EDDC-8A1D-D145-05D1-4FB7C84581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358186"/>
            <a:ext cx="11155680" cy="4117823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US" sz="1400" b="1" dirty="0"/>
              <a:t>Primary Station:</a:t>
            </a:r>
            <a:r>
              <a:rPr lang="en-US" sz="1400" dirty="0"/>
              <a:t> RBC Fairbanks (S-Band), frequent LEO contacts</a:t>
            </a:r>
          </a:p>
          <a:p>
            <a:r>
              <a:rPr lang="en-US" sz="1400" b="1" dirty="0"/>
              <a:t>Coverage:</a:t>
            </a:r>
            <a:r>
              <a:rPr lang="en-US" sz="1400" dirty="0"/>
              <a:t> 11 passes/day (orbit-dependent)</a:t>
            </a:r>
          </a:p>
          <a:p>
            <a:r>
              <a:rPr lang="en-US" sz="1400" b="1" dirty="0"/>
              <a:t>Pass Duration:</a:t>
            </a:r>
            <a:r>
              <a:rPr lang="en-US" sz="1400" dirty="0"/>
              <a:t> 3–10 min typical</a:t>
            </a:r>
          </a:p>
          <a:p>
            <a:r>
              <a:rPr lang="en-US" sz="1400" b="1" dirty="0"/>
              <a:t>Data Return:</a:t>
            </a:r>
            <a:r>
              <a:rPr lang="en-US" sz="1400" dirty="0"/>
              <a:t> ≥288 MB/day → achievable with 2 passes @ ≥500 kbps + 7-day buffer on eMMC</a:t>
            </a:r>
          </a:p>
          <a:p>
            <a:r>
              <a:rPr lang="en-US" sz="1400" b="1" dirty="0"/>
              <a:t>Operations:</a:t>
            </a:r>
            <a:endParaRPr lang="en-US" sz="1400" dirty="0"/>
          </a:p>
          <a:p>
            <a:pPr lvl="1"/>
            <a:r>
              <a:rPr lang="en-US" sz="1200" dirty="0"/>
              <a:t>Downlink: PULSAR-STX + Patch → Earth data</a:t>
            </a:r>
          </a:p>
          <a:p>
            <a:pPr lvl="1"/>
            <a:r>
              <a:rPr lang="en-US" sz="1200" dirty="0"/>
              <a:t>Uplink: AX100 → Receive authenticated commands</a:t>
            </a:r>
          </a:p>
          <a:p>
            <a:pPr lvl="1"/>
            <a:r>
              <a:rPr lang="en-US" sz="1200" dirty="0"/>
              <a:t>ACK/NACK and prioritization (housekeeping &gt; payload)</a:t>
            </a:r>
          </a:p>
          <a:p>
            <a:r>
              <a:rPr lang="en-US" sz="1400" b="1" dirty="0"/>
              <a:t>Regulatory:</a:t>
            </a:r>
            <a:r>
              <a:rPr lang="en-US" sz="1400" dirty="0"/>
              <a:t> Operates in 2.0–2.3 GHz CubeSat S-Band allocation</a:t>
            </a:r>
          </a:p>
          <a:p>
            <a:r>
              <a:rPr lang="en-US" sz="1400" b="1" dirty="0"/>
              <a:t>Risks &amp; Mitigation:</a:t>
            </a:r>
            <a:endParaRPr lang="en-US" sz="1400" dirty="0"/>
          </a:p>
          <a:p>
            <a:pPr lvl="1"/>
            <a:r>
              <a:rPr lang="en-US" sz="1200" dirty="0"/>
              <a:t>Insufficient passes → secondary GS or compression</a:t>
            </a:r>
          </a:p>
          <a:p>
            <a:pPr lvl="1"/>
            <a:r>
              <a:rPr lang="en-US" sz="1200" dirty="0"/>
              <a:t>Scheduling conflicts → buffer + margin pass</a:t>
            </a:r>
          </a:p>
          <a:p>
            <a:pPr lvl="1"/>
            <a:r>
              <a:rPr lang="en-US" sz="1200" dirty="0"/>
              <a:t>Low-elevation losses → reduce rate / use higher elevation passes</a:t>
            </a:r>
          </a:p>
        </p:txBody>
      </p:sp>
      <p:pic>
        <p:nvPicPr>
          <p:cNvPr id="9" name="Picture 8" descr="A logo of a planet&#10;&#10;AI-generated content may be incorrect.">
            <a:extLst>
              <a:ext uri="{FF2B5EF4-FFF2-40B4-BE49-F238E27FC236}">
                <a16:creationId xmlns:a16="http://schemas.microsoft.com/office/drawing/2014/main" id="{18BDAD9B-83B9-CE54-45D1-39A8CC8922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0540" y="196315"/>
            <a:ext cx="1293894" cy="1288609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2CEAF96-A68D-3234-C938-4CF30A6CF216}"/>
              </a:ext>
            </a:extLst>
          </p:cNvPr>
          <p:cNvCxnSpPr/>
          <p:nvPr/>
        </p:nvCxnSpPr>
        <p:spPr>
          <a:xfrm flipV="1">
            <a:off x="526142" y="1094617"/>
            <a:ext cx="9748761" cy="30239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45BE034-AED0-C1DE-0A36-AF5672B8E9B6}"/>
              </a:ext>
            </a:extLst>
          </p:cNvPr>
          <p:cNvSpPr txBox="1"/>
          <p:nvPr/>
        </p:nvSpPr>
        <p:spPr>
          <a:xfrm>
            <a:off x="3190350" y="6440249"/>
            <a:ext cx="581129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 dirty="0">
                <a:solidFill>
                  <a:schemeClr val="bg1">
                    <a:lumMod val="49000"/>
                  </a:schemeClr>
                </a:solidFill>
                <a:latin typeface="Bierstadt"/>
              </a:rPr>
              <a:t>Noah Touchton – </a:t>
            </a:r>
            <a:r>
              <a:rPr lang="en-US" b="1" dirty="0" err="1">
                <a:solidFill>
                  <a:schemeClr val="bg1">
                    <a:lumMod val="49000"/>
                  </a:schemeClr>
                </a:solidFill>
                <a:latin typeface="Bierstadt"/>
              </a:rPr>
              <a:t>ntouchton@ufl.edu</a:t>
            </a:r>
            <a:endParaRPr lang="en-US" dirty="0">
              <a:solidFill>
                <a:schemeClr val="bg1">
                  <a:lumMod val="49000"/>
                </a:schemeClr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9A5CD76-E125-ADC6-93A8-9C2173810BA8}"/>
              </a:ext>
            </a:extLst>
          </p:cNvPr>
          <p:cNvCxnSpPr>
            <a:cxnSpLocks/>
          </p:cNvCxnSpPr>
          <p:nvPr/>
        </p:nvCxnSpPr>
        <p:spPr>
          <a:xfrm>
            <a:off x="526141" y="6362093"/>
            <a:ext cx="11151808" cy="18141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11CF43-0A6B-E95E-6BE7-15CBEA372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17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9C6135-8712-CE1C-F6C6-12E2E3585D1B}"/>
              </a:ext>
            </a:extLst>
          </p:cNvPr>
          <p:cNvSpPr txBox="1"/>
          <p:nvPr/>
        </p:nvSpPr>
        <p:spPr>
          <a:xfrm>
            <a:off x="611347" y="6442164"/>
            <a:ext cx="413881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10/09/25</a:t>
            </a:r>
            <a:r>
              <a:rPr lang="en-US">
                <a:latin typeface="Bierstadt Bold"/>
              </a:rPr>
              <a:t> 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A340B7-DB40-151B-9878-50B865761B71}"/>
              </a:ext>
            </a:extLst>
          </p:cNvPr>
          <p:cNvSpPr txBox="1"/>
          <p:nvPr/>
        </p:nvSpPr>
        <p:spPr>
          <a:xfrm>
            <a:off x="9638323" y="644378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TANGO SDR​ - UF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255191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AFB3D-8CAA-6F8A-419D-AA1400E72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1B4058-79CA-12AA-0238-3644BB2F40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03497"/>
            <a:ext cx="10653578" cy="1132258"/>
          </a:xfrm>
        </p:spPr>
        <p:txBody>
          <a:bodyPr/>
          <a:lstStyle/>
          <a:p>
            <a:r>
              <a:rPr lang="en-US" dirty="0"/>
              <a:t>Mass Budget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891091DE-5C18-B43D-EF42-3E6BD617680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22176124"/>
              </p:ext>
            </p:extLst>
          </p:nvPr>
        </p:nvGraphicFramePr>
        <p:xfrm>
          <a:off x="520699" y="1358900"/>
          <a:ext cx="9748760" cy="41163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9" name="Picture 8" descr="A logo of a planet&#10;&#10;AI-generated content may be incorrect.">
            <a:extLst>
              <a:ext uri="{FF2B5EF4-FFF2-40B4-BE49-F238E27FC236}">
                <a16:creationId xmlns:a16="http://schemas.microsoft.com/office/drawing/2014/main" id="{B00C468F-F23A-B87F-15D2-0170476E97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10540" y="196315"/>
            <a:ext cx="1293894" cy="1288609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6873F47-6639-8AF3-6BD5-DD7CA3541D94}"/>
              </a:ext>
            </a:extLst>
          </p:cNvPr>
          <p:cNvCxnSpPr/>
          <p:nvPr/>
        </p:nvCxnSpPr>
        <p:spPr>
          <a:xfrm flipV="1">
            <a:off x="526142" y="1094617"/>
            <a:ext cx="9748761" cy="30239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F637DBD-AD8D-F369-113E-DC858BAE1719}"/>
              </a:ext>
            </a:extLst>
          </p:cNvPr>
          <p:cNvSpPr txBox="1"/>
          <p:nvPr/>
        </p:nvSpPr>
        <p:spPr>
          <a:xfrm>
            <a:off x="3190350" y="6440249"/>
            <a:ext cx="581129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 dirty="0">
                <a:solidFill>
                  <a:schemeClr val="bg1">
                    <a:lumMod val="49000"/>
                  </a:schemeClr>
                </a:solidFill>
                <a:latin typeface="Bierstadt"/>
              </a:rPr>
              <a:t>Noah Touchton – </a:t>
            </a:r>
            <a:r>
              <a:rPr lang="en-US" b="1">
                <a:solidFill>
                  <a:schemeClr val="bg1">
                    <a:lumMod val="49000"/>
                  </a:schemeClr>
                </a:solidFill>
                <a:latin typeface="Bierstadt"/>
              </a:rPr>
              <a:t>ntouchton@ufl.edu</a:t>
            </a:r>
            <a:endParaRPr lang="en-US" dirty="0">
              <a:solidFill>
                <a:schemeClr val="bg1">
                  <a:lumMod val="49000"/>
                </a:schemeClr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4F3204F9-A022-E8D8-9C50-8BE2B1929AFE}"/>
              </a:ext>
            </a:extLst>
          </p:cNvPr>
          <p:cNvCxnSpPr>
            <a:cxnSpLocks/>
          </p:cNvCxnSpPr>
          <p:nvPr/>
        </p:nvCxnSpPr>
        <p:spPr>
          <a:xfrm>
            <a:off x="526141" y="6362093"/>
            <a:ext cx="11151808" cy="18141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70392A-89AC-34C8-7F87-8AAA1D63B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18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07DC87-0307-8F29-76EE-1C55DF84982B}"/>
              </a:ext>
            </a:extLst>
          </p:cNvPr>
          <p:cNvSpPr txBox="1"/>
          <p:nvPr/>
        </p:nvSpPr>
        <p:spPr>
          <a:xfrm>
            <a:off x="611347" y="6442164"/>
            <a:ext cx="413881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10/09/25</a:t>
            </a:r>
            <a:r>
              <a:rPr lang="en-US">
                <a:latin typeface="Bierstadt Bold"/>
              </a:rPr>
              <a:t> 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487E83-0C95-912C-9965-0A8C42C2F166}"/>
              </a:ext>
            </a:extLst>
          </p:cNvPr>
          <p:cNvSpPr txBox="1"/>
          <p:nvPr/>
        </p:nvSpPr>
        <p:spPr>
          <a:xfrm>
            <a:off x="9638323" y="644378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TANGO SDR​ - UF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82826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876130-2D02-C06A-34FF-B6DFC95D7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35CED7-2289-5694-352F-D8C24F48A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03497"/>
            <a:ext cx="10653578" cy="1132258"/>
          </a:xfrm>
        </p:spPr>
        <p:txBody>
          <a:bodyPr/>
          <a:lstStyle/>
          <a:p>
            <a:r>
              <a:rPr lang="en-US" dirty="0"/>
              <a:t>Power Budget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651022BA-0537-1D68-19A3-B2D11639C10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13992698"/>
              </p:ext>
            </p:extLst>
          </p:nvPr>
        </p:nvGraphicFramePr>
        <p:xfrm>
          <a:off x="611347" y="1358899"/>
          <a:ext cx="4846431" cy="490940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9" name="Picture 8" descr="A logo of a planet&#10;&#10;AI-generated content may be incorrect.">
            <a:extLst>
              <a:ext uri="{FF2B5EF4-FFF2-40B4-BE49-F238E27FC236}">
                <a16:creationId xmlns:a16="http://schemas.microsoft.com/office/drawing/2014/main" id="{AE20F78F-5CB6-6EF1-7250-296A2DA6DA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10540" y="196315"/>
            <a:ext cx="1293894" cy="1288609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2320EEA-6F39-D141-9B5E-025363EBEF95}"/>
              </a:ext>
            </a:extLst>
          </p:cNvPr>
          <p:cNvCxnSpPr/>
          <p:nvPr/>
        </p:nvCxnSpPr>
        <p:spPr>
          <a:xfrm flipV="1">
            <a:off x="526142" y="1094617"/>
            <a:ext cx="9748761" cy="30239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1A7D977-E951-0546-6A5A-AB33A8EB46F5}"/>
              </a:ext>
            </a:extLst>
          </p:cNvPr>
          <p:cNvSpPr txBox="1"/>
          <p:nvPr/>
        </p:nvSpPr>
        <p:spPr>
          <a:xfrm>
            <a:off x="3190350" y="6440249"/>
            <a:ext cx="581129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 dirty="0">
                <a:solidFill>
                  <a:schemeClr val="bg1">
                    <a:lumMod val="49000"/>
                  </a:schemeClr>
                </a:solidFill>
                <a:latin typeface="Bierstadt"/>
              </a:rPr>
              <a:t>Noah Touchton – </a:t>
            </a:r>
            <a:r>
              <a:rPr lang="en-US" b="1">
                <a:solidFill>
                  <a:schemeClr val="bg1">
                    <a:lumMod val="49000"/>
                  </a:schemeClr>
                </a:solidFill>
                <a:latin typeface="Bierstadt"/>
              </a:rPr>
              <a:t>ntouchton@ufl.edu</a:t>
            </a:r>
            <a:endParaRPr lang="en-US" dirty="0">
              <a:solidFill>
                <a:schemeClr val="bg1">
                  <a:lumMod val="49000"/>
                </a:schemeClr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B6FC82F-92FF-ECA1-0506-3B99C4C23B4D}"/>
              </a:ext>
            </a:extLst>
          </p:cNvPr>
          <p:cNvCxnSpPr>
            <a:cxnSpLocks/>
          </p:cNvCxnSpPr>
          <p:nvPr/>
        </p:nvCxnSpPr>
        <p:spPr>
          <a:xfrm>
            <a:off x="526141" y="6362093"/>
            <a:ext cx="11151808" cy="18141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7BC4C2-12C0-C505-2151-0520D30191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19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C5D9DA-D176-24CB-5C52-19DA3AD978BD}"/>
              </a:ext>
            </a:extLst>
          </p:cNvPr>
          <p:cNvSpPr txBox="1"/>
          <p:nvPr/>
        </p:nvSpPr>
        <p:spPr>
          <a:xfrm>
            <a:off x="611347" y="6442164"/>
            <a:ext cx="413881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10/09/25</a:t>
            </a:r>
            <a:r>
              <a:rPr lang="en-US">
                <a:latin typeface="Bierstadt Bold"/>
              </a:rPr>
              <a:t> 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4C7591-6F0B-E0AF-DC17-AEC67F5620A2}"/>
              </a:ext>
            </a:extLst>
          </p:cNvPr>
          <p:cNvSpPr txBox="1"/>
          <p:nvPr/>
        </p:nvSpPr>
        <p:spPr>
          <a:xfrm>
            <a:off x="9638323" y="644378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TANGO SDR​ - UF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  <p:graphicFrame>
        <p:nvGraphicFramePr>
          <p:cNvPr id="3" name="Content Placeholder 5">
            <a:extLst>
              <a:ext uri="{FF2B5EF4-FFF2-40B4-BE49-F238E27FC236}">
                <a16:creationId xmlns:a16="http://schemas.microsoft.com/office/drawing/2014/main" id="{CBA04357-1AC2-1669-8C12-C264CE4814F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12871783"/>
              </p:ext>
            </p:extLst>
          </p:nvPr>
        </p:nvGraphicFramePr>
        <p:xfrm>
          <a:off x="5428472" y="1370806"/>
          <a:ext cx="4846431" cy="48974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14768716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E5597-48E0-39CE-96E2-48B1E9C01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37BE6-A1D4-2CAA-AFD4-B6A4D2A732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03497"/>
            <a:ext cx="10653578" cy="1132258"/>
          </a:xfrm>
        </p:spPr>
        <p:txBody>
          <a:bodyPr/>
          <a:lstStyle/>
          <a:p>
            <a:r>
              <a:rPr lang="en-US"/>
              <a:t>Risk Template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546DCD64-63C8-1027-D4F4-BE290C13624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49572030"/>
              </p:ext>
            </p:extLst>
          </p:nvPr>
        </p:nvGraphicFramePr>
        <p:xfrm>
          <a:off x="612775" y="1233716"/>
          <a:ext cx="7845420" cy="4447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5919">
                  <a:extLst>
                    <a:ext uri="{9D8B030D-6E8A-4147-A177-3AD203B41FA5}">
                      <a16:colId xmlns:a16="http://schemas.microsoft.com/office/drawing/2014/main" val="3098987667"/>
                    </a:ext>
                  </a:extLst>
                </a:gridCol>
                <a:gridCol w="3029857">
                  <a:extLst>
                    <a:ext uri="{9D8B030D-6E8A-4147-A177-3AD203B41FA5}">
                      <a16:colId xmlns:a16="http://schemas.microsoft.com/office/drawing/2014/main" val="3687653135"/>
                    </a:ext>
                  </a:extLst>
                </a:gridCol>
                <a:gridCol w="731475">
                  <a:extLst>
                    <a:ext uri="{9D8B030D-6E8A-4147-A177-3AD203B41FA5}">
                      <a16:colId xmlns:a16="http://schemas.microsoft.com/office/drawing/2014/main" val="908228730"/>
                    </a:ext>
                  </a:extLst>
                </a:gridCol>
                <a:gridCol w="653630">
                  <a:extLst>
                    <a:ext uri="{9D8B030D-6E8A-4147-A177-3AD203B41FA5}">
                      <a16:colId xmlns:a16="http://schemas.microsoft.com/office/drawing/2014/main" val="3533606866"/>
                    </a:ext>
                  </a:extLst>
                </a:gridCol>
                <a:gridCol w="2484539">
                  <a:extLst>
                    <a:ext uri="{9D8B030D-6E8A-4147-A177-3AD203B41FA5}">
                      <a16:colId xmlns:a16="http://schemas.microsoft.com/office/drawing/2014/main" val="2473987835"/>
                    </a:ext>
                  </a:extLst>
                </a:gridCol>
              </a:tblGrid>
              <a:tr h="498000">
                <a:tc>
                  <a:txBody>
                    <a:bodyPr/>
                    <a:lstStyle/>
                    <a:p>
                      <a:r>
                        <a:rPr lang="en-US"/>
                        <a:t>ID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Risk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L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Mitigation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4030238"/>
                  </a:ext>
                </a:extLst>
              </a:tr>
              <a:tr h="4980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dirty="0"/>
                        <a:t>High-rate downlink transmitter (PULSAR-STX) failure results in no payload science data return.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dirty="0"/>
                        <a:t>Provide redundant TT&amp;C link (AX100), schedule frequent downlinks, and prioritize housekeeping data.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4263199"/>
                  </a:ext>
                </a:extLst>
              </a:tr>
              <a:tr h="4980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dirty="0"/>
                        <a:t>Ground station coverage insufficient to meet 288 MB/day downlink.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dirty="0"/>
                        <a:t>Use multiple ground stations, optimize compression, buffer ≥7 days of data.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2719692"/>
                  </a:ext>
                </a:extLst>
              </a:tr>
              <a:tr h="4980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dirty="0" err="1"/>
                        <a:t>Intersat</a:t>
                      </a:r>
                      <a:r>
                        <a:rPr lang="en-US" sz="1050" dirty="0"/>
                        <a:t> crosslink (SX1262) failure prevents coordination.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dirty="0"/>
                        <a:t>Design mission operations to tolerate single-sat autonomy, add margin with redundant antennas.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4782230"/>
                  </a:ext>
                </a:extLst>
              </a:tr>
              <a:tr h="4980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dirty="0"/>
                        <a:t>Antenna deployment or orientation failure (patch/whips not radiating properly).</a:t>
                      </a:r>
                    </a:p>
                    <a:p>
                      <a:pPr algn="ctr"/>
                      <a:endParaRPr 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dirty="0"/>
                        <a:t>Qualification testing, deploy antennas with proven mechanisms, include dual whips for omni coverage.</a:t>
                      </a:r>
                    </a:p>
                    <a:p>
                      <a:pPr algn="ctr"/>
                      <a:endParaRPr lang="en-US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3541077"/>
                  </a:ext>
                </a:extLst>
              </a:tr>
              <a:tr h="4980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/>
                        <a:t>Onboard data storage (eMMC) corruption leading to science data loss.</a:t>
                      </a:r>
                    </a:p>
                  </a:txBody>
                  <a:tcPr anchor="ctr"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dirty="0"/>
                        <a:t>Redundant partitioning, ECC checks, buffer multiple days, prioritize telemetry in downlink.</a:t>
                      </a:r>
                    </a:p>
                    <a:p>
                      <a:pPr algn="ctr"/>
                      <a:endParaRPr lang="en-US" sz="1050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2553279"/>
                  </a:ext>
                </a:extLst>
              </a:tr>
              <a:tr h="572698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/>
                        <a:t>Power budget exceeded during simultaneous TX events (PULSAR + AX100 + SX1262).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dirty="0"/>
                        <a:t>Schedule transmissions sequentially, verify power margins in FSW, provide load-shedding fallback.</a:t>
                      </a:r>
                    </a:p>
                    <a:p>
                      <a:pPr lvl="0" algn="ctr">
                        <a:buNone/>
                      </a:pP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8489102"/>
                  </a:ext>
                </a:extLst>
              </a:tr>
            </a:tbl>
          </a:graphicData>
        </a:graphic>
      </p:graphicFrame>
      <p:pic>
        <p:nvPicPr>
          <p:cNvPr id="9" name="Picture 8" descr="A logo of a planet&#10;&#10;AI-generated content may be incorrect.">
            <a:extLst>
              <a:ext uri="{FF2B5EF4-FFF2-40B4-BE49-F238E27FC236}">
                <a16:creationId xmlns:a16="http://schemas.microsoft.com/office/drawing/2014/main" id="{88AC2A4C-1C52-A648-BF43-EBF1F69059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0540" y="196315"/>
            <a:ext cx="1293894" cy="1288609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3D52CF4-166D-5969-4292-CD482F679CF1}"/>
              </a:ext>
            </a:extLst>
          </p:cNvPr>
          <p:cNvCxnSpPr/>
          <p:nvPr/>
        </p:nvCxnSpPr>
        <p:spPr>
          <a:xfrm flipV="1">
            <a:off x="526142" y="1094617"/>
            <a:ext cx="9748761" cy="30239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6CB1CA7B-0ABB-FE3A-A730-13EDEF268DB7}"/>
              </a:ext>
            </a:extLst>
          </p:cNvPr>
          <p:cNvCxnSpPr>
            <a:cxnSpLocks/>
          </p:cNvCxnSpPr>
          <p:nvPr/>
        </p:nvCxnSpPr>
        <p:spPr>
          <a:xfrm>
            <a:off x="526141" y="6362093"/>
            <a:ext cx="11151808" cy="18141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06B15C-DD99-386F-8EB9-CEE1AEFF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20</a:t>
            </a:fld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092C1BA-4FFF-2662-0694-D0CC099274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0312356"/>
              </p:ext>
            </p:extLst>
          </p:nvPr>
        </p:nvGraphicFramePr>
        <p:xfrm>
          <a:off x="8816932" y="1933974"/>
          <a:ext cx="2960542" cy="3355380"/>
        </p:xfrm>
        <a:graphic>
          <a:graphicData uri="http://schemas.openxmlformats.org/drawingml/2006/table">
            <a:tbl>
              <a:tblPr/>
              <a:tblGrid>
                <a:gridCol w="377941">
                  <a:extLst>
                    <a:ext uri="{9D8B030D-6E8A-4147-A177-3AD203B41FA5}">
                      <a16:colId xmlns:a16="http://schemas.microsoft.com/office/drawing/2014/main" val="1978657172"/>
                    </a:ext>
                  </a:extLst>
                </a:gridCol>
                <a:gridCol w="377941">
                  <a:extLst>
                    <a:ext uri="{9D8B030D-6E8A-4147-A177-3AD203B41FA5}">
                      <a16:colId xmlns:a16="http://schemas.microsoft.com/office/drawing/2014/main" val="1617462491"/>
                    </a:ext>
                  </a:extLst>
                </a:gridCol>
                <a:gridCol w="440932">
                  <a:extLst>
                    <a:ext uri="{9D8B030D-6E8A-4147-A177-3AD203B41FA5}">
                      <a16:colId xmlns:a16="http://schemas.microsoft.com/office/drawing/2014/main" val="3708921764"/>
                    </a:ext>
                  </a:extLst>
                </a:gridCol>
                <a:gridCol w="440932">
                  <a:extLst>
                    <a:ext uri="{9D8B030D-6E8A-4147-A177-3AD203B41FA5}">
                      <a16:colId xmlns:a16="http://schemas.microsoft.com/office/drawing/2014/main" val="404409628"/>
                    </a:ext>
                  </a:extLst>
                </a:gridCol>
                <a:gridCol w="440932">
                  <a:extLst>
                    <a:ext uri="{9D8B030D-6E8A-4147-A177-3AD203B41FA5}">
                      <a16:colId xmlns:a16="http://schemas.microsoft.com/office/drawing/2014/main" val="2246665092"/>
                    </a:ext>
                  </a:extLst>
                </a:gridCol>
                <a:gridCol w="440932">
                  <a:extLst>
                    <a:ext uri="{9D8B030D-6E8A-4147-A177-3AD203B41FA5}">
                      <a16:colId xmlns:a16="http://schemas.microsoft.com/office/drawing/2014/main" val="3912443700"/>
                    </a:ext>
                  </a:extLst>
                </a:gridCol>
                <a:gridCol w="440932">
                  <a:extLst>
                    <a:ext uri="{9D8B030D-6E8A-4147-A177-3AD203B41FA5}">
                      <a16:colId xmlns:a16="http://schemas.microsoft.com/office/drawing/2014/main" val="3217327975"/>
                    </a:ext>
                  </a:extLst>
                </a:gridCol>
              </a:tblGrid>
              <a:tr h="470348">
                <a:tc rowSpan="5"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LIKELIHOOD</a:t>
                      </a:r>
                    </a:p>
                  </a:txBody>
                  <a:tcPr marL="6350" marR="6350" marT="6350" vert="vert27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D6EE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2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0752489"/>
                  </a:ext>
                </a:extLst>
              </a:tr>
              <a:tr h="470348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2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2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22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3133591"/>
                  </a:ext>
                </a:extLst>
              </a:tr>
              <a:tr h="544259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2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2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2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22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6146828"/>
                  </a:ext>
                </a:extLst>
              </a:tr>
              <a:tr h="47706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2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22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2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</a:t>
                      </a: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2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2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6447491"/>
                  </a:ext>
                </a:extLst>
              </a:tr>
              <a:tr h="557698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2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22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2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22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9306096"/>
                  </a:ext>
                </a:extLst>
              </a:tr>
              <a:tr h="380184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2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2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6350" marR="6350" marT="635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2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6350" marR="6350" marT="635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2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6350" marR="6350" marT="635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2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6350" marR="6350" marT="635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1085256"/>
                  </a:ext>
                </a:extLst>
              </a:tr>
              <a:tr h="380184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gridSpan="5"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SEVERITY</a:t>
                      </a: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D6E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7014013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B36705E2-5BA0-A397-45B4-60EE875B01B0}"/>
              </a:ext>
            </a:extLst>
          </p:cNvPr>
          <p:cNvSpPr txBox="1"/>
          <p:nvPr/>
        </p:nvSpPr>
        <p:spPr>
          <a:xfrm>
            <a:off x="3190350" y="6440249"/>
            <a:ext cx="581129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 dirty="0">
                <a:solidFill>
                  <a:schemeClr val="bg1">
                    <a:lumMod val="49000"/>
                  </a:schemeClr>
                </a:solidFill>
                <a:latin typeface="Bierstadt"/>
              </a:rPr>
              <a:t>Noah Touchton – </a:t>
            </a:r>
            <a:r>
              <a:rPr lang="en-US" b="1" dirty="0" err="1">
                <a:solidFill>
                  <a:schemeClr val="bg1">
                    <a:lumMod val="49000"/>
                  </a:schemeClr>
                </a:solidFill>
                <a:latin typeface="Bierstadt"/>
              </a:rPr>
              <a:t>ntouchton@ufl.edu</a:t>
            </a:r>
            <a:endParaRPr lang="en-US" dirty="0">
              <a:solidFill>
                <a:schemeClr val="bg1">
                  <a:lumMod val="49000"/>
                </a:schemeClr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8C3D293-80EE-F84A-DCE7-7FC3B72A861B}"/>
              </a:ext>
            </a:extLst>
          </p:cNvPr>
          <p:cNvSpPr txBox="1"/>
          <p:nvPr/>
        </p:nvSpPr>
        <p:spPr>
          <a:xfrm>
            <a:off x="611347" y="6442164"/>
            <a:ext cx="413881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10/09/25</a:t>
            </a:r>
            <a:r>
              <a:rPr lang="en-US">
                <a:latin typeface="Bierstadt Bold"/>
              </a:rPr>
              <a:t> 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989F7E6-4CE4-92E0-522E-6491CD43F6C7}"/>
              </a:ext>
            </a:extLst>
          </p:cNvPr>
          <p:cNvSpPr txBox="1"/>
          <p:nvPr/>
        </p:nvSpPr>
        <p:spPr>
          <a:xfrm>
            <a:off x="9638323" y="644378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TANGO SDR​ - UF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27106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C772BC-84E9-EBB5-CFF6-FAEC59A6D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3E4D1F-BAEA-CF38-29CD-144500745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03497"/>
            <a:ext cx="10653578" cy="1132258"/>
          </a:xfrm>
        </p:spPr>
        <p:txBody>
          <a:bodyPr/>
          <a:lstStyle/>
          <a:p>
            <a:r>
              <a:rPr lang="en-US" dirty="0"/>
              <a:t>Road to PDR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650131-04BA-F23D-DAC4-10F58AF005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358186"/>
            <a:ext cx="11155680" cy="4843322"/>
          </a:xfrm>
        </p:spPr>
        <p:txBody>
          <a:bodyPr vert="horz" lIns="91440" tIns="45720" rIns="91440" bIns="45720" rtlCol="0" anchor="t">
            <a:normAutofit fontScale="85000" lnSpcReduction="20000"/>
          </a:bodyPr>
          <a:lstStyle/>
          <a:p>
            <a:r>
              <a:rPr lang="en-US" sz="1400" b="1" dirty="0"/>
              <a:t>Finalize Data Formatting Protocol</a:t>
            </a:r>
            <a:endParaRPr lang="en-US" sz="1400" dirty="0"/>
          </a:p>
          <a:p>
            <a:r>
              <a:rPr lang="en-US" sz="1400" dirty="0"/>
              <a:t>Define exact frame structure (headers, payload, checksum).</a:t>
            </a:r>
          </a:p>
          <a:p>
            <a:r>
              <a:rPr lang="en-US" sz="1400" dirty="0"/>
              <a:t>Ensure compatibility with ground station decoding.</a:t>
            </a:r>
          </a:p>
          <a:p>
            <a:r>
              <a:rPr lang="en-US" sz="1400" b="1" dirty="0"/>
              <a:t>Implement Command Authentication Scheme</a:t>
            </a:r>
            <a:endParaRPr lang="en-US" sz="1400" dirty="0"/>
          </a:p>
          <a:p>
            <a:r>
              <a:rPr lang="en-US" sz="1400" dirty="0"/>
              <a:t>Select encryption/authentication method (e.g., key-based).</a:t>
            </a:r>
          </a:p>
          <a:p>
            <a:r>
              <a:rPr lang="en-US" sz="1400" dirty="0"/>
              <a:t>Verify uplink commands cannot be spoofed.</a:t>
            </a:r>
          </a:p>
          <a:p>
            <a:r>
              <a:rPr lang="en-US" sz="1400" b="1" dirty="0"/>
              <a:t>Define ACK/NACK Confirmation Protocol</a:t>
            </a:r>
            <a:endParaRPr lang="en-US" sz="1400" dirty="0"/>
          </a:p>
          <a:p>
            <a:r>
              <a:rPr lang="en-US" sz="1400" dirty="0"/>
              <a:t>Establish positive acknowledgment logic.</a:t>
            </a:r>
          </a:p>
          <a:p>
            <a:r>
              <a:rPr lang="en-US" sz="1400" dirty="0"/>
              <a:t>Test retransmission process if data not received.</a:t>
            </a:r>
          </a:p>
          <a:p>
            <a:r>
              <a:rPr lang="en-US" sz="1400" b="1" dirty="0"/>
              <a:t>Sequential Data Ordering</a:t>
            </a:r>
            <a:endParaRPr lang="en-US" sz="1400" dirty="0"/>
          </a:p>
          <a:p>
            <a:r>
              <a:rPr lang="en-US" sz="1400" dirty="0"/>
              <a:t>Add frame counters or time tags to downlink packets.</a:t>
            </a:r>
          </a:p>
          <a:p>
            <a:r>
              <a:rPr lang="en-US" sz="1400" dirty="0"/>
              <a:t>Prevent data loss or duplication during long passes.</a:t>
            </a:r>
          </a:p>
          <a:p>
            <a:r>
              <a:rPr lang="en-US" sz="1400" b="1" dirty="0"/>
              <a:t>Link Budget Refinement</a:t>
            </a:r>
            <a:endParaRPr lang="en-US" sz="1400" dirty="0"/>
          </a:p>
          <a:p>
            <a:r>
              <a:rPr lang="en-US" sz="1400" dirty="0"/>
              <a:t>Double-check pass durations vs data rate margin.</a:t>
            </a:r>
          </a:p>
          <a:p>
            <a:r>
              <a:rPr lang="en-US" sz="1400" dirty="0"/>
              <a:t>Confirm that daily 288 MB is feasible under worst-case contact.</a:t>
            </a:r>
          </a:p>
        </p:txBody>
      </p:sp>
      <p:pic>
        <p:nvPicPr>
          <p:cNvPr id="9" name="Picture 8" descr="A logo of a planet&#10;&#10;AI-generated content may be incorrect.">
            <a:extLst>
              <a:ext uri="{FF2B5EF4-FFF2-40B4-BE49-F238E27FC236}">
                <a16:creationId xmlns:a16="http://schemas.microsoft.com/office/drawing/2014/main" id="{12437855-D8BB-8CA2-118F-50398E7C66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0540" y="196315"/>
            <a:ext cx="1293894" cy="1288609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3EA018C-2585-F3D2-CA6D-B1C465F2B12B}"/>
              </a:ext>
            </a:extLst>
          </p:cNvPr>
          <p:cNvCxnSpPr/>
          <p:nvPr/>
        </p:nvCxnSpPr>
        <p:spPr>
          <a:xfrm flipV="1">
            <a:off x="526142" y="1094617"/>
            <a:ext cx="9748761" cy="30239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1DABC85-5EC5-E0BC-F942-0B8760B05367}"/>
              </a:ext>
            </a:extLst>
          </p:cNvPr>
          <p:cNvSpPr txBox="1"/>
          <p:nvPr/>
        </p:nvSpPr>
        <p:spPr>
          <a:xfrm>
            <a:off x="3190350" y="6440249"/>
            <a:ext cx="581129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 dirty="0">
                <a:solidFill>
                  <a:schemeClr val="bg1">
                    <a:lumMod val="49000"/>
                  </a:schemeClr>
                </a:solidFill>
                <a:latin typeface="Bierstadt"/>
              </a:rPr>
              <a:t>Noah Touchton – </a:t>
            </a:r>
            <a:r>
              <a:rPr lang="en-US" b="1" dirty="0" err="1">
                <a:solidFill>
                  <a:schemeClr val="bg1">
                    <a:lumMod val="49000"/>
                  </a:schemeClr>
                </a:solidFill>
                <a:latin typeface="Bierstadt"/>
              </a:rPr>
              <a:t>ntouchton@ufl.edu</a:t>
            </a:r>
            <a:endParaRPr lang="en-US" dirty="0">
              <a:solidFill>
                <a:schemeClr val="bg1">
                  <a:lumMod val="49000"/>
                </a:schemeClr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1F8FF67-E0DA-772B-B555-C42497B05CB2}"/>
              </a:ext>
            </a:extLst>
          </p:cNvPr>
          <p:cNvCxnSpPr>
            <a:cxnSpLocks/>
          </p:cNvCxnSpPr>
          <p:nvPr/>
        </p:nvCxnSpPr>
        <p:spPr>
          <a:xfrm>
            <a:off x="526141" y="6362093"/>
            <a:ext cx="11151808" cy="18141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C62DDB-DF64-D5A6-FD49-BCD3A9DA0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21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150B37-B237-4782-8BA9-ED813F89758C}"/>
              </a:ext>
            </a:extLst>
          </p:cNvPr>
          <p:cNvSpPr txBox="1"/>
          <p:nvPr/>
        </p:nvSpPr>
        <p:spPr>
          <a:xfrm>
            <a:off x="611347" y="6442164"/>
            <a:ext cx="413881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10/09/25</a:t>
            </a:r>
            <a:r>
              <a:rPr lang="en-US">
                <a:latin typeface="Bierstadt Bold"/>
              </a:rPr>
              <a:t> 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B417BA-B77F-09C6-CB9E-DA8AD17E0B9E}"/>
              </a:ext>
            </a:extLst>
          </p:cNvPr>
          <p:cNvSpPr txBox="1"/>
          <p:nvPr/>
        </p:nvSpPr>
        <p:spPr>
          <a:xfrm>
            <a:off x="9638323" y="644378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TANGO SDR​ - UF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47045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13C8CC-D154-6A78-A790-511A1F21E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Premium Photo | Globe view of Planet Earth from space Shows the earth's ...">
            <a:extLst>
              <a:ext uri="{FF2B5EF4-FFF2-40B4-BE49-F238E27FC236}">
                <a16:creationId xmlns:a16="http://schemas.microsoft.com/office/drawing/2014/main" id="{90712E7B-69DD-935B-895F-8B986912958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l="444"/>
          <a:stretch>
            <a:fillRect/>
          </a:stretch>
        </p:blipFill>
        <p:spPr>
          <a:xfrm>
            <a:off x="-2" y="-2"/>
            <a:ext cx="12192001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B115E81-1C70-5E52-F5BB-C507E998FA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93165" y="2454728"/>
            <a:ext cx="9014269" cy="975396"/>
          </a:xfrm>
        </p:spPr>
        <p:txBody>
          <a:bodyPr anchor="t">
            <a:normAutofit fontScale="90000"/>
          </a:bodyPr>
          <a:lstStyle/>
          <a:p>
            <a:r>
              <a:rPr lang="en-US" sz="6000" dirty="0">
                <a:solidFill>
                  <a:srgbClr val="FFFFFF"/>
                </a:solidFill>
                <a:latin typeface="Bierstadt"/>
              </a:rPr>
              <a:t>Backup Material (Communications)</a:t>
            </a:r>
            <a:br>
              <a:rPr lang="en-US" sz="6000" dirty="0">
                <a:latin typeface="Bierstadt"/>
              </a:rPr>
            </a:br>
            <a:endParaRPr lang="en-US" sz="6000" dirty="0">
              <a:latin typeface="Bierstadt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5CE2554-EFF6-A28A-7894-4F6D540923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47821" y="3433933"/>
            <a:ext cx="3300696" cy="1348716"/>
          </a:xfrm>
        </p:spPr>
        <p:txBody>
          <a:bodyPr anchor="t">
            <a:normAutofit/>
          </a:bodyPr>
          <a:lstStyle/>
          <a:p>
            <a:endParaRPr lang="en-US" sz="2800" dirty="0">
              <a:solidFill>
                <a:srgbClr val="FFFFFF"/>
              </a:solidFill>
              <a:latin typeface="Bierstadt"/>
            </a:endParaRPr>
          </a:p>
          <a:p>
            <a:r>
              <a:rPr lang="en-US" sz="2800" dirty="0">
                <a:solidFill>
                  <a:srgbClr val="FFFFFF"/>
                </a:solidFill>
                <a:latin typeface="Bierstadt"/>
              </a:rPr>
              <a:t>Noah Touchton</a:t>
            </a:r>
            <a:endParaRPr lang="en-US" sz="2800" i="0" dirty="0">
              <a:solidFill>
                <a:srgbClr val="FFFFFF"/>
              </a:solidFill>
              <a:latin typeface="Bierstadt"/>
            </a:endParaRPr>
          </a:p>
          <a:p>
            <a:endParaRPr lang="en-US" sz="2400" i="0" dirty="0">
              <a:solidFill>
                <a:srgbClr val="FFFFFF"/>
              </a:solidFill>
              <a:latin typeface="Bierstadt"/>
            </a:endParaRPr>
          </a:p>
        </p:txBody>
      </p:sp>
      <p:pic>
        <p:nvPicPr>
          <p:cNvPr id="6" name="Picture 5" descr="A logo of a planet&#10;&#10;AI-generated content may be incorrect.">
            <a:extLst>
              <a:ext uri="{FF2B5EF4-FFF2-40B4-BE49-F238E27FC236}">
                <a16:creationId xmlns:a16="http://schemas.microsoft.com/office/drawing/2014/main" id="{B74A32D9-65CF-5737-25DF-973D0D1025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7399" y="168402"/>
            <a:ext cx="1672568" cy="1582152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7A34AE9-6D0C-587D-8B90-E69FCB688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6453002"/>
            <a:ext cx="429207" cy="365125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C057153-B650-4DEB-B370-79DDCFDCE934}" type="slidenum"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Bierstadt 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 "/>
              <a:ea typeface="+mn-ea"/>
              <a:cs typeface="+mn-cs"/>
            </a:endParaRPr>
          </a:p>
        </p:txBody>
      </p:sp>
      <p:pic>
        <p:nvPicPr>
          <p:cNvPr id="4" name="Picture 3" descr="A black and white sign with white text&#10;&#10;AI-generated content may be incorrect.">
            <a:extLst>
              <a:ext uri="{FF2B5EF4-FFF2-40B4-BE49-F238E27FC236}">
                <a16:creationId xmlns:a16="http://schemas.microsoft.com/office/drawing/2014/main" id="{03EE19E7-C8DC-5CDA-E904-8DFF394E53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538" y="168822"/>
            <a:ext cx="4103077" cy="1000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90714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7297F-3314-41B3-6D93-45F61283C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7442E-F5A2-06C9-EA60-A4DE6FC007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03497"/>
            <a:ext cx="10653578" cy="1132258"/>
          </a:xfrm>
        </p:spPr>
        <p:txBody>
          <a:bodyPr/>
          <a:lstStyle/>
          <a:p>
            <a:r>
              <a:rPr lang="en-US" dirty="0"/>
              <a:t>OISR</a:t>
            </a:r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37CDBE2-3B7E-DC7F-887D-210D34F4595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97514936"/>
              </p:ext>
            </p:extLst>
          </p:nvPr>
        </p:nvGraphicFramePr>
        <p:xfrm>
          <a:off x="712787" y="1431163"/>
          <a:ext cx="10772775" cy="4598036"/>
        </p:xfrm>
        <a:graphic>
          <a:graphicData uri="http://schemas.openxmlformats.org/drawingml/2006/table">
            <a:tbl>
              <a:tblPr/>
              <a:tblGrid>
                <a:gridCol w="1190625">
                  <a:extLst>
                    <a:ext uri="{9D8B030D-6E8A-4147-A177-3AD203B41FA5}">
                      <a16:colId xmlns:a16="http://schemas.microsoft.com/office/drawing/2014/main" val="3246881158"/>
                    </a:ext>
                  </a:extLst>
                </a:gridCol>
                <a:gridCol w="4010025">
                  <a:extLst>
                    <a:ext uri="{9D8B030D-6E8A-4147-A177-3AD203B41FA5}">
                      <a16:colId xmlns:a16="http://schemas.microsoft.com/office/drawing/2014/main" val="1231827305"/>
                    </a:ext>
                  </a:extLst>
                </a:gridCol>
                <a:gridCol w="1331425">
                  <a:extLst>
                    <a:ext uri="{9D8B030D-6E8A-4147-A177-3AD203B41FA5}">
                      <a16:colId xmlns:a16="http://schemas.microsoft.com/office/drawing/2014/main" val="3241455933"/>
                    </a:ext>
                  </a:extLst>
                </a:gridCol>
                <a:gridCol w="1545125">
                  <a:extLst>
                    <a:ext uri="{9D8B030D-6E8A-4147-A177-3AD203B41FA5}">
                      <a16:colId xmlns:a16="http://schemas.microsoft.com/office/drawing/2014/main" val="2414369947"/>
                    </a:ext>
                  </a:extLst>
                </a:gridCol>
                <a:gridCol w="1819275">
                  <a:extLst>
                    <a:ext uri="{9D8B030D-6E8A-4147-A177-3AD203B41FA5}">
                      <a16:colId xmlns:a16="http://schemas.microsoft.com/office/drawing/2014/main" val="1138229898"/>
                    </a:ext>
                  </a:extLst>
                </a:gridCol>
                <a:gridCol w="876300">
                  <a:extLst>
                    <a:ext uri="{9D8B030D-6E8A-4147-A177-3AD203B41FA5}">
                      <a16:colId xmlns:a16="http://schemas.microsoft.com/office/drawing/2014/main" val="851788351"/>
                    </a:ext>
                  </a:extLst>
                </a:gridCol>
              </a:tblGrid>
              <a:tr h="361950"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FFFFFF"/>
                          </a:solidFill>
                          <a:effectLst/>
                          <a:latin typeface="Bierstadt" panose="020B0004020202020204" pitchFamily="34" charset="0"/>
                        </a:rPr>
                        <a:t>Tracking ID​</a:t>
                      </a:r>
                      <a:endParaRPr lang="en-US" b="1" i="0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 anchor="ctr">
                    <a:lnL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643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FFFFFF"/>
                          </a:solidFill>
                          <a:effectLst/>
                          <a:latin typeface="Bierstadt" panose="020B0004020202020204" pitchFamily="34" charset="0"/>
                        </a:rPr>
                        <a:t>Description​</a:t>
                      </a:r>
                      <a:endParaRPr lang="en-US" b="1" i="0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 anchor="ctr">
                    <a:lnL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643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FFFFFF"/>
                          </a:solidFill>
                          <a:effectLst/>
                          <a:latin typeface="Bierstadt" panose="020B0004020202020204" pitchFamily="34" charset="0"/>
                        </a:rPr>
                        <a:t>Opened​</a:t>
                      </a:r>
                      <a:endParaRPr lang="en-US" b="1" i="0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 anchor="ctr">
                    <a:lnL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643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FFFFFF"/>
                          </a:solidFill>
                          <a:effectLst/>
                          <a:latin typeface="Bierstadt" panose="020B0004020202020204" pitchFamily="34" charset="0"/>
                        </a:rPr>
                        <a:t>Original ECD​</a:t>
                      </a:r>
                      <a:endParaRPr lang="en-US" b="1" i="0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 anchor="ctr">
                    <a:lnL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643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FFFFFF"/>
                          </a:solidFill>
                          <a:effectLst/>
                          <a:latin typeface="Bierstadt" panose="020B0004020202020204" pitchFamily="34" charset="0"/>
                        </a:rPr>
                        <a:t>Revised ECD​</a:t>
                      </a:r>
                      <a:endParaRPr lang="en-US" b="1" i="0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 anchor="ctr">
                    <a:lnL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643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FFFFFF"/>
                          </a:solidFill>
                          <a:effectLst/>
                          <a:latin typeface="Bierstadt" panose="020B0004020202020204" pitchFamily="34" charset="0"/>
                        </a:rPr>
                        <a:t>Trend​</a:t>
                      </a:r>
                      <a:endParaRPr lang="en-US" b="1" i="0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 anchor="ctr">
                    <a:lnL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643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5848483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COM-1​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643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Component trade studies​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643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15-Sep​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643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21-Sep​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643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1-Oct​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643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l-GR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↑​</a:t>
                      </a:r>
                      <a:endParaRPr lang="el-GR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643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BBB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6185943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COM-2​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Define data formatting / ACK / authentication scheme</a:t>
                      </a:r>
                    </a:p>
                  </a:txBody>
                  <a:tcPr anchor="ctr">
                    <a:lnL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20-Sep​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03-Oct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10-Oct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l-GR" sz="1800" b="1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−</a:t>
                      </a:r>
                      <a:r>
                        <a:rPr lang="el-GR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l-GR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8762321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algn="ctr" fontAlgn="auto">
                        <a:lnSpc>
                          <a:spcPts val="2175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​COM-3</a:t>
                      </a:r>
                    </a:p>
                  </a:txBody>
                  <a:tcPr anchor="ctr">
                    <a:lnL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Ground Station Budget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27-Sep​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29-Sep​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NA​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l-GR" sz="1800" b="1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−</a:t>
                      </a:r>
                      <a:r>
                        <a:rPr lang="el-GR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l-GR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9605756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COM-5​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ts val="21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Select ground station(s) and estimate daily access time</a:t>
                      </a: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24-Sep​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30-Sep​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NA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ts val="21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l-GR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↑​</a:t>
                      </a:r>
                      <a:endParaRPr lang="el-GR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5790093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COM-6​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Confirm intersatellite link performance in Sub-GHz ISM</a:t>
                      </a:r>
                    </a:p>
                  </a:txBody>
                  <a:tcPr anchor="ctr">
                    <a:lnL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29-Sep​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1-Oct​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10-Oct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↓</a:t>
                      </a:r>
                      <a:endParaRPr lang="el-GR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3851745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COM-7​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Complete component placement CAD integration (patch orientation, whip routing)</a:t>
                      </a:r>
                    </a:p>
                  </a:txBody>
                  <a:tcPr anchor="ctr">
                    <a:lnL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28-Sep​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7-Oct​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NA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l-GR" sz="1800" b="1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−</a:t>
                      </a:r>
                      <a:r>
                        <a:rPr lang="el-GR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l-GR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6993158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COM-8​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Global attitude controller BD​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29-Sep​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30-Sep​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15-Oct​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l-GR" sz="1800" b="1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−</a:t>
                      </a:r>
                      <a:r>
                        <a:rPr lang="el-GR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l-GR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1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1812582"/>
                  </a:ext>
                </a:extLst>
              </a:tr>
            </a:tbl>
          </a:graphicData>
        </a:graphic>
      </p:graphicFrame>
      <p:pic>
        <p:nvPicPr>
          <p:cNvPr id="9" name="Picture 8" descr="A logo of a planet&#10;&#10;AI-generated content may be incorrect.">
            <a:extLst>
              <a:ext uri="{FF2B5EF4-FFF2-40B4-BE49-F238E27FC236}">
                <a16:creationId xmlns:a16="http://schemas.microsoft.com/office/drawing/2014/main" id="{0BE08707-6F3E-E9FA-B07C-097DA49804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0540" y="196315"/>
            <a:ext cx="1293894" cy="1288609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96842F7-4154-E5E1-9708-99FD216CA8F7}"/>
              </a:ext>
            </a:extLst>
          </p:cNvPr>
          <p:cNvCxnSpPr/>
          <p:nvPr/>
        </p:nvCxnSpPr>
        <p:spPr>
          <a:xfrm flipV="1">
            <a:off x="526142" y="1094617"/>
            <a:ext cx="9748761" cy="30239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E1DD4B0-DB38-CB11-BB18-BC7AF03368AE}"/>
              </a:ext>
            </a:extLst>
          </p:cNvPr>
          <p:cNvSpPr txBox="1"/>
          <p:nvPr/>
        </p:nvSpPr>
        <p:spPr>
          <a:xfrm>
            <a:off x="3190350" y="6440249"/>
            <a:ext cx="581129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 dirty="0">
                <a:solidFill>
                  <a:schemeClr val="bg1">
                    <a:lumMod val="49000"/>
                  </a:schemeClr>
                </a:solidFill>
                <a:latin typeface="Bierstadt"/>
              </a:rPr>
              <a:t>Noah Touchton – </a:t>
            </a:r>
            <a:r>
              <a:rPr lang="en-US" b="1" dirty="0" err="1">
                <a:solidFill>
                  <a:schemeClr val="bg1">
                    <a:lumMod val="49000"/>
                  </a:schemeClr>
                </a:solidFill>
                <a:latin typeface="Bierstadt"/>
              </a:rPr>
              <a:t>ntouchton@ufl.edu</a:t>
            </a:r>
            <a:endParaRPr lang="en-US" dirty="0">
              <a:solidFill>
                <a:schemeClr val="bg1">
                  <a:lumMod val="49000"/>
                </a:schemeClr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65BEAE26-6C81-ACD2-AB93-AE97DBDB1C5F}"/>
              </a:ext>
            </a:extLst>
          </p:cNvPr>
          <p:cNvCxnSpPr>
            <a:cxnSpLocks/>
          </p:cNvCxnSpPr>
          <p:nvPr/>
        </p:nvCxnSpPr>
        <p:spPr>
          <a:xfrm>
            <a:off x="526141" y="6362093"/>
            <a:ext cx="11151808" cy="18141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C9710A-A040-E5D0-B984-F9F71BCC9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23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5647D2-15B0-F59F-86D1-A7312DF68DC0}"/>
              </a:ext>
            </a:extLst>
          </p:cNvPr>
          <p:cNvSpPr txBox="1"/>
          <p:nvPr/>
        </p:nvSpPr>
        <p:spPr>
          <a:xfrm>
            <a:off x="611347" y="6442164"/>
            <a:ext cx="413881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10/09/25</a:t>
            </a:r>
            <a:r>
              <a:rPr lang="en-US">
                <a:latin typeface="Bierstadt Bold"/>
              </a:rPr>
              <a:t> 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159365C-B3C7-8BC5-D179-EACF0C6F5C31}"/>
              </a:ext>
            </a:extLst>
          </p:cNvPr>
          <p:cNvSpPr txBox="1"/>
          <p:nvPr/>
        </p:nvSpPr>
        <p:spPr>
          <a:xfrm>
            <a:off x="9638323" y="644378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TANGO SDR​ - UF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  <p:sp>
        <p:nvSpPr>
          <p:cNvPr id="13" name="Rectangle 1">
            <a:extLst>
              <a:ext uri="{FF2B5EF4-FFF2-40B4-BE49-F238E27FC236}">
                <a16:creationId xmlns:a16="http://schemas.microsoft.com/office/drawing/2014/main" id="{91520DA1-3503-02E6-DDCF-3C1CC3351D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-webkit-standard"/>
              </a:rPr>
              <a:t> 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03722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C4083-A91B-FA4F-EA08-90A819B9E3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10805-C579-EFF8-7832-51D249ECFE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03497"/>
            <a:ext cx="10653578" cy="1132258"/>
          </a:xfrm>
        </p:spPr>
        <p:txBody>
          <a:bodyPr/>
          <a:lstStyle/>
          <a:p>
            <a:r>
              <a:rPr lang="en-US" dirty="0"/>
              <a:t>Microcontroller (STM32H723VET6)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8AD145-60B4-78E7-C518-AA1C6F1C47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358186"/>
            <a:ext cx="11155680" cy="411782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1400" b="1" dirty="0"/>
              <a:t>What it is:</a:t>
            </a:r>
            <a:r>
              <a:rPr lang="en-US" sz="1400" dirty="0"/>
              <a:t> Main onboard computer handling C&amp;DH. Interfaces with storage and all comms hardware.</a:t>
            </a:r>
          </a:p>
          <a:p>
            <a:r>
              <a:rPr lang="en-US" sz="1400" b="1" dirty="0"/>
              <a:t>Why chosen:</a:t>
            </a:r>
            <a:endParaRPr lang="en-US" sz="1400" dirty="0"/>
          </a:p>
          <a:p>
            <a:r>
              <a:rPr lang="en-US" sz="1400" dirty="0"/>
              <a:t>Low mass (&lt;20 g).</a:t>
            </a:r>
          </a:p>
          <a:p>
            <a:r>
              <a:rPr lang="en-US" sz="1400" dirty="0"/>
              <a:t>Low active power (~0.7 W).</a:t>
            </a:r>
          </a:p>
          <a:p>
            <a:r>
              <a:rPr lang="en-US" sz="1400" dirty="0"/>
              <a:t>Multiple UART/SPI/I²C buses → direct connections to transceivers and sensors.</a:t>
            </a:r>
          </a:p>
          <a:p>
            <a:r>
              <a:rPr lang="en-US" sz="1400" dirty="0"/>
              <a:t>Flight heritage in other CubeSat projects.</a:t>
            </a:r>
          </a:p>
          <a:p>
            <a:r>
              <a:rPr lang="en-US" sz="1400" b="1" dirty="0"/>
              <a:t>Alternatives considered:</a:t>
            </a:r>
            <a:r>
              <a:rPr lang="en-US" sz="1400" dirty="0"/>
              <a:t> Raspberry Pi Compute Module (too high power), </a:t>
            </a:r>
            <a:r>
              <a:rPr lang="en-US" sz="1400" dirty="0" err="1"/>
              <a:t>BeagleBone</a:t>
            </a:r>
            <a:r>
              <a:rPr lang="en-US" sz="1400" dirty="0"/>
              <a:t> Black (larger mass/power).</a:t>
            </a:r>
          </a:p>
          <a:p>
            <a:r>
              <a:rPr lang="en-US" sz="1400" b="1" dirty="0"/>
              <a:t>Tie to requirements:</a:t>
            </a:r>
            <a:r>
              <a:rPr lang="en-US" sz="1400" dirty="0"/>
              <a:t> Enables buffering, formatting, encryption, and ACK/NACK logic (derived requirements COM-GTRS-13 through 16).</a:t>
            </a:r>
          </a:p>
        </p:txBody>
      </p:sp>
      <p:pic>
        <p:nvPicPr>
          <p:cNvPr id="9" name="Picture 8" descr="A logo of a planet&#10;&#10;AI-generated content may be incorrect.">
            <a:extLst>
              <a:ext uri="{FF2B5EF4-FFF2-40B4-BE49-F238E27FC236}">
                <a16:creationId xmlns:a16="http://schemas.microsoft.com/office/drawing/2014/main" id="{4DE80E24-F608-F36C-8AA5-DA4BA7DC2D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0540" y="196315"/>
            <a:ext cx="1293894" cy="1288609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843E963-FFE1-6514-2D92-6B83D6CC09FC}"/>
              </a:ext>
            </a:extLst>
          </p:cNvPr>
          <p:cNvCxnSpPr/>
          <p:nvPr/>
        </p:nvCxnSpPr>
        <p:spPr>
          <a:xfrm flipV="1">
            <a:off x="526142" y="1094617"/>
            <a:ext cx="9748761" cy="30239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B4BAA31-B77C-2F2D-229D-5FB07529E2C2}"/>
              </a:ext>
            </a:extLst>
          </p:cNvPr>
          <p:cNvSpPr txBox="1"/>
          <p:nvPr/>
        </p:nvSpPr>
        <p:spPr>
          <a:xfrm>
            <a:off x="3190350" y="6440249"/>
            <a:ext cx="581129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 dirty="0">
                <a:solidFill>
                  <a:schemeClr val="bg1">
                    <a:lumMod val="49000"/>
                  </a:schemeClr>
                </a:solidFill>
                <a:latin typeface="Bierstadt"/>
              </a:rPr>
              <a:t>Noah Touchton – </a:t>
            </a:r>
            <a:r>
              <a:rPr lang="en-US" b="1" dirty="0" err="1">
                <a:solidFill>
                  <a:schemeClr val="bg1">
                    <a:lumMod val="49000"/>
                  </a:schemeClr>
                </a:solidFill>
                <a:latin typeface="Bierstadt"/>
              </a:rPr>
              <a:t>ntouchton@ufl.edu</a:t>
            </a:r>
            <a:endParaRPr lang="en-US" dirty="0">
              <a:solidFill>
                <a:schemeClr val="bg1">
                  <a:lumMod val="49000"/>
                </a:schemeClr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0C70B502-F61A-0558-EFB6-832F05468C79}"/>
              </a:ext>
            </a:extLst>
          </p:cNvPr>
          <p:cNvCxnSpPr>
            <a:cxnSpLocks/>
          </p:cNvCxnSpPr>
          <p:nvPr/>
        </p:nvCxnSpPr>
        <p:spPr>
          <a:xfrm>
            <a:off x="526141" y="6362093"/>
            <a:ext cx="11151808" cy="18141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1435D1-2C74-BC91-B7E6-A0AF318BF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24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B49AA8B-5B12-5120-541D-F3A96EF60D94}"/>
              </a:ext>
            </a:extLst>
          </p:cNvPr>
          <p:cNvSpPr txBox="1"/>
          <p:nvPr/>
        </p:nvSpPr>
        <p:spPr>
          <a:xfrm>
            <a:off x="611347" y="6442164"/>
            <a:ext cx="413881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10/09/25</a:t>
            </a:r>
            <a:r>
              <a:rPr lang="en-US">
                <a:latin typeface="Bierstadt Bold"/>
              </a:rPr>
              <a:t> 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DCDC06-D5DD-885D-9A63-AC552F21F604}"/>
              </a:ext>
            </a:extLst>
          </p:cNvPr>
          <p:cNvSpPr txBox="1"/>
          <p:nvPr/>
        </p:nvSpPr>
        <p:spPr>
          <a:xfrm>
            <a:off x="9638323" y="644378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TANGO SDR​ - UF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167431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1B39A-21F8-2AAF-59E1-68928EE4F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09FEB-7E60-9543-AB21-63808DDB68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03497"/>
            <a:ext cx="10653578" cy="1132258"/>
          </a:xfrm>
        </p:spPr>
        <p:txBody>
          <a:bodyPr/>
          <a:lstStyle/>
          <a:p>
            <a:r>
              <a:rPr lang="en-US" dirty="0"/>
              <a:t>Data Storage (64 GB eMMC SDINBDG4)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A217-70C1-BDCA-4D23-C5510A49CB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358186"/>
            <a:ext cx="11155680" cy="411782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1400" b="1" dirty="0"/>
              <a:t>What it is:</a:t>
            </a:r>
            <a:r>
              <a:rPr lang="en-US" sz="1400" dirty="0"/>
              <a:t> Non-volatile storage for payload and housekeeping data.</a:t>
            </a:r>
          </a:p>
          <a:p>
            <a:r>
              <a:rPr lang="en-US" sz="1400" b="1" dirty="0"/>
              <a:t>Why chosen:</a:t>
            </a:r>
            <a:endParaRPr lang="en-US" sz="1400" dirty="0"/>
          </a:p>
          <a:p>
            <a:r>
              <a:rPr lang="en-US" sz="1400" dirty="0"/>
              <a:t>Capacity: 64 GB &gt;&gt; 2 GB minimum (7-day buffer).</a:t>
            </a:r>
          </a:p>
          <a:p>
            <a:r>
              <a:rPr lang="en-US" sz="1400" dirty="0"/>
              <a:t>Compact, light (~1 g).</a:t>
            </a:r>
          </a:p>
          <a:p>
            <a:r>
              <a:rPr lang="en-US" sz="1400" dirty="0"/>
              <a:t>Solid-state, no moving parts.</a:t>
            </a:r>
          </a:p>
          <a:p>
            <a:r>
              <a:rPr lang="en-US" sz="1400" b="1" dirty="0"/>
              <a:t>Alternatives considered:</a:t>
            </a:r>
            <a:r>
              <a:rPr lang="en-US" sz="1400" dirty="0"/>
              <a:t> microSD cards (less robust, lower lifetime).</a:t>
            </a:r>
          </a:p>
          <a:p>
            <a:r>
              <a:rPr lang="en-US" sz="1400" b="1" dirty="0"/>
              <a:t>Tie to requirements:</a:t>
            </a:r>
            <a:r>
              <a:rPr lang="en-US" sz="1400" dirty="0"/>
              <a:t> COM-GTRS-02 (Data Buffering), COM-GTRS-12 (Data Prioritization).</a:t>
            </a:r>
          </a:p>
        </p:txBody>
      </p:sp>
      <p:pic>
        <p:nvPicPr>
          <p:cNvPr id="9" name="Picture 8" descr="A logo of a planet&#10;&#10;AI-generated content may be incorrect.">
            <a:extLst>
              <a:ext uri="{FF2B5EF4-FFF2-40B4-BE49-F238E27FC236}">
                <a16:creationId xmlns:a16="http://schemas.microsoft.com/office/drawing/2014/main" id="{DF3E0825-171D-C58B-BFD6-2B5715833A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0540" y="196315"/>
            <a:ext cx="1293894" cy="1288609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2A63AFB-1E38-D80D-5CC4-1E6581AA634B}"/>
              </a:ext>
            </a:extLst>
          </p:cNvPr>
          <p:cNvCxnSpPr/>
          <p:nvPr/>
        </p:nvCxnSpPr>
        <p:spPr>
          <a:xfrm flipV="1">
            <a:off x="526142" y="1094617"/>
            <a:ext cx="9748761" cy="30239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7A70887-AEE3-E9E8-1CF1-82881E123A67}"/>
              </a:ext>
            </a:extLst>
          </p:cNvPr>
          <p:cNvSpPr txBox="1"/>
          <p:nvPr/>
        </p:nvSpPr>
        <p:spPr>
          <a:xfrm>
            <a:off x="3190350" y="6440249"/>
            <a:ext cx="581129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 dirty="0">
                <a:solidFill>
                  <a:schemeClr val="bg1">
                    <a:lumMod val="49000"/>
                  </a:schemeClr>
                </a:solidFill>
                <a:latin typeface="Bierstadt"/>
              </a:rPr>
              <a:t>Noah Touchton – </a:t>
            </a:r>
            <a:r>
              <a:rPr lang="en-US" b="1" dirty="0" err="1">
                <a:solidFill>
                  <a:schemeClr val="bg1">
                    <a:lumMod val="49000"/>
                  </a:schemeClr>
                </a:solidFill>
                <a:latin typeface="Bierstadt"/>
              </a:rPr>
              <a:t>ntouchton@ufl.edu</a:t>
            </a:r>
            <a:endParaRPr lang="en-US" dirty="0">
              <a:solidFill>
                <a:schemeClr val="bg1">
                  <a:lumMod val="49000"/>
                </a:schemeClr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C377C92-FD88-95E2-20A9-19C6BFCAFE9B}"/>
              </a:ext>
            </a:extLst>
          </p:cNvPr>
          <p:cNvCxnSpPr>
            <a:cxnSpLocks/>
          </p:cNvCxnSpPr>
          <p:nvPr/>
        </p:nvCxnSpPr>
        <p:spPr>
          <a:xfrm>
            <a:off x="526141" y="6362093"/>
            <a:ext cx="11151808" cy="18141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645DA3-AEC3-01B3-193F-019A560F1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25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4DFC76-01F6-84E3-2EF1-8695103F79FE}"/>
              </a:ext>
            </a:extLst>
          </p:cNvPr>
          <p:cNvSpPr txBox="1"/>
          <p:nvPr/>
        </p:nvSpPr>
        <p:spPr>
          <a:xfrm>
            <a:off x="611347" y="6442164"/>
            <a:ext cx="413881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10/09/25</a:t>
            </a:r>
            <a:r>
              <a:rPr lang="en-US">
                <a:latin typeface="Bierstadt Bold"/>
              </a:rPr>
              <a:t> 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2E47BA-2638-61CE-9C3A-F29DA86C08F5}"/>
              </a:ext>
            </a:extLst>
          </p:cNvPr>
          <p:cNvSpPr txBox="1"/>
          <p:nvPr/>
        </p:nvSpPr>
        <p:spPr>
          <a:xfrm>
            <a:off x="9638323" y="644378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TANGO SDR​ - UF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7803083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24DAC-2832-7D13-8979-72EECCA5F1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4ACE84-59B1-8334-D4B3-CEF4C9C1E6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03497"/>
            <a:ext cx="10653578" cy="1132258"/>
          </a:xfrm>
        </p:spPr>
        <p:txBody>
          <a:bodyPr/>
          <a:lstStyle/>
          <a:p>
            <a:r>
              <a:rPr lang="en-US" dirty="0"/>
              <a:t>High-Rate Downlink (PULSAR-STX + ANTENNA)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9F606E-F00D-5C3E-568D-0ACDBA4463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358186"/>
            <a:ext cx="11155680" cy="4117823"/>
          </a:xfrm>
        </p:spPr>
        <p:txBody>
          <a:bodyPr vert="horz" lIns="91440" tIns="45720" rIns="91440" bIns="45720" rtlCol="0" anchor="t">
            <a:normAutofit fontScale="85000" lnSpcReduction="20000"/>
          </a:bodyPr>
          <a:lstStyle/>
          <a:p>
            <a:r>
              <a:rPr lang="en-US" sz="1400" b="1" dirty="0"/>
              <a:t>What it is:</a:t>
            </a:r>
            <a:r>
              <a:rPr lang="en-US" sz="1400" dirty="0"/>
              <a:t> Dedicated S-Band transmitter and nadir patch antenna for payload data return.</a:t>
            </a:r>
          </a:p>
          <a:p>
            <a:r>
              <a:rPr lang="en-US" sz="1400" b="1" dirty="0"/>
              <a:t>Why chosen:</a:t>
            </a:r>
            <a:endParaRPr lang="en-US" sz="1400" dirty="0"/>
          </a:p>
          <a:p>
            <a:r>
              <a:rPr lang="en-US" sz="1400" dirty="0"/>
              <a:t>PULSAR-STX: &lt;100 g, &lt;5 W, data rates up to ~1 Mbps.</a:t>
            </a:r>
          </a:p>
          <a:p>
            <a:r>
              <a:rPr lang="en-US" sz="1400" dirty="0"/>
              <a:t>ISIS patch: directional gain, no deployment risk, flight proven.– Bandwidth high enough for 288 MB/day.</a:t>
            </a:r>
          </a:p>
          <a:p>
            <a:r>
              <a:rPr lang="en-US" sz="1400" dirty="0"/>
              <a:t>CubeSat regulatory allocation (2.0–2.3 GHz).</a:t>
            </a:r>
          </a:p>
          <a:p>
            <a:r>
              <a:rPr lang="en-US" sz="1400" dirty="0"/>
              <a:t>Ground station infrastructure supports S-Band.</a:t>
            </a:r>
          </a:p>
          <a:p>
            <a:r>
              <a:rPr lang="en-US" sz="1400" dirty="0"/>
              <a:t>Balance between antenna size and achievable data rate.</a:t>
            </a:r>
          </a:p>
          <a:p>
            <a:r>
              <a:rPr lang="en-US" sz="1400" b="1" dirty="0"/>
              <a:t>Alternatives considered:</a:t>
            </a:r>
            <a:r>
              <a:rPr lang="en-US" sz="1400" dirty="0"/>
              <a:t> Helical antennas (too large), UHF/VHF TX (too slow for 288 MB/day).</a:t>
            </a:r>
          </a:p>
          <a:p>
            <a:r>
              <a:rPr lang="en-US" sz="1400" b="1" dirty="0"/>
              <a:t>Tie to requirements:</a:t>
            </a:r>
            <a:r>
              <a:rPr lang="en-US" sz="1400" dirty="0"/>
              <a:t> COM-GTRS-01, COM-GTRS-03, COM-GTRS-06.</a:t>
            </a:r>
          </a:p>
          <a:p>
            <a:r>
              <a:rPr lang="en-US" sz="1400" b="1" dirty="0"/>
              <a:t>Antenna Placement:</a:t>
            </a:r>
          </a:p>
          <a:p>
            <a:r>
              <a:rPr lang="en-US" sz="1400" dirty="0"/>
              <a:t>“Nadir-facing” means antenna points toward Earth at all times.</a:t>
            </a:r>
          </a:p>
          <a:p>
            <a:r>
              <a:rPr lang="en-US" sz="1400" dirty="0"/>
              <a:t>Patch is fixed to satellite surface aligned with nadir vector.</a:t>
            </a:r>
          </a:p>
          <a:p>
            <a:r>
              <a:rPr lang="en-US" sz="1400" dirty="0"/>
              <a:t>Ensures directional gain is always toward Earth, maximizing link margin.</a:t>
            </a:r>
            <a:endParaRPr lang="en-US" sz="1400" b="1" dirty="0"/>
          </a:p>
          <a:p>
            <a:endParaRPr lang="en-US" sz="1400" b="1" dirty="0"/>
          </a:p>
        </p:txBody>
      </p:sp>
      <p:pic>
        <p:nvPicPr>
          <p:cNvPr id="9" name="Picture 8" descr="A logo of a planet&#10;&#10;AI-generated content may be incorrect.">
            <a:extLst>
              <a:ext uri="{FF2B5EF4-FFF2-40B4-BE49-F238E27FC236}">
                <a16:creationId xmlns:a16="http://schemas.microsoft.com/office/drawing/2014/main" id="{4006A27E-AE03-6489-0399-FF39090A69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0540" y="196315"/>
            <a:ext cx="1293894" cy="1288609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2375E8F-1986-3E93-C9D0-558AFABE5757}"/>
              </a:ext>
            </a:extLst>
          </p:cNvPr>
          <p:cNvCxnSpPr/>
          <p:nvPr/>
        </p:nvCxnSpPr>
        <p:spPr>
          <a:xfrm flipV="1">
            <a:off x="526142" y="1094617"/>
            <a:ext cx="9748761" cy="30239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B968A7D-DF21-284B-3891-B2C710E6CCEB}"/>
              </a:ext>
            </a:extLst>
          </p:cNvPr>
          <p:cNvSpPr txBox="1"/>
          <p:nvPr/>
        </p:nvSpPr>
        <p:spPr>
          <a:xfrm>
            <a:off x="3190350" y="6440249"/>
            <a:ext cx="581129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 dirty="0">
                <a:solidFill>
                  <a:schemeClr val="bg1">
                    <a:lumMod val="49000"/>
                  </a:schemeClr>
                </a:solidFill>
                <a:latin typeface="Bierstadt"/>
              </a:rPr>
              <a:t>Noah Touchton – </a:t>
            </a:r>
            <a:r>
              <a:rPr lang="en-US" b="1" dirty="0" err="1">
                <a:solidFill>
                  <a:schemeClr val="bg1">
                    <a:lumMod val="49000"/>
                  </a:schemeClr>
                </a:solidFill>
                <a:latin typeface="Bierstadt"/>
              </a:rPr>
              <a:t>ntouchton@ufl.edu</a:t>
            </a:r>
            <a:endParaRPr lang="en-US" dirty="0">
              <a:solidFill>
                <a:schemeClr val="bg1">
                  <a:lumMod val="49000"/>
                </a:schemeClr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B414E24D-E090-41EB-FEAD-33E219122572}"/>
              </a:ext>
            </a:extLst>
          </p:cNvPr>
          <p:cNvCxnSpPr>
            <a:cxnSpLocks/>
          </p:cNvCxnSpPr>
          <p:nvPr/>
        </p:nvCxnSpPr>
        <p:spPr>
          <a:xfrm>
            <a:off x="526141" y="6362093"/>
            <a:ext cx="11151808" cy="18141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E0D67C-A345-775E-F474-5926CE102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26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BF8E413-C62A-4D6D-CA72-EB537004FF96}"/>
              </a:ext>
            </a:extLst>
          </p:cNvPr>
          <p:cNvSpPr txBox="1"/>
          <p:nvPr/>
        </p:nvSpPr>
        <p:spPr>
          <a:xfrm>
            <a:off x="611347" y="6442164"/>
            <a:ext cx="413881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10/09/25</a:t>
            </a:r>
            <a:r>
              <a:rPr lang="en-US">
                <a:latin typeface="Bierstadt Bold"/>
              </a:rPr>
              <a:t> 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AEE10A-3648-8CE6-D655-A2896B6E9B1F}"/>
              </a:ext>
            </a:extLst>
          </p:cNvPr>
          <p:cNvSpPr txBox="1"/>
          <p:nvPr/>
        </p:nvSpPr>
        <p:spPr>
          <a:xfrm>
            <a:off x="9638323" y="644378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TANGO SDR​ - UF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414875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777C1-7926-9711-6B75-1BFB49663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DF56B-882A-345E-3BBF-2AB4C2304E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03497"/>
            <a:ext cx="10653578" cy="1132258"/>
          </a:xfrm>
        </p:spPr>
        <p:txBody>
          <a:bodyPr/>
          <a:lstStyle/>
          <a:p>
            <a:r>
              <a:rPr lang="en-US" dirty="0"/>
              <a:t>Antenna Deployment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EA2C36-E671-AD47-2C9A-0D76524843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358186"/>
            <a:ext cx="11155680" cy="411782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1400" dirty="0"/>
              <a:t>Whips are “self-deploying”: stored under tension against satellite body, held by a burn-wire or mechanical release.</a:t>
            </a:r>
          </a:p>
          <a:p>
            <a:r>
              <a:rPr lang="en-US" sz="1400" dirty="0"/>
              <a:t>When triggered, whip springs into extended position.</a:t>
            </a:r>
          </a:p>
          <a:p>
            <a:r>
              <a:rPr lang="en-US" sz="1400" dirty="0"/>
              <a:t>Simple mechanism → lower risk than motorized or helical </a:t>
            </a:r>
            <a:r>
              <a:rPr lang="en-US" sz="1400" dirty="0" err="1"/>
              <a:t>deployables</a:t>
            </a:r>
            <a:r>
              <a:rPr lang="en-US" sz="1400" dirty="0"/>
              <a:t>.</a:t>
            </a:r>
          </a:p>
        </p:txBody>
      </p:sp>
      <p:pic>
        <p:nvPicPr>
          <p:cNvPr id="9" name="Picture 8" descr="A logo of a planet&#10;&#10;AI-generated content may be incorrect.">
            <a:extLst>
              <a:ext uri="{FF2B5EF4-FFF2-40B4-BE49-F238E27FC236}">
                <a16:creationId xmlns:a16="http://schemas.microsoft.com/office/drawing/2014/main" id="{9F161DFA-52D1-BB4B-39AF-4A42874E45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0540" y="196315"/>
            <a:ext cx="1293894" cy="1288609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948870B-C128-E515-0F4F-7F5C2BDF8308}"/>
              </a:ext>
            </a:extLst>
          </p:cNvPr>
          <p:cNvCxnSpPr/>
          <p:nvPr/>
        </p:nvCxnSpPr>
        <p:spPr>
          <a:xfrm flipV="1">
            <a:off x="526142" y="1094617"/>
            <a:ext cx="9748761" cy="30239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6C76C84-6D15-428F-6CE2-861FE7CA01E7}"/>
              </a:ext>
            </a:extLst>
          </p:cNvPr>
          <p:cNvSpPr txBox="1"/>
          <p:nvPr/>
        </p:nvSpPr>
        <p:spPr>
          <a:xfrm>
            <a:off x="3190350" y="6440249"/>
            <a:ext cx="581129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 dirty="0">
                <a:solidFill>
                  <a:schemeClr val="bg1">
                    <a:lumMod val="49000"/>
                  </a:schemeClr>
                </a:solidFill>
                <a:latin typeface="Bierstadt"/>
              </a:rPr>
              <a:t>Noah Touchton – </a:t>
            </a:r>
            <a:r>
              <a:rPr lang="en-US" b="1" dirty="0" err="1">
                <a:solidFill>
                  <a:schemeClr val="bg1">
                    <a:lumMod val="49000"/>
                  </a:schemeClr>
                </a:solidFill>
                <a:latin typeface="Bierstadt"/>
              </a:rPr>
              <a:t>ntouchton@ufl.edu</a:t>
            </a:r>
            <a:endParaRPr lang="en-US" dirty="0">
              <a:solidFill>
                <a:schemeClr val="bg1">
                  <a:lumMod val="49000"/>
                </a:schemeClr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654B891-451F-AEB6-16C9-7043D0283110}"/>
              </a:ext>
            </a:extLst>
          </p:cNvPr>
          <p:cNvCxnSpPr>
            <a:cxnSpLocks/>
          </p:cNvCxnSpPr>
          <p:nvPr/>
        </p:nvCxnSpPr>
        <p:spPr>
          <a:xfrm>
            <a:off x="526141" y="6362093"/>
            <a:ext cx="11151808" cy="18141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ECB157-B027-B079-4144-76F293E5E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27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962494-D10E-249F-9A9B-51B8F1FF962D}"/>
              </a:ext>
            </a:extLst>
          </p:cNvPr>
          <p:cNvSpPr txBox="1"/>
          <p:nvPr/>
        </p:nvSpPr>
        <p:spPr>
          <a:xfrm>
            <a:off x="611347" y="6442164"/>
            <a:ext cx="413881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10/09/25</a:t>
            </a:r>
            <a:r>
              <a:rPr lang="en-US">
                <a:latin typeface="Bierstadt Bold"/>
              </a:rPr>
              <a:t> 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2E40B8-ABE8-E966-3521-7B6F0C1F1D54}"/>
              </a:ext>
            </a:extLst>
          </p:cNvPr>
          <p:cNvSpPr txBox="1"/>
          <p:nvPr/>
        </p:nvSpPr>
        <p:spPr>
          <a:xfrm>
            <a:off x="9638323" y="644378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TANGO SDR​ - UF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66067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2599D-6694-DB52-7B32-AEA0030715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9523D-3316-14A8-D40E-3D077182B7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03497"/>
            <a:ext cx="10653578" cy="1132258"/>
          </a:xfrm>
        </p:spPr>
        <p:txBody>
          <a:bodyPr/>
          <a:lstStyle/>
          <a:p>
            <a:r>
              <a:rPr lang="en-US" dirty="0"/>
              <a:t>TT&amp;C Link (AX100 Transceiver)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4B47B0-E000-1B15-EB2F-5EB57E33F2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358186"/>
            <a:ext cx="11155680" cy="411782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1400" b="1" dirty="0"/>
              <a:t>What it is:</a:t>
            </a:r>
            <a:r>
              <a:rPr lang="en-US" sz="1400" dirty="0"/>
              <a:t> S-Band transceiver for telemetry &amp; command (low-rate but reliable).</a:t>
            </a:r>
          </a:p>
          <a:p>
            <a:r>
              <a:rPr lang="en-US" sz="1400" b="1" dirty="0"/>
              <a:t>Why chosen:</a:t>
            </a:r>
            <a:endParaRPr lang="en-US" sz="1400" dirty="0"/>
          </a:p>
          <a:p>
            <a:r>
              <a:rPr lang="en-US" sz="1400" dirty="0"/>
              <a:t>Mass: ~25 g, Power: 0.2 W RX, 2.6 W TX.</a:t>
            </a:r>
          </a:p>
          <a:p>
            <a:r>
              <a:rPr lang="en-US" sz="1400" dirty="0"/>
              <a:t>CubeSat heritage, stable supply chain.</a:t>
            </a:r>
          </a:p>
          <a:p>
            <a:r>
              <a:rPr lang="en-US" sz="1400" b="1" dirty="0"/>
              <a:t>Alternatives considered:</a:t>
            </a:r>
            <a:r>
              <a:rPr lang="en-US" sz="1400" dirty="0"/>
              <a:t> ISISPACE VHF/UHF radios (heritage but low data rate).</a:t>
            </a:r>
          </a:p>
          <a:p>
            <a:r>
              <a:rPr lang="en-US" sz="1400" b="1" dirty="0"/>
              <a:t>Tie to requirements:</a:t>
            </a:r>
            <a:r>
              <a:rPr lang="en-US" sz="1400" dirty="0"/>
              <a:t> ASD-GTRS-020, COM-GTRS-05 (≥9.6 kbps), COM-GTRS-09 (Redundancy).</a:t>
            </a:r>
          </a:p>
        </p:txBody>
      </p:sp>
      <p:pic>
        <p:nvPicPr>
          <p:cNvPr id="9" name="Picture 8" descr="A logo of a planet&#10;&#10;AI-generated content may be incorrect.">
            <a:extLst>
              <a:ext uri="{FF2B5EF4-FFF2-40B4-BE49-F238E27FC236}">
                <a16:creationId xmlns:a16="http://schemas.microsoft.com/office/drawing/2014/main" id="{A50B2A9D-4F49-5C09-4E81-AE516C8C90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0540" y="196315"/>
            <a:ext cx="1293894" cy="1288609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A118CB7-EFE2-CC68-85E4-5DCE653E2DAF}"/>
              </a:ext>
            </a:extLst>
          </p:cNvPr>
          <p:cNvCxnSpPr/>
          <p:nvPr/>
        </p:nvCxnSpPr>
        <p:spPr>
          <a:xfrm flipV="1">
            <a:off x="526142" y="1094617"/>
            <a:ext cx="9748761" cy="30239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4FFDD5D7-A094-8BDE-B124-8AA67763FEFE}"/>
              </a:ext>
            </a:extLst>
          </p:cNvPr>
          <p:cNvSpPr txBox="1"/>
          <p:nvPr/>
        </p:nvSpPr>
        <p:spPr>
          <a:xfrm>
            <a:off x="3190350" y="6440249"/>
            <a:ext cx="581129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 dirty="0">
                <a:solidFill>
                  <a:schemeClr val="bg1">
                    <a:lumMod val="49000"/>
                  </a:schemeClr>
                </a:solidFill>
                <a:latin typeface="Bierstadt"/>
              </a:rPr>
              <a:t>Noah Touchton – </a:t>
            </a:r>
            <a:r>
              <a:rPr lang="en-US" b="1" dirty="0" err="1">
                <a:solidFill>
                  <a:schemeClr val="bg1">
                    <a:lumMod val="49000"/>
                  </a:schemeClr>
                </a:solidFill>
                <a:latin typeface="Bierstadt"/>
              </a:rPr>
              <a:t>ntouchton@ufl.edu</a:t>
            </a:r>
            <a:endParaRPr lang="en-US" dirty="0">
              <a:solidFill>
                <a:schemeClr val="bg1">
                  <a:lumMod val="49000"/>
                </a:schemeClr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7E247E91-C8D8-9559-529D-71BB0DFB0F46}"/>
              </a:ext>
            </a:extLst>
          </p:cNvPr>
          <p:cNvCxnSpPr>
            <a:cxnSpLocks/>
          </p:cNvCxnSpPr>
          <p:nvPr/>
        </p:nvCxnSpPr>
        <p:spPr>
          <a:xfrm>
            <a:off x="526141" y="6362093"/>
            <a:ext cx="11151808" cy="18141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B12A15-7165-03D4-08FF-E1F6DC8A06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28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18D384-84BD-782C-3018-EE0645316433}"/>
              </a:ext>
            </a:extLst>
          </p:cNvPr>
          <p:cNvSpPr txBox="1"/>
          <p:nvPr/>
        </p:nvSpPr>
        <p:spPr>
          <a:xfrm>
            <a:off x="611347" y="6442164"/>
            <a:ext cx="413881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10/09/25</a:t>
            </a:r>
            <a:r>
              <a:rPr lang="en-US">
                <a:latin typeface="Bierstadt Bold"/>
              </a:rPr>
              <a:t> 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03CE9B-025F-6062-3BAE-7DF4FB7FBCE4}"/>
              </a:ext>
            </a:extLst>
          </p:cNvPr>
          <p:cNvSpPr txBox="1"/>
          <p:nvPr/>
        </p:nvSpPr>
        <p:spPr>
          <a:xfrm>
            <a:off x="9638323" y="644378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TANGO SDR​ - UF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0487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08464B-D4B6-2187-0F8B-E3E86C674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6176C-3577-E54F-AFE0-456EC2C164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03497"/>
            <a:ext cx="10653578" cy="1132258"/>
          </a:xfrm>
        </p:spPr>
        <p:txBody>
          <a:bodyPr>
            <a:normAutofit/>
          </a:bodyPr>
          <a:lstStyle/>
          <a:p>
            <a:r>
              <a:rPr lang="en-US" sz="3200" dirty="0"/>
              <a:t>Intersatellite Link (SX1262 + AAC ANT-100 Whips)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C31C48-BF47-426E-E747-6FF33122A6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358186"/>
            <a:ext cx="11155680" cy="4117823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US" sz="1400" b="1" dirty="0"/>
              <a:t>What it is:</a:t>
            </a:r>
            <a:r>
              <a:rPr lang="en-US" sz="1400" dirty="0"/>
              <a:t> Sub-GHz ISM transceivers and whip antennas for crosslink between tethered sats.</a:t>
            </a:r>
          </a:p>
          <a:p>
            <a:r>
              <a:rPr lang="en-US" sz="1400" b="1" dirty="0"/>
              <a:t>Why chosen:</a:t>
            </a:r>
            <a:endParaRPr lang="en-US" sz="1400" dirty="0"/>
          </a:p>
          <a:p>
            <a:r>
              <a:rPr lang="en-US" sz="1400" dirty="0"/>
              <a:t>Very low mass (~15 g per board, ~50 g per whip).</a:t>
            </a:r>
          </a:p>
          <a:p>
            <a:r>
              <a:rPr lang="en-US" sz="1400" dirty="0"/>
              <a:t>Low power (0.3 W TX, ~0.015 W RX).</a:t>
            </a:r>
          </a:p>
          <a:p>
            <a:r>
              <a:rPr lang="en-US" sz="1400" dirty="0"/>
              <a:t>Omnidirectional whips = simple, reliable.</a:t>
            </a:r>
          </a:p>
          <a:p>
            <a:r>
              <a:rPr lang="en-US" sz="1400" dirty="0"/>
              <a:t>Lower attenuation than 2.4 GHz inside tethered system geometry.</a:t>
            </a:r>
          </a:p>
          <a:p>
            <a:r>
              <a:rPr lang="en-US" sz="1400" dirty="0"/>
              <a:t>Omnidirectional performance with whips.</a:t>
            </a:r>
          </a:p>
          <a:p>
            <a:r>
              <a:rPr lang="en-US" sz="1400" dirty="0"/>
              <a:t> Very low power consumption.</a:t>
            </a:r>
          </a:p>
          <a:p>
            <a:r>
              <a:rPr lang="en-US" sz="1400" dirty="0"/>
              <a:t>No licensing required in ISM bands.</a:t>
            </a:r>
          </a:p>
          <a:p>
            <a:r>
              <a:rPr lang="en-US" sz="1400" b="1" dirty="0"/>
              <a:t>Alternatives considered:</a:t>
            </a:r>
            <a:r>
              <a:rPr lang="en-US" sz="1400" dirty="0"/>
              <a:t> Higher-gain ISM radios (unnecessary complexity, more power).</a:t>
            </a:r>
          </a:p>
          <a:p>
            <a:r>
              <a:rPr lang="en-US" sz="1400" b="1" dirty="0"/>
              <a:t>Tie to requirements:</a:t>
            </a:r>
            <a:r>
              <a:rPr lang="en-US" sz="1400" dirty="0"/>
              <a:t> COM-GTRS-04 (≥100 kbps crosslink), COM-GTRS-11 (Antenna Configuration).</a:t>
            </a:r>
          </a:p>
        </p:txBody>
      </p:sp>
      <p:pic>
        <p:nvPicPr>
          <p:cNvPr id="9" name="Picture 8" descr="A logo of a planet&#10;&#10;AI-generated content may be incorrect.">
            <a:extLst>
              <a:ext uri="{FF2B5EF4-FFF2-40B4-BE49-F238E27FC236}">
                <a16:creationId xmlns:a16="http://schemas.microsoft.com/office/drawing/2014/main" id="{0E51549B-4CEB-AE34-08A6-BD2F1B92F6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0540" y="196315"/>
            <a:ext cx="1293894" cy="1288609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EA7BA65-73B8-C29F-E3E3-AE06ECF5DBC1}"/>
              </a:ext>
            </a:extLst>
          </p:cNvPr>
          <p:cNvCxnSpPr/>
          <p:nvPr/>
        </p:nvCxnSpPr>
        <p:spPr>
          <a:xfrm flipV="1">
            <a:off x="526142" y="1094617"/>
            <a:ext cx="9748761" cy="30239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E0D7EE2-049E-856E-5D2D-27ED32FBB730}"/>
              </a:ext>
            </a:extLst>
          </p:cNvPr>
          <p:cNvSpPr txBox="1"/>
          <p:nvPr/>
        </p:nvSpPr>
        <p:spPr>
          <a:xfrm>
            <a:off x="3190350" y="6440249"/>
            <a:ext cx="581129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 dirty="0">
                <a:solidFill>
                  <a:schemeClr val="bg1">
                    <a:lumMod val="49000"/>
                  </a:schemeClr>
                </a:solidFill>
                <a:latin typeface="Bierstadt"/>
              </a:rPr>
              <a:t>Noah Touchton – </a:t>
            </a:r>
            <a:r>
              <a:rPr lang="en-US" b="1" dirty="0" err="1">
                <a:solidFill>
                  <a:schemeClr val="bg1">
                    <a:lumMod val="49000"/>
                  </a:schemeClr>
                </a:solidFill>
                <a:latin typeface="Bierstadt"/>
              </a:rPr>
              <a:t>ntouchton@ufl.edu</a:t>
            </a:r>
            <a:endParaRPr lang="en-US" dirty="0">
              <a:solidFill>
                <a:schemeClr val="bg1">
                  <a:lumMod val="49000"/>
                </a:schemeClr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EF6E8F99-5539-8F88-50A8-DAB54FF700F2}"/>
              </a:ext>
            </a:extLst>
          </p:cNvPr>
          <p:cNvCxnSpPr>
            <a:cxnSpLocks/>
          </p:cNvCxnSpPr>
          <p:nvPr/>
        </p:nvCxnSpPr>
        <p:spPr>
          <a:xfrm>
            <a:off x="526141" y="6362093"/>
            <a:ext cx="11151808" cy="18141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E468EA-16F5-9BBC-DAC5-55992740E0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29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90C7CE-E703-7DDE-E252-23F482F3807C}"/>
              </a:ext>
            </a:extLst>
          </p:cNvPr>
          <p:cNvSpPr txBox="1"/>
          <p:nvPr/>
        </p:nvSpPr>
        <p:spPr>
          <a:xfrm>
            <a:off x="611347" y="6442164"/>
            <a:ext cx="413881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10/09/25</a:t>
            </a:r>
            <a:r>
              <a:rPr lang="en-US">
                <a:latin typeface="Bierstadt Bold"/>
              </a:rPr>
              <a:t> 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55F84-15C0-1728-FBE0-993179933220}"/>
              </a:ext>
            </a:extLst>
          </p:cNvPr>
          <p:cNvSpPr txBox="1"/>
          <p:nvPr/>
        </p:nvSpPr>
        <p:spPr>
          <a:xfrm>
            <a:off x="9638323" y="644378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TANGO SDR​ - UF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869166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B46D20-BEFD-CE03-84F6-BBFA5F55F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9AAD1C-61AC-65F2-1A42-C6B56E75A1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03497"/>
            <a:ext cx="10653578" cy="1132258"/>
          </a:xfrm>
        </p:spPr>
        <p:txBody>
          <a:bodyPr>
            <a:normAutofit/>
          </a:bodyPr>
          <a:lstStyle/>
          <a:p>
            <a:r>
              <a:rPr lang="en-US" sz="3200" dirty="0"/>
              <a:t>Data Integrity &amp; Security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79E2FC-AF18-279C-AB1E-7C1DF7B123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358186"/>
            <a:ext cx="11155680" cy="411782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1400" b="1" dirty="0"/>
              <a:t>What it is:</a:t>
            </a:r>
            <a:r>
              <a:rPr lang="en-US" sz="1400" dirty="0"/>
              <a:t> Software/firmware protocols for formatting, ordering, authentication.</a:t>
            </a:r>
          </a:p>
          <a:p>
            <a:r>
              <a:rPr lang="en-US" sz="1400" b="1" dirty="0"/>
              <a:t>Why chosen:</a:t>
            </a:r>
            <a:endParaRPr lang="en-US" sz="1400" dirty="0"/>
          </a:p>
          <a:p>
            <a:r>
              <a:rPr lang="en-US" sz="1400" dirty="0"/>
              <a:t>Needed to prevent data spoofing.</a:t>
            </a:r>
          </a:p>
          <a:p>
            <a:r>
              <a:rPr lang="en-US" sz="1400" dirty="0"/>
              <a:t>Ensures ground station receives data in order.</a:t>
            </a:r>
          </a:p>
          <a:p>
            <a:r>
              <a:rPr lang="en-US" sz="1400" dirty="0"/>
              <a:t>ACK/NACK reduces silent data loss.</a:t>
            </a:r>
          </a:p>
          <a:p>
            <a:r>
              <a:rPr lang="en-US" sz="1400" b="1" dirty="0"/>
              <a:t>Specific derived </a:t>
            </a:r>
            <a:r>
              <a:rPr lang="en-US" sz="1400" b="1" dirty="0" err="1"/>
              <a:t>reqs</a:t>
            </a:r>
            <a:r>
              <a:rPr lang="en-US" sz="1400" b="1" dirty="0"/>
              <a:t>:</a:t>
            </a:r>
            <a:endParaRPr lang="en-US" sz="1400" dirty="0"/>
          </a:p>
          <a:p>
            <a:r>
              <a:rPr lang="en-US" sz="1400" dirty="0"/>
              <a:t>COM-GTRS-13: Standardized data framing.</a:t>
            </a:r>
          </a:p>
          <a:p>
            <a:r>
              <a:rPr lang="en-US" sz="1400" dirty="0"/>
              <a:t>COM-GTRS-14: Command authentication.</a:t>
            </a:r>
          </a:p>
          <a:p>
            <a:r>
              <a:rPr lang="en-US" sz="1400" dirty="0"/>
              <a:t>COM-GTRS-15: ACK/NACK confirmation.</a:t>
            </a:r>
          </a:p>
          <a:p>
            <a:r>
              <a:rPr lang="en-US" sz="1400" dirty="0"/>
              <a:t>COM-GTRS-16: Sequential ordering with frame counters.</a:t>
            </a:r>
          </a:p>
        </p:txBody>
      </p:sp>
      <p:pic>
        <p:nvPicPr>
          <p:cNvPr id="9" name="Picture 8" descr="A logo of a planet&#10;&#10;AI-generated content may be incorrect.">
            <a:extLst>
              <a:ext uri="{FF2B5EF4-FFF2-40B4-BE49-F238E27FC236}">
                <a16:creationId xmlns:a16="http://schemas.microsoft.com/office/drawing/2014/main" id="{D1969454-DD65-8C84-57B4-00D6946324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0540" y="196315"/>
            <a:ext cx="1293894" cy="1288609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4CE7E42-7533-54C9-4592-1366BCC945BE}"/>
              </a:ext>
            </a:extLst>
          </p:cNvPr>
          <p:cNvCxnSpPr/>
          <p:nvPr/>
        </p:nvCxnSpPr>
        <p:spPr>
          <a:xfrm flipV="1">
            <a:off x="526142" y="1094617"/>
            <a:ext cx="9748761" cy="30239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9B64ED8-8268-98FD-49EA-FE397B5B022E}"/>
              </a:ext>
            </a:extLst>
          </p:cNvPr>
          <p:cNvSpPr txBox="1"/>
          <p:nvPr/>
        </p:nvSpPr>
        <p:spPr>
          <a:xfrm>
            <a:off x="3190350" y="6440249"/>
            <a:ext cx="581129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 dirty="0">
                <a:solidFill>
                  <a:schemeClr val="bg1">
                    <a:lumMod val="49000"/>
                  </a:schemeClr>
                </a:solidFill>
                <a:latin typeface="Bierstadt"/>
              </a:rPr>
              <a:t>Noah Touchton – </a:t>
            </a:r>
            <a:r>
              <a:rPr lang="en-US" b="1" dirty="0" err="1">
                <a:solidFill>
                  <a:schemeClr val="bg1">
                    <a:lumMod val="49000"/>
                  </a:schemeClr>
                </a:solidFill>
                <a:latin typeface="Bierstadt"/>
              </a:rPr>
              <a:t>ntouchton@ufl.edu</a:t>
            </a:r>
            <a:endParaRPr lang="en-US" dirty="0">
              <a:solidFill>
                <a:schemeClr val="bg1">
                  <a:lumMod val="49000"/>
                </a:schemeClr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C731B628-7170-5956-690A-7AC7EDB943F7}"/>
              </a:ext>
            </a:extLst>
          </p:cNvPr>
          <p:cNvCxnSpPr>
            <a:cxnSpLocks/>
          </p:cNvCxnSpPr>
          <p:nvPr/>
        </p:nvCxnSpPr>
        <p:spPr>
          <a:xfrm>
            <a:off x="526141" y="6362093"/>
            <a:ext cx="11151808" cy="18141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1C1E52-4814-B746-F979-D9CC34204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30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0A8CBD-2967-58B4-957A-6883BDA0B801}"/>
              </a:ext>
            </a:extLst>
          </p:cNvPr>
          <p:cNvSpPr txBox="1"/>
          <p:nvPr/>
        </p:nvSpPr>
        <p:spPr>
          <a:xfrm>
            <a:off x="611347" y="6442164"/>
            <a:ext cx="413881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10/09/25</a:t>
            </a:r>
            <a:r>
              <a:rPr lang="en-US">
                <a:latin typeface="Bierstadt Bold"/>
              </a:rPr>
              <a:t> 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FC58F8-7D3F-3DD7-F7AE-D9F934A3A1A3}"/>
              </a:ext>
            </a:extLst>
          </p:cNvPr>
          <p:cNvSpPr txBox="1"/>
          <p:nvPr/>
        </p:nvSpPr>
        <p:spPr>
          <a:xfrm>
            <a:off x="9638323" y="644378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TANGO SDR​ - UF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2819639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AB993-6BD6-669D-1928-3F7D95AD2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7007E9-2462-6F09-115E-9062E8CFEE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03497"/>
            <a:ext cx="10653578" cy="1132258"/>
          </a:xfrm>
        </p:spPr>
        <p:txBody>
          <a:bodyPr>
            <a:normAutofit/>
          </a:bodyPr>
          <a:lstStyle/>
          <a:p>
            <a:r>
              <a:rPr lang="en-US" sz="3200" dirty="0"/>
              <a:t>Mass Budget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920A0F-B8A0-B0BB-972E-61DCB4712B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358186"/>
            <a:ext cx="11155680" cy="411782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1400" b="1" dirty="0"/>
              <a:t>Breakdown:</a:t>
            </a:r>
            <a:r>
              <a:rPr lang="en-US" sz="1400" dirty="0"/>
              <a:t> Total ~346 g for comm subsystem.</a:t>
            </a:r>
          </a:p>
          <a:p>
            <a:r>
              <a:rPr lang="en-US" sz="1400" b="1" dirty="0"/>
              <a:t>Why acceptable:</a:t>
            </a:r>
            <a:r>
              <a:rPr lang="en-US" sz="1400" dirty="0"/>
              <a:t> &lt;0.4 kg is a tiny fraction of the 27U system → leaves room for payload.</a:t>
            </a:r>
          </a:p>
          <a:p>
            <a:r>
              <a:rPr lang="en-US" sz="1400" b="1" dirty="0"/>
              <a:t>Biggest contributors:</a:t>
            </a:r>
            <a:r>
              <a:rPr lang="en-US" sz="1400" dirty="0"/>
              <a:t> Whip antennas + transmitter.</a:t>
            </a:r>
          </a:p>
          <a:p>
            <a:r>
              <a:rPr lang="en-US" sz="1400" b="1" dirty="0"/>
              <a:t>Margin rationale:</a:t>
            </a:r>
            <a:r>
              <a:rPr lang="en-US" sz="1400" dirty="0"/>
              <a:t> Even doubling assumptions keeps mass &lt;1% of bus capacity.</a:t>
            </a:r>
          </a:p>
        </p:txBody>
      </p:sp>
      <p:pic>
        <p:nvPicPr>
          <p:cNvPr id="9" name="Picture 8" descr="A logo of a planet&#10;&#10;AI-generated content may be incorrect.">
            <a:extLst>
              <a:ext uri="{FF2B5EF4-FFF2-40B4-BE49-F238E27FC236}">
                <a16:creationId xmlns:a16="http://schemas.microsoft.com/office/drawing/2014/main" id="{0BC943B0-B4A2-E07B-BFCF-E7A79126BC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0540" y="196315"/>
            <a:ext cx="1293894" cy="1288609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6286228-67E2-882E-6F86-8AA7D93D41E6}"/>
              </a:ext>
            </a:extLst>
          </p:cNvPr>
          <p:cNvCxnSpPr/>
          <p:nvPr/>
        </p:nvCxnSpPr>
        <p:spPr>
          <a:xfrm flipV="1">
            <a:off x="526142" y="1094617"/>
            <a:ext cx="9748761" cy="30239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2D369E2-38DF-0E2C-B9E4-36EB9002375E}"/>
              </a:ext>
            </a:extLst>
          </p:cNvPr>
          <p:cNvSpPr txBox="1"/>
          <p:nvPr/>
        </p:nvSpPr>
        <p:spPr>
          <a:xfrm>
            <a:off x="3190350" y="6440249"/>
            <a:ext cx="581129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 dirty="0">
                <a:solidFill>
                  <a:schemeClr val="bg1">
                    <a:lumMod val="49000"/>
                  </a:schemeClr>
                </a:solidFill>
                <a:latin typeface="Bierstadt"/>
              </a:rPr>
              <a:t>Noah Touchton – </a:t>
            </a:r>
            <a:r>
              <a:rPr lang="en-US" b="1" dirty="0" err="1">
                <a:solidFill>
                  <a:schemeClr val="bg1">
                    <a:lumMod val="49000"/>
                  </a:schemeClr>
                </a:solidFill>
                <a:latin typeface="Bierstadt"/>
              </a:rPr>
              <a:t>ntouchton@ufl.edu</a:t>
            </a:r>
            <a:endParaRPr lang="en-US" dirty="0">
              <a:solidFill>
                <a:schemeClr val="bg1">
                  <a:lumMod val="49000"/>
                </a:schemeClr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E57A9EEA-C915-6BA5-79D2-E9C84F6DB2F8}"/>
              </a:ext>
            </a:extLst>
          </p:cNvPr>
          <p:cNvCxnSpPr>
            <a:cxnSpLocks/>
          </p:cNvCxnSpPr>
          <p:nvPr/>
        </p:nvCxnSpPr>
        <p:spPr>
          <a:xfrm>
            <a:off x="526141" y="6362093"/>
            <a:ext cx="11151808" cy="18141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11D66C-D0A3-9B4C-1B50-2A85C077D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31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2DC975-CEED-E461-A482-709C7F8ECF69}"/>
              </a:ext>
            </a:extLst>
          </p:cNvPr>
          <p:cNvSpPr txBox="1"/>
          <p:nvPr/>
        </p:nvSpPr>
        <p:spPr>
          <a:xfrm>
            <a:off x="611347" y="6442164"/>
            <a:ext cx="413881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10/09/25</a:t>
            </a:r>
            <a:r>
              <a:rPr lang="en-US">
                <a:latin typeface="Bierstadt Bold"/>
              </a:rPr>
              <a:t> 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98E316-0EB2-009E-DAEC-8D393ADF0D4B}"/>
              </a:ext>
            </a:extLst>
          </p:cNvPr>
          <p:cNvSpPr txBox="1"/>
          <p:nvPr/>
        </p:nvSpPr>
        <p:spPr>
          <a:xfrm>
            <a:off x="9638323" y="644378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TANGO SDR​ - UF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1854070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80BD7-32CA-A172-5B08-D42D42E86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D57D9-01F6-F0CF-6D7B-DB861081A3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03497"/>
            <a:ext cx="10653578" cy="1132258"/>
          </a:xfrm>
        </p:spPr>
        <p:txBody>
          <a:bodyPr>
            <a:normAutofit/>
          </a:bodyPr>
          <a:lstStyle/>
          <a:p>
            <a:r>
              <a:rPr lang="en-US" sz="3200" dirty="0"/>
              <a:t>Power Budget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0E300F-7814-9C4D-5F95-9C84D352A6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358186"/>
            <a:ext cx="11155680" cy="411782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1400" b="1" dirty="0"/>
              <a:t>Baseline:</a:t>
            </a:r>
            <a:r>
              <a:rPr lang="en-US" sz="1400" dirty="0"/>
              <a:t> ~1 W (AX100 listening, MCU idle).</a:t>
            </a:r>
          </a:p>
          <a:p>
            <a:r>
              <a:rPr lang="en-US" sz="1400" b="1" dirty="0"/>
              <a:t>Peak:</a:t>
            </a:r>
            <a:r>
              <a:rPr lang="en-US" sz="1400" dirty="0"/>
              <a:t> ~9 W (STX TX + AX100 TX + MCU).</a:t>
            </a:r>
          </a:p>
          <a:p>
            <a:r>
              <a:rPr lang="en-US" sz="1400" b="1" dirty="0"/>
              <a:t>Why acceptable:</a:t>
            </a:r>
            <a:endParaRPr lang="en-US" sz="1400" dirty="0"/>
          </a:p>
          <a:p>
            <a:r>
              <a:rPr lang="en-US" sz="1400" dirty="0"/>
              <a:t>Peak draw only during downlinks.</a:t>
            </a:r>
          </a:p>
          <a:p>
            <a:r>
              <a:rPr lang="en-US" sz="1400" dirty="0"/>
              <a:t>Scheduled during sunlight → solar input covers load.</a:t>
            </a:r>
          </a:p>
          <a:p>
            <a:r>
              <a:rPr lang="en-US" sz="1400" b="1" dirty="0"/>
              <a:t>EPS margin check:</a:t>
            </a:r>
            <a:r>
              <a:rPr lang="en-US" sz="1400" dirty="0"/>
              <a:t> 9 W &lt;&lt; expected CubeSat bus allocation.</a:t>
            </a:r>
          </a:p>
        </p:txBody>
      </p:sp>
      <p:pic>
        <p:nvPicPr>
          <p:cNvPr id="9" name="Picture 8" descr="A logo of a planet&#10;&#10;AI-generated content may be incorrect.">
            <a:extLst>
              <a:ext uri="{FF2B5EF4-FFF2-40B4-BE49-F238E27FC236}">
                <a16:creationId xmlns:a16="http://schemas.microsoft.com/office/drawing/2014/main" id="{032D4221-3BA5-31B6-3FB8-1021792922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0540" y="196315"/>
            <a:ext cx="1293894" cy="1288609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A5B989E-462D-7251-2876-B01750EE6ECE}"/>
              </a:ext>
            </a:extLst>
          </p:cNvPr>
          <p:cNvCxnSpPr/>
          <p:nvPr/>
        </p:nvCxnSpPr>
        <p:spPr>
          <a:xfrm flipV="1">
            <a:off x="526142" y="1094617"/>
            <a:ext cx="9748761" cy="30239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9C4B93B-AB4B-26B7-7C34-66F05D792915}"/>
              </a:ext>
            </a:extLst>
          </p:cNvPr>
          <p:cNvSpPr txBox="1"/>
          <p:nvPr/>
        </p:nvSpPr>
        <p:spPr>
          <a:xfrm>
            <a:off x="3190350" y="6440249"/>
            <a:ext cx="581129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 dirty="0">
                <a:solidFill>
                  <a:schemeClr val="bg1">
                    <a:lumMod val="49000"/>
                  </a:schemeClr>
                </a:solidFill>
                <a:latin typeface="Bierstadt"/>
              </a:rPr>
              <a:t>Noah Touchton – </a:t>
            </a:r>
            <a:r>
              <a:rPr lang="en-US" b="1" dirty="0" err="1">
                <a:solidFill>
                  <a:schemeClr val="bg1">
                    <a:lumMod val="49000"/>
                  </a:schemeClr>
                </a:solidFill>
                <a:latin typeface="Bierstadt"/>
              </a:rPr>
              <a:t>ntouchton@ufl.edu</a:t>
            </a:r>
            <a:endParaRPr lang="en-US" dirty="0">
              <a:solidFill>
                <a:schemeClr val="bg1">
                  <a:lumMod val="49000"/>
                </a:schemeClr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9860E90-B660-3372-E77A-9DD22AACA4AA}"/>
              </a:ext>
            </a:extLst>
          </p:cNvPr>
          <p:cNvCxnSpPr>
            <a:cxnSpLocks/>
          </p:cNvCxnSpPr>
          <p:nvPr/>
        </p:nvCxnSpPr>
        <p:spPr>
          <a:xfrm>
            <a:off x="526141" y="6362093"/>
            <a:ext cx="11151808" cy="18141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8541C8-D982-25DD-D1C3-559A45737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32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679161-528F-6036-EFFF-1FA92FEC41DE}"/>
              </a:ext>
            </a:extLst>
          </p:cNvPr>
          <p:cNvSpPr txBox="1"/>
          <p:nvPr/>
        </p:nvSpPr>
        <p:spPr>
          <a:xfrm>
            <a:off x="611347" y="6442164"/>
            <a:ext cx="413881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10/09/25</a:t>
            </a:r>
            <a:r>
              <a:rPr lang="en-US">
                <a:latin typeface="Bierstadt Bold"/>
              </a:rPr>
              <a:t> 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B401B0-9994-D7F1-91DF-9D8595A688DC}"/>
              </a:ext>
            </a:extLst>
          </p:cNvPr>
          <p:cNvSpPr txBox="1"/>
          <p:nvPr/>
        </p:nvSpPr>
        <p:spPr>
          <a:xfrm>
            <a:off x="9638323" y="644378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TANGO SDR​ - UF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096677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6B55D-F645-B215-BD9E-B4781916E8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55A92C-6777-E92B-2CA1-191A3987F4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03497"/>
            <a:ext cx="10653578" cy="1132258"/>
          </a:xfrm>
        </p:spPr>
        <p:txBody>
          <a:bodyPr>
            <a:normAutofit/>
          </a:bodyPr>
          <a:lstStyle/>
          <a:p>
            <a:r>
              <a:rPr lang="en-US" sz="3200" dirty="0"/>
              <a:t>Risk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744F6C-902D-10E3-76FA-0102F7E194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358186"/>
            <a:ext cx="11155680" cy="411782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1400" b="1" dirty="0"/>
              <a:t>Key Risks:</a:t>
            </a:r>
            <a:endParaRPr lang="en-US" sz="1400" dirty="0"/>
          </a:p>
          <a:p>
            <a:r>
              <a:rPr lang="en-US" sz="1400" dirty="0"/>
              <a:t>STX failure → fallback to AX100.</a:t>
            </a:r>
          </a:p>
          <a:p>
            <a:r>
              <a:rPr lang="en-US" sz="1400" dirty="0"/>
              <a:t>Antenna failure → dual whips ensure omni.</a:t>
            </a:r>
          </a:p>
          <a:p>
            <a:r>
              <a:rPr lang="en-US" sz="1400" dirty="0"/>
              <a:t>Spoofed commands → authentication required.</a:t>
            </a:r>
          </a:p>
          <a:p>
            <a:r>
              <a:rPr lang="en-US" sz="1400" dirty="0"/>
              <a:t>Storage corruption → buffer margin, prioritize telemetry.</a:t>
            </a:r>
          </a:p>
          <a:p>
            <a:r>
              <a:rPr lang="en-US" sz="1400" b="1" dirty="0"/>
              <a:t>Logic:</a:t>
            </a:r>
            <a:r>
              <a:rPr lang="en-US" sz="1400" dirty="0"/>
              <a:t> Mitigations always involve redundancy, margin, or software protection.</a:t>
            </a:r>
          </a:p>
        </p:txBody>
      </p:sp>
      <p:pic>
        <p:nvPicPr>
          <p:cNvPr id="9" name="Picture 8" descr="A logo of a planet&#10;&#10;AI-generated content may be incorrect.">
            <a:extLst>
              <a:ext uri="{FF2B5EF4-FFF2-40B4-BE49-F238E27FC236}">
                <a16:creationId xmlns:a16="http://schemas.microsoft.com/office/drawing/2014/main" id="{A2E02CEE-8284-69EB-2AA9-10EC58D7BA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0540" y="196315"/>
            <a:ext cx="1293894" cy="1288609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A45AAA5-6362-EBF3-8651-B6D7B668BB91}"/>
              </a:ext>
            </a:extLst>
          </p:cNvPr>
          <p:cNvCxnSpPr/>
          <p:nvPr/>
        </p:nvCxnSpPr>
        <p:spPr>
          <a:xfrm flipV="1">
            <a:off x="526142" y="1094617"/>
            <a:ext cx="9748761" cy="30239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0BAACFD-CDB9-6BE7-D607-35C3A010A7B1}"/>
              </a:ext>
            </a:extLst>
          </p:cNvPr>
          <p:cNvSpPr txBox="1"/>
          <p:nvPr/>
        </p:nvSpPr>
        <p:spPr>
          <a:xfrm>
            <a:off x="3190350" y="6440249"/>
            <a:ext cx="581129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 dirty="0">
                <a:solidFill>
                  <a:schemeClr val="bg1">
                    <a:lumMod val="49000"/>
                  </a:schemeClr>
                </a:solidFill>
                <a:latin typeface="Bierstadt"/>
              </a:rPr>
              <a:t>Noah Touchton – </a:t>
            </a:r>
            <a:r>
              <a:rPr lang="en-US" b="1" dirty="0" err="1">
                <a:solidFill>
                  <a:schemeClr val="bg1">
                    <a:lumMod val="49000"/>
                  </a:schemeClr>
                </a:solidFill>
                <a:latin typeface="Bierstadt"/>
              </a:rPr>
              <a:t>ntouchton@ufl.edu</a:t>
            </a:r>
            <a:endParaRPr lang="en-US" dirty="0">
              <a:solidFill>
                <a:schemeClr val="bg1">
                  <a:lumMod val="49000"/>
                </a:schemeClr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F779F1E5-D94D-7773-4E9F-CADF44848128}"/>
              </a:ext>
            </a:extLst>
          </p:cNvPr>
          <p:cNvCxnSpPr>
            <a:cxnSpLocks/>
          </p:cNvCxnSpPr>
          <p:nvPr/>
        </p:nvCxnSpPr>
        <p:spPr>
          <a:xfrm>
            <a:off x="526141" y="6362093"/>
            <a:ext cx="11151808" cy="18141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FC1FA5-D165-A040-D3A2-43795EF1A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33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609FC0-76F4-89A7-9869-2D40A94F2DD3}"/>
              </a:ext>
            </a:extLst>
          </p:cNvPr>
          <p:cNvSpPr txBox="1"/>
          <p:nvPr/>
        </p:nvSpPr>
        <p:spPr>
          <a:xfrm>
            <a:off x="611347" y="6442164"/>
            <a:ext cx="413881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10/09/25</a:t>
            </a:r>
            <a:r>
              <a:rPr lang="en-US">
                <a:latin typeface="Bierstadt Bold"/>
              </a:rPr>
              <a:t> 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8EE1AE-1D11-A7DB-5D16-E447D01D0F3F}"/>
              </a:ext>
            </a:extLst>
          </p:cNvPr>
          <p:cNvSpPr txBox="1"/>
          <p:nvPr/>
        </p:nvSpPr>
        <p:spPr>
          <a:xfrm>
            <a:off x="9638323" y="644378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TANGO SDR​ - UF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2216283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601463-7C4F-5E3E-884B-89BBE16C4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5F565C-613D-8F36-F4AD-2DB6577CAA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03497"/>
            <a:ext cx="10653578" cy="1132258"/>
          </a:xfrm>
        </p:spPr>
        <p:txBody>
          <a:bodyPr>
            <a:normAutofit/>
          </a:bodyPr>
          <a:lstStyle/>
          <a:p>
            <a:r>
              <a:rPr lang="en-US" sz="3200" dirty="0"/>
              <a:t>System 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ADB101-EABF-377C-5E51-49C9136130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358186"/>
            <a:ext cx="11155680" cy="411782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1400" b="1" dirty="0"/>
              <a:t>Step 1 (Payload Data):</a:t>
            </a:r>
            <a:r>
              <a:rPr lang="en-US" sz="1400" dirty="0"/>
              <a:t> Payload generates data → sent to STM32 microcontroller.</a:t>
            </a:r>
          </a:p>
          <a:p>
            <a:r>
              <a:rPr lang="en-US" sz="1400" b="1" dirty="0"/>
              <a:t>Step 2 (Storage):</a:t>
            </a:r>
            <a:r>
              <a:rPr lang="en-US" sz="1400" dirty="0"/>
              <a:t> MCU writes data into 64 GB eMMC (buffer).</a:t>
            </a:r>
          </a:p>
          <a:p>
            <a:r>
              <a:rPr lang="en-US" sz="1400" b="1" dirty="0"/>
              <a:t>Step 3 (Downlink):</a:t>
            </a:r>
            <a:r>
              <a:rPr lang="en-US" sz="1400" dirty="0"/>
              <a:t> When over ground station, MCU packages data (framed, ordered) → sends to PULSAR-STX → Patch antenna downlinks to Earth.</a:t>
            </a:r>
          </a:p>
          <a:p>
            <a:r>
              <a:rPr lang="en-US" sz="1400" b="1" dirty="0"/>
              <a:t>Step 4 (TT&amp;C):</a:t>
            </a:r>
            <a:r>
              <a:rPr lang="en-US" sz="1400" dirty="0"/>
              <a:t> Ground station commands received by AX100 → MCU interprets and acts. Housekeeping telemetry sent back via AX100.</a:t>
            </a:r>
          </a:p>
          <a:p>
            <a:r>
              <a:rPr lang="en-US" sz="1400" b="1" dirty="0"/>
              <a:t>Step 5 (Crosslink):</a:t>
            </a:r>
            <a:r>
              <a:rPr lang="en-US" sz="1400" dirty="0"/>
              <a:t> Secondary satellite sends housekeeping or payload data via SX1262 → received by ANT-100 whip → MCU processes and stores.</a:t>
            </a:r>
          </a:p>
          <a:p>
            <a:r>
              <a:rPr lang="en-US" sz="1400" b="1" dirty="0"/>
              <a:t>Step 6 (Redundancy):</a:t>
            </a:r>
            <a:r>
              <a:rPr lang="en-US" sz="1400" dirty="0"/>
              <a:t> If PULSAR-STX fails, AX100 can still send reduced data (lower rate) to Earth.</a:t>
            </a:r>
          </a:p>
        </p:txBody>
      </p:sp>
      <p:pic>
        <p:nvPicPr>
          <p:cNvPr id="9" name="Picture 8" descr="A logo of a planet&#10;&#10;AI-generated content may be incorrect.">
            <a:extLst>
              <a:ext uri="{FF2B5EF4-FFF2-40B4-BE49-F238E27FC236}">
                <a16:creationId xmlns:a16="http://schemas.microsoft.com/office/drawing/2014/main" id="{677F52EE-8EB0-F54A-2B94-584EF00983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0540" y="196315"/>
            <a:ext cx="1293894" cy="1288609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7C6CF9D-0198-1302-944D-3A7C1A54B01A}"/>
              </a:ext>
            </a:extLst>
          </p:cNvPr>
          <p:cNvCxnSpPr/>
          <p:nvPr/>
        </p:nvCxnSpPr>
        <p:spPr>
          <a:xfrm flipV="1">
            <a:off x="526142" y="1094617"/>
            <a:ext cx="9748761" cy="30239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BBDCB1A-5F50-F78D-F6BB-65504024BB03}"/>
              </a:ext>
            </a:extLst>
          </p:cNvPr>
          <p:cNvSpPr txBox="1"/>
          <p:nvPr/>
        </p:nvSpPr>
        <p:spPr>
          <a:xfrm>
            <a:off x="3190350" y="6440249"/>
            <a:ext cx="581129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 dirty="0">
                <a:solidFill>
                  <a:schemeClr val="bg1">
                    <a:lumMod val="49000"/>
                  </a:schemeClr>
                </a:solidFill>
                <a:latin typeface="Bierstadt"/>
              </a:rPr>
              <a:t>Noah Touchton – </a:t>
            </a:r>
            <a:r>
              <a:rPr lang="en-US" b="1" dirty="0" err="1">
                <a:solidFill>
                  <a:schemeClr val="bg1">
                    <a:lumMod val="49000"/>
                  </a:schemeClr>
                </a:solidFill>
                <a:latin typeface="Bierstadt"/>
              </a:rPr>
              <a:t>ntouchton@ufl.edu</a:t>
            </a:r>
            <a:endParaRPr lang="en-US" dirty="0">
              <a:solidFill>
                <a:schemeClr val="bg1">
                  <a:lumMod val="49000"/>
                </a:schemeClr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0089AF9-6618-01DD-975E-14C835BC7F28}"/>
              </a:ext>
            </a:extLst>
          </p:cNvPr>
          <p:cNvCxnSpPr>
            <a:cxnSpLocks/>
          </p:cNvCxnSpPr>
          <p:nvPr/>
        </p:nvCxnSpPr>
        <p:spPr>
          <a:xfrm>
            <a:off x="526141" y="6362093"/>
            <a:ext cx="11151808" cy="18141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DAA818-C39A-FAD2-2DF0-D1A546A3B0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34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78E9905-660E-0F81-61CC-FC25CC81FF70}"/>
              </a:ext>
            </a:extLst>
          </p:cNvPr>
          <p:cNvSpPr txBox="1"/>
          <p:nvPr/>
        </p:nvSpPr>
        <p:spPr>
          <a:xfrm>
            <a:off x="611347" y="6442164"/>
            <a:ext cx="413881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10/09/25</a:t>
            </a:r>
            <a:r>
              <a:rPr lang="en-US">
                <a:latin typeface="Bierstadt Bold"/>
              </a:rPr>
              <a:t> 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AD1DD0-8FD7-EF8E-8372-E9204E2C8CF9}"/>
              </a:ext>
            </a:extLst>
          </p:cNvPr>
          <p:cNvSpPr txBox="1"/>
          <p:nvPr/>
        </p:nvSpPr>
        <p:spPr>
          <a:xfrm>
            <a:off x="9638323" y="644378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TANGO SDR​ - UF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2391992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Office 2007 - 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ero Design">
      <a:majorFont>
        <a:latin typeface="Bierstadt Bold"/>
        <a:ea typeface=""/>
        <a:cs typeface=""/>
      </a:majorFont>
      <a:minorFont>
        <a:latin typeface="Bierstadt "/>
        <a:ea typeface=""/>
        <a:cs typeface=""/>
      </a:minorFont>
    </a:fontScheme>
    <a:fmtScheme name="VanillaVTI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AACC6CF0-9F86-48CC-9C4E-CA578EE0A0A0}" vid="{3BDE51FE-56D6-4100-AFB5-5B4AEDCE2EF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1141</TotalTime>
  <Words>2852</Words>
  <Application>Microsoft Macintosh PowerPoint</Application>
  <PresentationFormat>Widescreen</PresentationFormat>
  <Paragraphs>522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1" baseType="lpstr">
      <vt:lpstr>-webkit-standard</vt:lpstr>
      <vt:lpstr>Arial</vt:lpstr>
      <vt:lpstr>Bierstadt</vt:lpstr>
      <vt:lpstr>Bierstadt </vt:lpstr>
      <vt:lpstr>Bierstadt Bold</vt:lpstr>
      <vt:lpstr>Calibri</vt:lpstr>
      <vt:lpstr>VanillaVTI</vt:lpstr>
      <vt:lpstr>TANGO GATOR-SAT Project </vt:lpstr>
      <vt:lpstr>Communications </vt:lpstr>
      <vt:lpstr>System Overview</vt:lpstr>
      <vt:lpstr>Requirements</vt:lpstr>
      <vt:lpstr>Derived Requirements</vt:lpstr>
      <vt:lpstr>Derived Requirements</vt:lpstr>
      <vt:lpstr>Derived Requirements</vt:lpstr>
      <vt:lpstr>Derived Requirements</vt:lpstr>
      <vt:lpstr>Microcontroller Trade Study</vt:lpstr>
      <vt:lpstr>Downlink Antenna Trade Study</vt:lpstr>
      <vt:lpstr>Transceiver Trade Study</vt:lpstr>
      <vt:lpstr>Transmitter Trade Study</vt:lpstr>
      <vt:lpstr>InterSat Antenna Trade Study</vt:lpstr>
      <vt:lpstr>InterSat Transciever Trade Study</vt:lpstr>
      <vt:lpstr>Data Storage Trade Study</vt:lpstr>
      <vt:lpstr>Component Placement</vt:lpstr>
      <vt:lpstr>Ground Stations</vt:lpstr>
      <vt:lpstr>Mass Budget</vt:lpstr>
      <vt:lpstr>Power Budget</vt:lpstr>
      <vt:lpstr>Risk Template</vt:lpstr>
      <vt:lpstr>Road to PDR</vt:lpstr>
      <vt:lpstr>Backup Material (Communications) </vt:lpstr>
      <vt:lpstr>OISR</vt:lpstr>
      <vt:lpstr>Microcontroller (STM32H723VET6)</vt:lpstr>
      <vt:lpstr>Data Storage (64 GB eMMC SDINBDG4)</vt:lpstr>
      <vt:lpstr>High-Rate Downlink (PULSAR-STX + ANTENNA)</vt:lpstr>
      <vt:lpstr>Antenna Deployment</vt:lpstr>
      <vt:lpstr>TT&amp;C Link (AX100 Transceiver)</vt:lpstr>
      <vt:lpstr>Intersatellite Link (SX1262 + AAC ANT-100 Whips)</vt:lpstr>
      <vt:lpstr>Data Integrity &amp; Security</vt:lpstr>
      <vt:lpstr>Mass Budget</vt:lpstr>
      <vt:lpstr>Power Budget</vt:lpstr>
      <vt:lpstr>Risk Summary</vt:lpstr>
      <vt:lpstr>System Flow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Noah Touchton</dc:creator>
  <cp:lastModifiedBy>Noah Touchton</cp:lastModifiedBy>
  <cp:revision>28</cp:revision>
  <dcterms:created xsi:type="dcterms:W3CDTF">2025-09-23T20:49:02Z</dcterms:created>
  <dcterms:modified xsi:type="dcterms:W3CDTF">2025-10-03T20:02:27Z</dcterms:modified>
</cp:coreProperties>
</file>