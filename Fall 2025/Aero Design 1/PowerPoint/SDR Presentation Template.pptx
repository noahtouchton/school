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F_43BB541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2" r:id="rId3"/>
    <p:sldId id="267" r:id="rId4"/>
    <p:sldId id="272" r:id="rId5"/>
    <p:sldId id="268" r:id="rId6"/>
    <p:sldId id="271" r:id="rId7"/>
    <p:sldId id="270" r:id="rId8"/>
    <p:sldId id="2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D694ED-FC33-40EA-AF97-62CA419D652F}" name="Camargo, Naomi" initials="CN" userId="S::anaomi.camargo@ufl.edu::06bc4c7e-40a3-4ed3-98c3-eb58ec89633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C9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8"/>
    <p:restoredTop sz="94630"/>
  </p:normalViewPr>
  <p:slideViewPr>
    <p:cSldViewPr snapToGrid="0">
      <p:cViewPr varScale="1">
        <p:scale>
          <a:sx n="138" d="100"/>
          <a:sy n="138" d="100"/>
        </p:scale>
        <p:origin x="16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8/10/relationships/authors" Target="authors.xml"/></Relationships>
</file>

<file path=ppt/comments/modernComment_10F_43BB54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AA5F30-97BC-4ED3-93FE-79C40F58F8CA}" authorId="{C9D694ED-FC33-40EA-AF97-62CA419D652F}" created="2025-09-30T19:21:28.23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136350233" sldId="271"/>
      <ac:graphicFrameMk id="12" creationId="{4A9B0C3D-6086-3FAF-18AF-D65A3B83A526}"/>
      <ac:tblMk/>
      <ac:tcMk rowId="2334263199" colId="2473987835"/>
      <ac:txMk cp="0" len="13">
        <ac:context len="14" hash="147260756"/>
      </ac:txMk>
    </ac:txMkLst>
    <p188:pos x="9821333" y="973666"/>
    <p188:txBody>
      <a:bodyPr/>
      <a:lstStyle/>
      <a:p>
        <a:r>
          <a:rPr lang="en-US"/>
          <a:t>Example Format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418A7C-2B12-8D14-563D-9DCB36C27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32BE1-279E-4118-9FE3-7952B079A510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C884CD-E564-1556-AC37-875E5E15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7705BF-59F9-7D3A-4871-157F5B6C7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65885"/>
      </p:ext>
    </p:extLst>
  </p:cSld>
  <p:clrMapOvr>
    <a:masterClrMapping/>
  </p:clrMapOvr>
  <p:hf hdr="0" ftr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156E-175E-4DBA-9D21-B772C320F342}" type="datetimeFigureOut">
              <a:rPr lang="en-US" dirty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383890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95F6E-3D02-4292-95D1-C62B3126321B}" type="datetimeFigureOut">
              <a:rPr lang="en-US" dirty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54458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B5ACB-D10C-44A8-9570-124370F4CB38}" type="datetimeFigureOut">
              <a:rPr lang="en-US" dirty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60793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D84F4-0E7A-4BDE-98C6-AE68FB974645}" type="datetimeFigureOut">
              <a:rPr lang="en-US" dirty="0"/>
              <a:t>10/2/25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43015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FF1D8-9801-4C4B-92F3-66C9A863BD74}" type="datetimeFigureOut">
              <a:rPr lang="en-US" dirty="0"/>
              <a:t>10/2/25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543976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E8FD-B23E-4E1A-83EF-0847EBEA0105}" type="datetimeFigureOut">
              <a:rPr lang="en-US" dirty="0"/>
              <a:t>10/2/25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6439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891E-A7C2-465C-AD39-8EDCB0F58E3C}" type="datetimeFigureOut">
              <a:rPr lang="en-US" dirty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333672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93E5-AFB6-485C-8E3C-32F92A07875F}" type="datetimeFigureOut">
              <a:rPr lang="en-US" dirty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27182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76D0F-5A12-4D0A-80B0-1A6122B61E7B}" type="datetimeFigureOut">
              <a:rPr lang="en-US" dirty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393876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C84-89CA-44AB-B0BE-5C91BAF75478}" type="datetimeFigureOut">
              <a:rPr lang="en-US" dirty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95366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3A332BE1-279E-4118-9FE3-7952B079A510}" type="datetimeFigureOut">
              <a:rPr lang="en-US" dirty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2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0F_43BB5419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0C6812E7-DFBA-EBB4-9F52-92085382EAE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8318" y="432497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>
                <a:solidFill>
                  <a:srgbClr val="FFFFFF"/>
                </a:solidFill>
                <a:latin typeface="Bierstadt"/>
              </a:rPr>
              <a:t>TANGO GATOR-SAT Project</a:t>
            </a:r>
            <a:br>
              <a:rPr lang="en-US" sz="6000">
                <a:latin typeface="Bierstadt"/>
              </a:rPr>
            </a:br>
            <a:endParaRPr lang="en-US" sz="600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52974" y="141170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400" i="0">
                <a:solidFill>
                  <a:srgbClr val="FFFFFF"/>
                </a:solidFill>
                <a:latin typeface="Bierstadt"/>
              </a:rPr>
              <a:t>System Design Review</a:t>
            </a:r>
          </a:p>
          <a:p>
            <a:endParaRPr lang="en-US" sz="2400" i="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3C06EBE-E9C3-444A-210C-EBACF003A901}"/>
              </a:ext>
            </a:extLst>
          </p:cNvPr>
          <p:cNvSpPr txBox="1">
            <a:spLocks/>
          </p:cNvSpPr>
          <p:nvPr/>
        </p:nvSpPr>
        <p:spPr>
          <a:xfrm>
            <a:off x="920479" y="5135267"/>
            <a:ext cx="10363411" cy="17240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i="0">
                <a:solidFill>
                  <a:srgbClr val="FFFFFF"/>
                </a:solidFill>
                <a:latin typeface="Bierstadt"/>
              </a:rPr>
              <a:t>Naomi Camargo, </a:t>
            </a:r>
            <a:r>
              <a:rPr lang="en-US" sz="2400" i="0" err="1">
                <a:solidFill>
                  <a:srgbClr val="FFFFFF"/>
                </a:solidFill>
                <a:latin typeface="Bierstadt"/>
              </a:rPr>
              <a:t>Shadalou</a:t>
            </a:r>
            <a:r>
              <a:rPr lang="en-US" sz="2400" i="0">
                <a:solidFill>
                  <a:srgbClr val="FFFFFF"/>
                </a:solidFill>
                <a:latin typeface="Bierstadt"/>
              </a:rPr>
              <a:t> Fernandez, Andre Hada, Nicholas Hirsh, Nicholas Kottas, Dhruv Mathuria, Nishtha Rajani, Noah Touchton, Ian Truelsegaard</a:t>
            </a:r>
            <a:endParaRPr lang="en-US">
              <a:solidFill>
                <a:srgbClr val="FFFFFF"/>
              </a:solidFill>
              <a:latin typeface="Bierstadt"/>
            </a:endParaRPr>
          </a:p>
          <a:p>
            <a:pPr algn="ctr"/>
            <a:r>
              <a:rPr lang="en-US" i="0">
                <a:latin typeface="Bierstadt"/>
              </a:rPr>
              <a:t>University of Florida – EAS4700  - October 9th, 2025</a:t>
            </a:r>
            <a:endParaRPr lang="en-US"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482A37D7-B211-E317-6F3D-B5EF854A0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224" y="1944077"/>
            <a:ext cx="2999322" cy="2969847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0AFBF62-DAFC-98A8-A6DC-DAE8EE2E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0926-DADE-7FD2-0802-1D75C28A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75C04BA0-6172-125A-4182-389C879964D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C9915F-44FE-A6E5-82B5-5D023366B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165" y="2454728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 dirty="0">
                <a:solidFill>
                  <a:srgbClr val="FFFFFF"/>
                </a:solidFill>
                <a:latin typeface="Bierstadt"/>
              </a:rPr>
              <a:t>Communications</a:t>
            </a:r>
            <a:br>
              <a:rPr lang="en-US" sz="6000" dirty="0">
                <a:latin typeface="Bierstadt"/>
              </a:rPr>
            </a:br>
            <a:endParaRPr lang="en-US" sz="6000" dirty="0">
              <a:latin typeface="Bierstad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4A4F2D-8B1D-5F28-0BB9-88DD5046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47821" y="343393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800" dirty="0">
                <a:solidFill>
                  <a:srgbClr val="FFFFFF"/>
                </a:solidFill>
                <a:latin typeface="Bierstadt"/>
              </a:rPr>
              <a:t>Noah Touchton</a:t>
            </a:r>
            <a:endParaRPr lang="en-US" sz="2800" i="0" dirty="0">
              <a:solidFill>
                <a:srgbClr val="FFFFFF"/>
              </a:solidFill>
              <a:latin typeface="Bierstadt"/>
            </a:endParaRPr>
          </a:p>
          <a:p>
            <a:endParaRPr lang="en-US" sz="2400" i="0" dirty="0">
              <a:solidFill>
                <a:srgbClr val="FFFFFF"/>
              </a:solidFill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8F7B27B6-1DC6-F11D-4D99-5F030A36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399" y="168402"/>
            <a:ext cx="1672568" cy="158215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93B5F8-1909-5B8D-036E-75207B5BE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2</a:t>
            </a:fld>
            <a:endParaRPr lang="en-US"/>
          </a:p>
        </p:txBody>
      </p:sp>
      <p:pic>
        <p:nvPicPr>
          <p:cNvPr id="4" name="Picture 3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7DE0DF91-5BC1-0621-4E2F-80087AC14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38" y="168822"/>
            <a:ext cx="4103077" cy="10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5405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1DDD-2837-2F06-3938-99A9ED1DA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4D4A4-1DA0-41DE-33D4-7D34DCABF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E6774-84BA-5D10-9573-80AB21674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08681"/>
            <a:ext cx="11155680" cy="37673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1400" dirty="0">
                <a:latin typeface="Bierstadt"/>
                <a:ea typeface="Calibri"/>
                <a:cs typeface="Calibri"/>
              </a:rPr>
              <a:t>One onboard computer in the main satellite manages data handling, with a 64GB eMMC for buffering payload data prior to downlink.</a:t>
            </a: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The communication system has dedicated subsystems for downlink, telemetry and command, and inter-sat links.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Data Handling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Controlled by </a:t>
            </a:r>
            <a:r>
              <a:rPr lang="en-US" sz="1400" dirty="0"/>
              <a:t>STM32H723VET6 microcontroller.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Buffered on a SDINBDG4-64G-ZA3 eMMC.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Payload Downlink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Downlink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Telemetry &amp; Command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System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Inter-Sat Communication</a:t>
            </a:r>
          </a:p>
          <a:p>
            <a:pPr lvl="1"/>
            <a:r>
              <a:rPr lang="en-US" sz="1400">
                <a:latin typeface="Bierstadt"/>
                <a:ea typeface="Calibri"/>
                <a:cs typeface="Calibri"/>
              </a:rPr>
              <a:t>System</a:t>
            </a:r>
          </a:p>
          <a:p>
            <a:pPr lvl="1"/>
            <a:endParaRPr lang="en-US" sz="1400" dirty="0">
              <a:latin typeface="Bierstadt"/>
              <a:ea typeface="Calibri"/>
              <a:cs typeface="Calibri"/>
            </a:endParaRP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E6D4AEEB-DB8E-F994-0D5B-17DE16EA3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35ADC-BC7C-78F8-E57D-05D459293AD0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975F04-4B91-666F-69DB-04584D4B153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F8EDEC-93BC-E121-CA40-9EC2EA066D2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1C386-C1BF-1482-DDED-D1A12F0E2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12DE6-4D23-698E-E23D-88FDB8A0548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0DBF7-B88D-71C3-1ED2-616A23DE156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581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C66E8-30B1-7A8A-80F5-8E31C704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B1C14-F813-0542-072F-BEE89E4D3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21C9BFF6-5B8F-9368-222C-191C605A8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3E29AB-3A55-96B8-D643-7D4D184CEE3B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825C826-B380-9A4A-BE71-09F1659F92AA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10CE524-985D-A212-4CBE-D991CA1DE60F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A22233-1AAB-C5A7-CE99-8496CC926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B722C0-FCCC-60A9-1081-9D8C2DCC162E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CD2A7-08AE-26A6-AE84-79D127A82480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AE62062F-6DA5-FEFA-CE18-FC56ADC15D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1344024"/>
              </p:ext>
            </p:extLst>
          </p:nvPr>
        </p:nvGraphicFramePr>
        <p:xfrm>
          <a:off x="612775" y="1716088"/>
          <a:ext cx="10653708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96669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939637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2051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Spacecraft Communication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GATOR-SAT </a:t>
                      </a:r>
                      <a:r>
                        <a:rPr lang="en-US" sz="1050" dirty="0" err="1"/>
                        <a:t>SmallSat</a:t>
                      </a:r>
                      <a:r>
                        <a:rPr lang="en-US" sz="1050" dirty="0"/>
                        <a:t> shall be capable of transmitting and receiving data such as position, health, and desired mission data to and from Earth.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The S-Band antenna and transmitter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EAS 4700 Project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InterSat</a:t>
                      </a:r>
                      <a:r>
                        <a:rPr lang="en-US" sz="1400" dirty="0"/>
                        <a:t> Communication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GATOR-SAT </a:t>
                      </a:r>
                      <a:r>
                        <a:rPr lang="en-US" sz="1050" dirty="0" err="1"/>
                        <a:t>SmallSat</a:t>
                      </a:r>
                      <a:r>
                        <a:rPr lang="en-US" sz="1050" dirty="0"/>
                        <a:t> must be able to send commands and data between the two Sats.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An </a:t>
                      </a:r>
                      <a:r>
                        <a:rPr lang="en-US" sz="1600" dirty="0" err="1"/>
                        <a:t>InterSat</a:t>
                      </a:r>
                      <a:r>
                        <a:rPr lang="en-US" sz="1600" dirty="0"/>
                        <a:t> antennas and transceivers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COM-GTRS-03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 Reception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GATOR-Sat </a:t>
                      </a:r>
                      <a:r>
                        <a:rPr lang="en-US" sz="1050" dirty="0" err="1"/>
                        <a:t>SmallSat</a:t>
                      </a:r>
                      <a:r>
                        <a:rPr lang="en-US" sz="1050" dirty="0"/>
                        <a:t> shall provide continuous capability to receive ground commands and acknowledge receipt.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The S-Band transceiver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 progress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EAS 4700 Project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Allocation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GATOR-SAT </a:t>
                      </a:r>
                      <a:r>
                        <a:rPr lang="en-US" sz="1050" dirty="0" err="1"/>
                        <a:t>SmallSat</a:t>
                      </a:r>
                      <a:r>
                        <a:rPr lang="en-US" sz="1050" dirty="0"/>
                        <a:t> shall utilize frequency bands allocated for CubeSat Operations.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S-Band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COM-GTRS-05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Data Storage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have sufficient onboard storage capacity to preserve data until it can be downlinked.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Microcontroller and eMMC storage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375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38E7E-13FB-10B5-CA3C-FC5754B3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1489-289E-1B22-7DC2-D485BBEBD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Derived Requirements</a:t>
            </a:r>
            <a:endParaRPr lang="en-US" dirty="0"/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F798A9A5-36EF-B004-192C-4FB28AE31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000819-6E64-184F-73BF-CD6E0A7B6718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D9DAF19-741C-2FE8-2DD6-0DD25678C867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46E2994-DCCF-4011-33BB-2F1770E0E1A1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B0670-2369-BF90-550E-456C4CAE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10D935-00A0-36F6-B05A-A73F7B387750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1D8C5-5526-DC62-BD0B-8507E02330AB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271F74EB-B326-9FE5-BC22-4B90119789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1582667"/>
              </p:ext>
            </p:extLst>
          </p:nvPr>
        </p:nvGraphicFramePr>
        <p:xfrm>
          <a:off x="612775" y="1716088"/>
          <a:ext cx="10653708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Give 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Spacecraft Communication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should be able to transmit and receive data such as position, health, and desired mission data to and from earth.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S-Band antenna gives the transmitter and transceiver the ability to communicate with ground stations.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ASD-GTRS-02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EAS 4700 Project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InterSat</a:t>
                      </a:r>
                      <a:r>
                        <a:rPr lang="en-US" sz="1600" dirty="0"/>
                        <a:t> Communication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must be able to send commands and data between the two Sats.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UHF antennas on both Sats can send necessary data back and forth to one another.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COM-GTRS-03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COM-GTRS-01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Downlink Data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must be able to provide access to experimental data regularly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chose S-Band transceiver allows high data transfer which meets this requirement.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248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308" y="929"/>
            <a:ext cx="1147356" cy="10834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367392"/>
              </p:ext>
            </p:extLst>
          </p:nvPr>
        </p:nvGraphicFramePr>
        <p:xfrm>
          <a:off x="417390" y="1081087"/>
          <a:ext cx="11348677" cy="52157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99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5352142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50262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3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1269999">
                <a:tc>
                  <a:txBody>
                    <a:bodyPr/>
                    <a:lstStyle/>
                    <a:p>
                      <a:r>
                        <a:rPr lang="en-US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u="none" strike="noStrike" noProof="0" dirty="0">
                          <a:latin typeface="Arial"/>
                        </a:rPr>
                        <a:t>The GATOR-SAT </a:t>
                      </a:r>
                      <a:r>
                        <a:rPr lang="en-US" sz="1600" b="0" i="0" u="none" strike="noStrike" noProof="0" dirty="0" err="1">
                          <a:latin typeface="Arial"/>
                        </a:rPr>
                        <a:t>SmallSat</a:t>
                      </a:r>
                      <a:r>
                        <a:rPr lang="en-US" sz="1600" b="0" i="0" u="none" strike="noStrike" noProof="0" dirty="0">
                          <a:latin typeface="Arial"/>
                        </a:rPr>
                        <a:t> shall be capable of launching either as a Co-manifested Payload (CPL) or primary payload on a suitable government-owned or commercially owned launch vehicle that can accommodate </a:t>
                      </a:r>
                      <a:r>
                        <a:rPr lang="en-US" sz="1600" b="0" i="0" u="none" strike="noStrike" noProof="0" dirty="0" err="1">
                          <a:latin typeface="Arial"/>
                        </a:rPr>
                        <a:t>SmallSats</a:t>
                      </a:r>
                      <a:r>
                        <a:rPr lang="en-US" sz="1600" b="0" i="0" u="none" strike="noStrike" noProof="0" dirty="0">
                          <a:latin typeface="Arial"/>
                        </a:rPr>
                        <a:t>. </a:t>
                      </a:r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Demonstration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107042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0" i="0" u="none" strike="noStrike" noProof="0">
                        <a:latin typeface="Bierstadt 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6350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0771" y="108391"/>
            <a:ext cx="1245047" cy="123976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2625204"/>
              </p:ext>
            </p:extLst>
          </p:nvPr>
        </p:nvGraphicFramePr>
        <p:xfrm>
          <a:off x="524852" y="1481626"/>
          <a:ext cx="1134869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740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2910984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28494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29856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5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429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5597-48E0-39CE-96E2-48B1E9C01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BE6-A1D4-2CAA-AFD4-B6A4D2A7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Risk Template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46DCD64-63C8-1027-D4F4-BE290C136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5443843"/>
              </p:ext>
            </p:extLst>
          </p:nvPr>
        </p:nvGraphicFramePr>
        <p:xfrm>
          <a:off x="612775" y="1233716"/>
          <a:ext cx="7845420" cy="47558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5919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3029857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73147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653630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248453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</a:tblGrid>
              <a:tr h="498000">
                <a:tc>
                  <a:txBody>
                    <a:bodyPr/>
                    <a:lstStyle/>
                    <a:p>
                      <a:r>
                        <a:rPr lang="en-US"/>
                        <a:t>ID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Risk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Mitigation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57269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89102"/>
                  </a:ext>
                </a:extLst>
              </a:tr>
              <a:tr h="697199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186205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51909"/>
                  </a:ext>
                </a:extLst>
              </a:tr>
            </a:tbl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88AC2A4C-1C52-A648-BF43-EBF1F6905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D52CF4-166D-5969-4292-CD482F679CF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B1CA7B-0ABB-FE3A-A730-13EDEF268DB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06B15C-DD99-386F-8EB9-CEE1AEFF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8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92C1BA-4FFF-2662-0694-D0CC09927459}"/>
              </a:ext>
            </a:extLst>
          </p:cNvPr>
          <p:cNvGraphicFramePr>
            <a:graphicFrameLocks noGrp="1"/>
          </p:cNvGraphicFramePr>
          <p:nvPr/>
        </p:nvGraphicFramePr>
        <p:xfrm>
          <a:off x="8816932" y="1933974"/>
          <a:ext cx="2960542" cy="3355380"/>
        </p:xfrm>
        <a:graphic>
          <a:graphicData uri="http://schemas.openxmlformats.org/drawingml/2006/table">
            <a:tbl>
              <a:tblPr/>
              <a:tblGrid>
                <a:gridCol w="377941">
                  <a:extLst>
                    <a:ext uri="{9D8B030D-6E8A-4147-A177-3AD203B41FA5}">
                      <a16:colId xmlns:a16="http://schemas.microsoft.com/office/drawing/2014/main" val="1978657172"/>
                    </a:ext>
                  </a:extLst>
                </a:gridCol>
                <a:gridCol w="377941">
                  <a:extLst>
                    <a:ext uri="{9D8B030D-6E8A-4147-A177-3AD203B41FA5}">
                      <a16:colId xmlns:a16="http://schemas.microsoft.com/office/drawing/2014/main" val="1617462491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708921764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404409628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2246665092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912443700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217327975"/>
                    </a:ext>
                  </a:extLst>
                </a:gridCol>
              </a:tblGrid>
              <a:tr h="470348">
                <a:tc rowSpan="5"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LIKELIHOOD</a:t>
                      </a:r>
                    </a:p>
                  </a:txBody>
                  <a:tcPr marL="6350" marR="6350" marT="6350" vert="vert27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752489"/>
                  </a:ext>
                </a:extLst>
              </a:tr>
              <a:tr h="47034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133591"/>
                  </a:ext>
                </a:extLst>
              </a:tr>
              <a:tr h="54425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146828"/>
                  </a:ext>
                </a:extLst>
              </a:tr>
              <a:tr h="47706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447491"/>
                  </a:ext>
                </a:extLst>
              </a:tr>
              <a:tr h="55769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30609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08525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0140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36705E2-5BA0-A397-45B4-60EE875B01B0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C3D293-80EE-F84A-DCE7-7FC3B72A861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9F7E6-4CE4-92E0-522E-6491CD43F6C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7106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ero Design">
      <a:majorFont>
        <a:latin typeface="Bierstadt Bold"/>
        <a:ea typeface=""/>
        <a:cs typeface=""/>
      </a:majorFont>
      <a:minorFont>
        <a:latin typeface="Bierstadt "/>
        <a:ea typeface=""/>
        <a:cs typeface=""/>
      </a:minorFont>
    </a:fontScheme>
    <a:fmtScheme name="Vanilla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AACC6CF0-9F86-48CC-9C4E-CA578EE0A0A0}" vid="{3BDE51FE-56D6-4100-AFB5-5B4AEDCE2E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182</TotalTime>
  <Words>531</Words>
  <Application>Microsoft Macintosh PowerPoint</Application>
  <PresentationFormat>Widescreen</PresentationFormat>
  <Paragraphs>137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Bierstadt</vt:lpstr>
      <vt:lpstr>Bierstadt </vt:lpstr>
      <vt:lpstr>Bierstadt Bold</vt:lpstr>
      <vt:lpstr>Calibri</vt:lpstr>
      <vt:lpstr>VanillaVTI</vt:lpstr>
      <vt:lpstr>TANGO GATOR-SAT Project </vt:lpstr>
      <vt:lpstr>Communications </vt:lpstr>
      <vt:lpstr>System Overview</vt:lpstr>
      <vt:lpstr>Requirements</vt:lpstr>
      <vt:lpstr>Derived Requirements</vt:lpstr>
      <vt:lpstr>Requirements</vt:lpstr>
      <vt:lpstr>Requirements</vt:lpstr>
      <vt:lpstr>Risk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Noah Touchton</dc:creator>
  <cp:lastModifiedBy>Noah Touchton</cp:lastModifiedBy>
  <cp:revision>6</cp:revision>
  <dcterms:created xsi:type="dcterms:W3CDTF">2025-09-23T20:49:02Z</dcterms:created>
  <dcterms:modified xsi:type="dcterms:W3CDTF">2025-10-02T19:54:09Z</dcterms:modified>
</cp:coreProperties>
</file>