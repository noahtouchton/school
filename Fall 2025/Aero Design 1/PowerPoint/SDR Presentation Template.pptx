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17_CE0E17A4.xml" ContentType="application/vnd.ms-powerpoint.comments+xml"/>
  <Override PartName="/ppt/comments/modernComment_10F_43BB5419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2" r:id="rId3"/>
    <p:sldId id="267" r:id="rId4"/>
    <p:sldId id="278" r:id="rId5"/>
    <p:sldId id="279" r:id="rId6"/>
    <p:sldId id="280" r:id="rId7"/>
    <p:sldId id="281" r:id="rId8"/>
    <p:sldId id="282" r:id="rId9"/>
    <p:sldId id="273" r:id="rId10"/>
    <p:sldId id="274" r:id="rId11"/>
    <p:sldId id="275" r:id="rId12"/>
    <p:sldId id="276" r:id="rId13"/>
    <p:sldId id="283" r:id="rId14"/>
    <p:sldId id="284" r:id="rId15"/>
    <p:sldId id="271" r:id="rId16"/>
    <p:sldId id="270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38358B-D4DA-3BF5-FC61-C8B9053DA9E8}" name="Noah Touchton" initials="NT" userId="8efb8ab309629862" providerId="Windows Live"/>
  <p188:author id="{C9D694ED-FC33-40EA-AF97-62CA419D652F}" name="Camargo, Naomi" initials="CN" userId="S::anaomi.camargo@ufl.edu::06bc4c7e-40a3-4ed3-98c3-eb58ec8963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C9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95"/>
    <p:restoredTop sz="94573"/>
  </p:normalViewPr>
  <p:slideViewPr>
    <p:cSldViewPr snapToGrid="0">
      <p:cViewPr varScale="1">
        <p:scale>
          <a:sx n="111" d="100"/>
          <a:sy n="111" d="100"/>
        </p:scale>
        <p:origin x="160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modernComment_10F_43BB54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AA5F30-97BC-4ED3-93FE-79C40F58F8CA}" authorId="{C9D694ED-FC33-40EA-AF97-62CA419D652F}" created="2025-09-30T19:21:28.23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36350233" sldId="271"/>
      <ac:graphicFrameMk id="12" creationId="{4A9B0C3D-6086-3FAF-18AF-D65A3B83A526}"/>
      <ac:tblMk/>
      <ac:tcMk rowId="2334263199" colId="2473987835"/>
      <ac:txMk cp="0" len="13">
        <ac:context len="14" hash="147260756"/>
      </ac:txMk>
    </ac:txMkLst>
    <p188:pos x="9821333" y="973666"/>
    <p188:txBody>
      <a:bodyPr/>
      <a:lstStyle/>
      <a:p>
        <a:r>
          <a:rPr lang="en-US"/>
          <a:t>Example Format</a:t>
        </a:r>
      </a:p>
    </p188:txBody>
  </p188:cm>
</p188:cmLst>
</file>

<file path=ppt/comments/modernComment_117_CE0E17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2F5C3B-D78F-B644-840F-15328616AF92}" authorId="{1738358B-D4DA-3BF5-FC61-C8B9053DA9E8}" created="2025-10-02T22:05:09.9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57030052" sldId="279"/>
      <ac:graphicFrameMk id="12" creationId="{FBA8BBE2-2343-766C-1793-DC5519F3512C}"/>
    </ac:deMkLst>
    <p188:txBody>
      <a:bodyPr/>
      <a:lstStyle/>
      <a:p>
        <a:r>
          <a:rPr lang="en-US"/>
          <a:t>change this number when accounting for engineering data.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18A7C-2B12-8D14-563D-9DCB36C2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C884CD-E564-1556-AC37-875E5E15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7705BF-59F9-7D3A-4871-157F5B6C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65885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83890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54458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60793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10/2/25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30153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10/2/25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43976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10/2/25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6439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33672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27182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93876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95366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22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17_CE0E17A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F_43BB541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emium Photo | Globe view of Planet Earth from space Shows the earth's ...">
            <a:extLst>
              <a:ext uri="{FF2B5EF4-FFF2-40B4-BE49-F238E27FC236}">
                <a16:creationId xmlns:a16="http://schemas.microsoft.com/office/drawing/2014/main" id="{0C6812E7-DFBA-EBB4-9F52-92085382EA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444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8318" y="432497"/>
            <a:ext cx="9014269" cy="975396"/>
          </a:xfrm>
        </p:spPr>
        <p:txBody>
          <a:bodyPr anchor="t">
            <a:normAutofit fontScale="90000"/>
          </a:bodyPr>
          <a:lstStyle/>
          <a:p>
            <a:r>
              <a:rPr lang="en-US" sz="6000">
                <a:solidFill>
                  <a:srgbClr val="FFFFFF"/>
                </a:solidFill>
                <a:latin typeface="Bierstadt"/>
              </a:rPr>
              <a:t>TANGO GATOR-SAT Project</a:t>
            </a:r>
            <a:br>
              <a:rPr lang="en-US" sz="6000">
                <a:latin typeface="Bierstadt"/>
              </a:rPr>
            </a:br>
            <a:endParaRPr lang="en-US" sz="6000">
              <a:solidFill>
                <a:srgbClr val="FFFFFF"/>
              </a:solidFill>
              <a:latin typeface="Bierstad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52974" y="1411703"/>
            <a:ext cx="3300696" cy="1348716"/>
          </a:xfrm>
        </p:spPr>
        <p:txBody>
          <a:bodyPr anchor="t">
            <a:normAutofit/>
          </a:bodyPr>
          <a:lstStyle/>
          <a:p>
            <a:r>
              <a:rPr lang="en-US" sz="2400" i="0">
                <a:solidFill>
                  <a:srgbClr val="FFFFFF"/>
                </a:solidFill>
                <a:latin typeface="Bierstadt"/>
              </a:rPr>
              <a:t>System Design Review</a:t>
            </a:r>
          </a:p>
          <a:p>
            <a:endParaRPr lang="en-US" sz="2400" i="0">
              <a:solidFill>
                <a:srgbClr val="FFFFFF"/>
              </a:solidFill>
              <a:latin typeface="Bierstadt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3C06EBE-E9C3-444A-210C-EBACF003A901}"/>
              </a:ext>
            </a:extLst>
          </p:cNvPr>
          <p:cNvSpPr txBox="1">
            <a:spLocks/>
          </p:cNvSpPr>
          <p:nvPr/>
        </p:nvSpPr>
        <p:spPr>
          <a:xfrm>
            <a:off x="920479" y="5135267"/>
            <a:ext cx="10363411" cy="17240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0">
                <a:solidFill>
                  <a:srgbClr val="FFFFFF"/>
                </a:solidFill>
                <a:latin typeface="Bierstadt"/>
              </a:rPr>
              <a:t>Naomi Camargo, </a:t>
            </a:r>
            <a:r>
              <a:rPr lang="en-US" sz="2400" i="0" err="1">
                <a:solidFill>
                  <a:srgbClr val="FFFFFF"/>
                </a:solidFill>
                <a:latin typeface="Bierstadt"/>
              </a:rPr>
              <a:t>Shadalou</a:t>
            </a:r>
            <a:r>
              <a:rPr lang="en-US" sz="2400" i="0">
                <a:solidFill>
                  <a:srgbClr val="FFFFFF"/>
                </a:solidFill>
                <a:latin typeface="Bierstadt"/>
              </a:rPr>
              <a:t> Fernandez, Andre Hada, Nicholas Hirsh, Nicholas Kottas, Dhruv Mathuria, Nishtha Rajani, Noah Touchton, Ian Truelsegaard</a:t>
            </a:r>
            <a:endParaRPr lang="en-US">
              <a:solidFill>
                <a:srgbClr val="FFFFFF"/>
              </a:solidFill>
              <a:latin typeface="Bierstadt"/>
            </a:endParaRPr>
          </a:p>
          <a:p>
            <a:pPr algn="ctr"/>
            <a:r>
              <a:rPr lang="en-US" i="0">
                <a:latin typeface="Bierstadt"/>
              </a:rPr>
              <a:t>University of Florida – EAS4700  - October 9th, 2025</a:t>
            </a:r>
            <a:endParaRPr lang="en-US">
              <a:latin typeface="Bierstadt"/>
            </a:endParaRPr>
          </a:p>
        </p:txBody>
      </p:sp>
      <p:pic>
        <p:nvPicPr>
          <p:cNvPr id="6" name="Picture 5" descr="A logo of a planet&#10;&#10;AI-generated content may be incorrect.">
            <a:extLst>
              <a:ext uri="{FF2B5EF4-FFF2-40B4-BE49-F238E27FC236}">
                <a16:creationId xmlns:a16="http://schemas.microsoft.com/office/drawing/2014/main" id="{482A37D7-B211-E317-6F3D-B5EF854A0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224" y="1944077"/>
            <a:ext cx="2999322" cy="296984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AFBF62-DAFC-98A8-A6DC-DAE8EE2E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80926-DADE-7FD2-0802-1D75C28AA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emium Photo | Globe view of Planet Earth from space Shows the earth's ...">
            <a:extLst>
              <a:ext uri="{FF2B5EF4-FFF2-40B4-BE49-F238E27FC236}">
                <a16:creationId xmlns:a16="http://schemas.microsoft.com/office/drawing/2014/main" id="{75C04BA0-6172-125A-4182-389C879964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444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C9915F-44FE-A6E5-82B5-5D023366B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3165" y="2454728"/>
            <a:ext cx="9014269" cy="975396"/>
          </a:xfrm>
        </p:spPr>
        <p:txBody>
          <a:bodyPr anchor="t">
            <a:normAutofit fontScale="90000"/>
          </a:bodyPr>
          <a:lstStyle/>
          <a:p>
            <a:r>
              <a:rPr lang="en-US" sz="6000" dirty="0">
                <a:solidFill>
                  <a:srgbClr val="FFFFFF"/>
                </a:solidFill>
                <a:latin typeface="Bierstadt"/>
              </a:rPr>
              <a:t>Communications</a:t>
            </a:r>
            <a:br>
              <a:rPr lang="en-US" sz="6000" dirty="0">
                <a:latin typeface="Bierstadt"/>
              </a:rPr>
            </a:br>
            <a:endParaRPr lang="en-US" sz="6000" dirty="0">
              <a:latin typeface="Bierstad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A4F2D-8B1D-5F28-0BB9-88DD5046C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7821" y="3433933"/>
            <a:ext cx="3300696" cy="1348716"/>
          </a:xfrm>
        </p:spPr>
        <p:txBody>
          <a:bodyPr anchor="t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Bierstadt"/>
              </a:rPr>
              <a:t>Noah Touchton</a:t>
            </a:r>
            <a:endParaRPr lang="en-US" sz="2800" i="0" dirty="0">
              <a:solidFill>
                <a:srgbClr val="FFFFFF"/>
              </a:solidFill>
              <a:latin typeface="Bierstadt"/>
            </a:endParaRPr>
          </a:p>
          <a:p>
            <a:endParaRPr lang="en-US" sz="2400" i="0" dirty="0">
              <a:solidFill>
                <a:srgbClr val="FFFFFF"/>
              </a:solidFill>
              <a:latin typeface="Bierstadt"/>
            </a:endParaRPr>
          </a:p>
        </p:txBody>
      </p:sp>
      <p:pic>
        <p:nvPicPr>
          <p:cNvPr id="6" name="Picture 5" descr="A logo of a planet&#10;&#10;AI-generated content may be incorrect.">
            <a:extLst>
              <a:ext uri="{FF2B5EF4-FFF2-40B4-BE49-F238E27FC236}">
                <a16:creationId xmlns:a16="http://schemas.microsoft.com/office/drawing/2014/main" id="{8F7B27B6-1DC6-F11D-4D99-5F030A363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399" y="168402"/>
            <a:ext cx="1672568" cy="158215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93B5F8-1909-5B8D-036E-75207B5B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2</a:t>
            </a:fld>
            <a:endParaRPr lang="en-US"/>
          </a:p>
        </p:txBody>
      </p:sp>
      <p:pic>
        <p:nvPicPr>
          <p:cNvPr id="4" name="Picture 3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7DE0DF91-5BC1-0621-4E2F-80087AC14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538" y="168822"/>
            <a:ext cx="4103077" cy="100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40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31DDD-2837-2F06-3938-99A9ED1DA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D4A4-1DA0-41DE-33D4-7D34DCABF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3497"/>
            <a:ext cx="10653578" cy="1132258"/>
          </a:xfrm>
        </p:spPr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E6774-84BA-5D10-9573-80AB21674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08681"/>
            <a:ext cx="11155680" cy="376732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400" dirty="0">
                <a:latin typeface="Bierstadt"/>
                <a:ea typeface="Calibri"/>
                <a:cs typeface="Calibri"/>
              </a:rPr>
              <a:t>One onboard computer in the main satellite manages data handling, with a 64GB eMMC for buffering payload data prior to downlink.</a:t>
            </a:r>
          </a:p>
          <a:p>
            <a:r>
              <a:rPr lang="en-US" sz="1400" dirty="0">
                <a:latin typeface="Bierstadt"/>
                <a:ea typeface="Calibri"/>
                <a:cs typeface="Calibri"/>
              </a:rPr>
              <a:t>The communication system has dedicated subsystems for downlink, telemetry and command, and inter-sat links.</a:t>
            </a:r>
          </a:p>
          <a:p>
            <a:r>
              <a:rPr lang="en-US" sz="1600" dirty="0">
                <a:latin typeface="Bierstadt"/>
                <a:ea typeface="Calibri"/>
                <a:cs typeface="Calibri"/>
              </a:rPr>
              <a:t>Data Handling</a:t>
            </a:r>
          </a:p>
          <a:p>
            <a:pPr lvl="1"/>
            <a:r>
              <a:rPr lang="en-US" sz="1400" dirty="0">
                <a:latin typeface="Bierstadt"/>
                <a:ea typeface="Calibri"/>
                <a:cs typeface="Calibri"/>
              </a:rPr>
              <a:t>Controlled by </a:t>
            </a:r>
            <a:r>
              <a:rPr lang="en-US" sz="1400" dirty="0"/>
              <a:t>STM32H723VET6 microcontroller.</a:t>
            </a:r>
          </a:p>
          <a:p>
            <a:pPr lvl="1"/>
            <a:r>
              <a:rPr lang="en-US" sz="1400" dirty="0">
                <a:latin typeface="Bierstadt"/>
                <a:ea typeface="Calibri"/>
                <a:cs typeface="Calibri"/>
              </a:rPr>
              <a:t>Buffered on a SDINBDG4-64G-ZA3 eMMC.</a:t>
            </a:r>
          </a:p>
          <a:p>
            <a:r>
              <a:rPr lang="en-US" sz="1600" dirty="0">
                <a:latin typeface="Bierstadt"/>
                <a:ea typeface="Calibri"/>
                <a:cs typeface="Calibri"/>
              </a:rPr>
              <a:t>Payload Downlink</a:t>
            </a:r>
          </a:p>
          <a:p>
            <a:pPr lvl="1"/>
            <a:r>
              <a:rPr lang="en-US" sz="1400" dirty="0">
                <a:latin typeface="Bierstadt"/>
                <a:ea typeface="Calibri"/>
                <a:cs typeface="Calibri"/>
              </a:rPr>
              <a:t>Downlink</a:t>
            </a:r>
          </a:p>
          <a:p>
            <a:r>
              <a:rPr lang="en-US" sz="1600" dirty="0">
                <a:latin typeface="Bierstadt"/>
                <a:ea typeface="Calibri"/>
                <a:cs typeface="Calibri"/>
              </a:rPr>
              <a:t>Telemetry &amp; Command</a:t>
            </a:r>
          </a:p>
          <a:p>
            <a:pPr lvl="1"/>
            <a:r>
              <a:rPr lang="en-US" sz="1400" dirty="0">
                <a:latin typeface="Bierstadt"/>
                <a:ea typeface="Calibri"/>
                <a:cs typeface="Calibri"/>
              </a:rPr>
              <a:t>System</a:t>
            </a:r>
          </a:p>
          <a:p>
            <a:r>
              <a:rPr lang="en-US" sz="1600" dirty="0">
                <a:latin typeface="Bierstadt"/>
                <a:ea typeface="Calibri"/>
                <a:cs typeface="Calibri"/>
              </a:rPr>
              <a:t>Inter-Sat Communication</a:t>
            </a:r>
          </a:p>
          <a:p>
            <a:pPr lvl="1"/>
            <a:r>
              <a:rPr lang="en-US" sz="1400">
                <a:latin typeface="Bierstadt"/>
                <a:ea typeface="Calibri"/>
                <a:cs typeface="Calibri"/>
              </a:rPr>
              <a:t>System</a:t>
            </a:r>
          </a:p>
          <a:p>
            <a:pPr lvl="1"/>
            <a:endParaRPr lang="en-US" sz="1400" dirty="0">
              <a:latin typeface="Bierstadt"/>
              <a:ea typeface="Calibri"/>
              <a:cs typeface="Calibri"/>
            </a:endParaRP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E6D4AEEB-DB8E-F994-0D5B-17DE16EA3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40" y="196315"/>
            <a:ext cx="1293894" cy="12886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B35ADC-BC7C-78F8-E57D-05D459293AD0}"/>
              </a:ext>
            </a:extLst>
          </p:cNvPr>
          <p:cNvCxnSpPr/>
          <p:nvPr/>
        </p:nvCxnSpPr>
        <p:spPr>
          <a:xfrm flipV="1">
            <a:off x="526142" y="1094617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975F04-4B91-666F-69DB-04584D4B1539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  <a:latin typeface="Bierstadt"/>
              </a:rPr>
              <a:t>Noah Touchton – </a:t>
            </a:r>
            <a:r>
              <a:rPr lang="en-US" b="1">
                <a:solidFill>
                  <a:schemeClr val="bg1">
                    <a:lumMod val="49000"/>
                  </a:schemeClr>
                </a:solidFill>
                <a:latin typeface="Bierstadt"/>
              </a:rPr>
              <a:t>ntouchton@ufl.edu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0F8EDEC-93BC-E121-CA40-9EC2EA066D25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1C386-C1BF-1482-DDED-D1A12F0E2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12DE6-4D23-698E-E23D-88FDB8A0548C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0DBF7-B88D-71C3-1ED2-616A23DE1562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58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B7A2E-13B2-97F2-1FC1-86BC9C0DD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F3F16-FD47-F8AF-2E57-9EDEB3487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3497"/>
            <a:ext cx="10653578" cy="1132258"/>
          </a:xfrm>
        </p:spPr>
        <p:txBody>
          <a:bodyPr/>
          <a:lstStyle/>
          <a:p>
            <a:r>
              <a:rPr lang="en-US" dirty="0"/>
              <a:t>Requirements</a:t>
            </a: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6B82A333-B516-A601-6EBE-6F263D17F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40" y="196315"/>
            <a:ext cx="1293894" cy="12886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D03C87-692C-960D-9D00-8350949FFF66}"/>
              </a:ext>
            </a:extLst>
          </p:cNvPr>
          <p:cNvCxnSpPr/>
          <p:nvPr/>
        </p:nvCxnSpPr>
        <p:spPr>
          <a:xfrm flipV="1">
            <a:off x="526142" y="1094617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5FE356-3806-AA83-1ADB-87CEAB059C2A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  <a:latin typeface="Bierstadt"/>
              </a:rPr>
              <a:t>Noah Touchton – </a:t>
            </a:r>
            <a:r>
              <a:rPr lang="en-US" b="1" dirty="0" err="1">
                <a:solidFill>
                  <a:schemeClr val="bg1">
                    <a:lumMod val="49000"/>
                  </a:schemeClr>
                </a:solidFill>
                <a:latin typeface="Bierstadt"/>
              </a:rPr>
              <a:t>ntouchton@ufl.edu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B5E840E-B333-0697-D9B4-B6040F3A6CF5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6FC90-757C-B671-9F2C-D098C56B0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F350A2-635D-08F5-6707-909431252937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0A452-2A0C-C38B-DDAD-F072F8AE87E6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7101C6CB-413A-3D44-6902-6DF8C53D4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165277"/>
              </p:ext>
            </p:extLst>
          </p:nvPr>
        </p:nvGraphicFramePr>
        <p:xfrm>
          <a:off x="612775" y="1716088"/>
          <a:ext cx="1065370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618">
                  <a:extLst>
                    <a:ext uri="{9D8B030D-6E8A-4147-A177-3AD203B41FA5}">
                      <a16:colId xmlns:a16="http://schemas.microsoft.com/office/drawing/2014/main" val="3098987667"/>
                    </a:ext>
                  </a:extLst>
                </a:gridCol>
                <a:gridCol w="1775618">
                  <a:extLst>
                    <a:ext uri="{9D8B030D-6E8A-4147-A177-3AD203B41FA5}">
                      <a16:colId xmlns:a16="http://schemas.microsoft.com/office/drawing/2014/main" val="3687653135"/>
                    </a:ext>
                  </a:extLst>
                </a:gridCol>
                <a:gridCol w="1775618">
                  <a:extLst>
                    <a:ext uri="{9D8B030D-6E8A-4147-A177-3AD203B41FA5}">
                      <a16:colId xmlns:a16="http://schemas.microsoft.com/office/drawing/2014/main" val="908228730"/>
                    </a:ext>
                  </a:extLst>
                </a:gridCol>
                <a:gridCol w="1966698">
                  <a:extLst>
                    <a:ext uri="{9D8B030D-6E8A-4147-A177-3AD203B41FA5}">
                      <a16:colId xmlns:a16="http://schemas.microsoft.com/office/drawing/2014/main" val="3533606866"/>
                    </a:ext>
                  </a:extLst>
                </a:gridCol>
                <a:gridCol w="1939637">
                  <a:extLst>
                    <a:ext uri="{9D8B030D-6E8A-4147-A177-3AD203B41FA5}">
                      <a16:colId xmlns:a16="http://schemas.microsoft.com/office/drawing/2014/main" val="2473987835"/>
                    </a:ext>
                  </a:extLst>
                </a:gridCol>
                <a:gridCol w="1420519">
                  <a:extLst>
                    <a:ext uri="{9D8B030D-6E8A-4147-A177-3AD203B41FA5}">
                      <a16:colId xmlns:a16="http://schemas.microsoft.com/office/drawing/2014/main" val="330848909"/>
                    </a:ext>
                  </a:extLst>
                </a:gridCol>
              </a:tblGrid>
              <a:tr h="268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Supported By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030238"/>
                  </a:ext>
                </a:extLst>
              </a:tr>
              <a:tr h="10085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ASD-GTRS-020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EAS 4700 Project Requirements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Communication System Capability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 GATOR-SAT </a:t>
                      </a:r>
                      <a:r>
                        <a:rPr lang="en-US" sz="105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SmallSat</a:t>
                      </a:r>
                      <a:r>
                        <a:rPr lang="en-US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shall be able to receive commands and transmit image,</a:t>
                      </a:r>
                      <a:br>
                        <a:rPr lang="en-US" sz="1050" dirty="0"/>
                      </a:br>
                      <a:r>
                        <a:rPr lang="en-US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health, and status data directly to Earth ground stations within sight of the spacecraft</a:t>
                      </a:r>
                      <a:br>
                        <a:rPr lang="en-US" sz="1050" dirty="0"/>
                      </a:br>
                      <a:r>
                        <a:rPr lang="en-US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along its orbital path.</a:t>
                      </a:r>
                      <a:endParaRPr lang="en-US" sz="105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The S-Band antenna and transmitter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Complete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263199"/>
                  </a:ext>
                </a:extLst>
              </a:tr>
              <a:tr h="10085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ASD-GTRS-018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EAS 4700 Project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Maximum Mission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GATOR-SAT </a:t>
                      </a:r>
                      <a:r>
                        <a:rPr lang="en-US" sz="105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SmallSat</a:t>
                      </a:r>
                      <a:r>
                        <a:rPr lang="en-US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shall have sufficient fuel to support observation operations</a:t>
                      </a:r>
                      <a:br>
                        <a:rPr lang="en-US" sz="1050" dirty="0"/>
                      </a:br>
                      <a:r>
                        <a:rPr lang="en-US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maintain the orbit for six months, not including transit time to/from the target orbit</a:t>
                      </a:r>
                      <a:br>
                        <a:rPr lang="en-US" sz="1050" dirty="0"/>
                      </a:br>
                      <a:r>
                        <a:rPr lang="en-US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the initial proof-of-concept mission.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19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61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268D4-57CF-29C7-A197-514E3848B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EB924-D940-ABA0-A76B-E76F73B9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3497"/>
            <a:ext cx="10653578" cy="1132258"/>
          </a:xfrm>
        </p:spPr>
        <p:txBody>
          <a:bodyPr/>
          <a:lstStyle/>
          <a:p>
            <a:r>
              <a:rPr lang="en-US" dirty="0"/>
              <a:t>Derived Requirements</a:t>
            </a: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2FAA98FB-2720-11D9-403D-E42CDD673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540" y="196315"/>
            <a:ext cx="1293894" cy="12886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5C7C5F-6F10-C41D-57B0-5C64B6E7D38D}"/>
              </a:ext>
            </a:extLst>
          </p:cNvPr>
          <p:cNvCxnSpPr/>
          <p:nvPr/>
        </p:nvCxnSpPr>
        <p:spPr>
          <a:xfrm flipV="1">
            <a:off x="526142" y="1094617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EE36B08-C224-87FD-63B4-5E2E20A6F358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  <a:latin typeface="Bierstadt"/>
              </a:rPr>
              <a:t>Noah Touchton – </a:t>
            </a:r>
            <a:r>
              <a:rPr lang="en-US" b="1" dirty="0" err="1">
                <a:solidFill>
                  <a:schemeClr val="bg1">
                    <a:lumMod val="49000"/>
                  </a:schemeClr>
                </a:solidFill>
                <a:latin typeface="Bierstadt"/>
              </a:rPr>
              <a:t>ntouchton@ufl.edu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5030FF6-C711-7321-F09B-66F546198C81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D8CF2-C532-36BE-1959-A9F8040E2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352554-79AA-F5FA-6802-C74E6D439749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A2047-3DA5-6DEE-12FD-78EC172CC0D1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FBA8BBE2-2343-766C-1793-DC5519F351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4905958"/>
              </p:ext>
            </p:extLst>
          </p:nvPr>
        </p:nvGraphicFramePr>
        <p:xfrm>
          <a:off x="612775" y="1716088"/>
          <a:ext cx="1065370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618">
                  <a:extLst>
                    <a:ext uri="{9D8B030D-6E8A-4147-A177-3AD203B41FA5}">
                      <a16:colId xmlns:a16="http://schemas.microsoft.com/office/drawing/2014/main" val="3098987667"/>
                    </a:ext>
                  </a:extLst>
                </a:gridCol>
                <a:gridCol w="1775618">
                  <a:extLst>
                    <a:ext uri="{9D8B030D-6E8A-4147-A177-3AD203B41FA5}">
                      <a16:colId xmlns:a16="http://schemas.microsoft.com/office/drawing/2014/main" val="3687653135"/>
                    </a:ext>
                  </a:extLst>
                </a:gridCol>
                <a:gridCol w="1775618">
                  <a:extLst>
                    <a:ext uri="{9D8B030D-6E8A-4147-A177-3AD203B41FA5}">
                      <a16:colId xmlns:a16="http://schemas.microsoft.com/office/drawing/2014/main" val="908228730"/>
                    </a:ext>
                  </a:extLst>
                </a:gridCol>
                <a:gridCol w="1966698">
                  <a:extLst>
                    <a:ext uri="{9D8B030D-6E8A-4147-A177-3AD203B41FA5}">
                      <a16:colId xmlns:a16="http://schemas.microsoft.com/office/drawing/2014/main" val="3533606866"/>
                    </a:ext>
                  </a:extLst>
                </a:gridCol>
                <a:gridCol w="1939637">
                  <a:extLst>
                    <a:ext uri="{9D8B030D-6E8A-4147-A177-3AD203B41FA5}">
                      <a16:colId xmlns:a16="http://schemas.microsoft.com/office/drawing/2014/main" val="2473987835"/>
                    </a:ext>
                  </a:extLst>
                </a:gridCol>
                <a:gridCol w="1420519">
                  <a:extLst>
                    <a:ext uri="{9D8B030D-6E8A-4147-A177-3AD203B41FA5}">
                      <a16:colId xmlns:a16="http://schemas.microsoft.com/office/drawing/2014/main" val="330848909"/>
                    </a:ext>
                  </a:extLst>
                </a:gridCol>
              </a:tblGrid>
              <a:tr h="3630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Supported By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030238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COM-GTRS-01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ASD-GTRS-020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Downlink Data System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The spacecraft shall provide access to payload and housekeeping data through a high-rate S-Band link.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263199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COM-GTRS-02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ASD-GTRS-020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 Buffering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T</a:t>
                      </a:r>
                      <a:r>
                        <a:rPr lang="en-US" sz="1050" b="0" dirty="0"/>
                        <a:t>he spacecraft shall store ≥7 days (≈2 GB) of data in case of missed passes.</a:t>
                      </a:r>
                    </a:p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19692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COM-GTRS-03</a:t>
                      </a:r>
                    </a:p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ASD-GTRS-020</a:t>
                      </a:r>
                    </a:p>
                    <a:p>
                      <a:pPr algn="ctr"/>
                      <a:endParaRPr lang="en-US" sz="180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/>
                        <a:t>InterSat</a:t>
                      </a:r>
                      <a:r>
                        <a:rPr lang="en-US" sz="1400" b="0" dirty="0"/>
                        <a:t> Crosslink Rate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The spacecraft shall support intersatellite communications at ≥100 kbps, enabling data relay and coordination.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82230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COM-GTRS-04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ASD-GTRS-020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TT&amp;C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The spacecraft shall maintain a continuous S-Band TT&amp;C link at ≥9.6 kbps for health/status telemetry and command reception.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41077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COM-GTRS-05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COM-GTRS-01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Daily Data Volume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The spacecraft shall downlink at least </a:t>
                      </a:r>
                      <a:r>
                        <a:rPr lang="en-US" sz="1050" b="0" dirty="0">
                          <a:solidFill>
                            <a:srgbClr val="FF0000"/>
                          </a:solidFill>
                        </a:rPr>
                        <a:t>288 MB </a:t>
                      </a:r>
                      <a:r>
                        <a:rPr lang="en-US" sz="1050" b="0" dirty="0"/>
                        <a:t>per day to satisfy payload science return.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53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0300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29625-08D8-8E9A-1208-4FB47A537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000DC-BE20-F554-3BFE-70F304B7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3497"/>
            <a:ext cx="10653578" cy="1132258"/>
          </a:xfrm>
        </p:spPr>
        <p:txBody>
          <a:bodyPr/>
          <a:lstStyle/>
          <a:p>
            <a:r>
              <a:rPr lang="en-US" dirty="0"/>
              <a:t>Derived Requirements</a:t>
            </a: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164337FB-E5EE-36D1-7F3C-30A89B72F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40" y="196315"/>
            <a:ext cx="1293894" cy="12886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C9ACEC-2B76-DFE9-91B9-3DBC21F966F5}"/>
              </a:ext>
            </a:extLst>
          </p:cNvPr>
          <p:cNvCxnSpPr/>
          <p:nvPr/>
        </p:nvCxnSpPr>
        <p:spPr>
          <a:xfrm flipV="1">
            <a:off x="526142" y="1094617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466BD21-DD39-E80C-27CC-42058527C1BF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  <a:latin typeface="Bierstadt"/>
              </a:rPr>
              <a:t>Noah Touchton – </a:t>
            </a:r>
            <a:r>
              <a:rPr lang="en-US" b="1" dirty="0" err="1">
                <a:solidFill>
                  <a:schemeClr val="bg1">
                    <a:lumMod val="49000"/>
                  </a:schemeClr>
                </a:solidFill>
                <a:latin typeface="Bierstadt"/>
              </a:rPr>
              <a:t>ntouchton@ufl.edu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A6F1462-C6C4-7E0E-D87A-84D035E0DD77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28323-ADF8-F4F5-CCA6-3518C5C9E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45BD2-F777-174F-B761-6B07BA78C390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D49F08-1916-EB2C-0832-375094C90459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6D940E9E-730B-781D-3F4C-EE49FF8429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5994211"/>
              </p:ext>
            </p:extLst>
          </p:nvPr>
        </p:nvGraphicFramePr>
        <p:xfrm>
          <a:off x="603779" y="1506858"/>
          <a:ext cx="10653708" cy="4823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618">
                  <a:extLst>
                    <a:ext uri="{9D8B030D-6E8A-4147-A177-3AD203B41FA5}">
                      <a16:colId xmlns:a16="http://schemas.microsoft.com/office/drawing/2014/main" val="3098987667"/>
                    </a:ext>
                  </a:extLst>
                </a:gridCol>
                <a:gridCol w="1775618">
                  <a:extLst>
                    <a:ext uri="{9D8B030D-6E8A-4147-A177-3AD203B41FA5}">
                      <a16:colId xmlns:a16="http://schemas.microsoft.com/office/drawing/2014/main" val="3687653135"/>
                    </a:ext>
                  </a:extLst>
                </a:gridCol>
                <a:gridCol w="1775618">
                  <a:extLst>
                    <a:ext uri="{9D8B030D-6E8A-4147-A177-3AD203B41FA5}">
                      <a16:colId xmlns:a16="http://schemas.microsoft.com/office/drawing/2014/main" val="908228730"/>
                    </a:ext>
                  </a:extLst>
                </a:gridCol>
                <a:gridCol w="1966698">
                  <a:extLst>
                    <a:ext uri="{9D8B030D-6E8A-4147-A177-3AD203B41FA5}">
                      <a16:colId xmlns:a16="http://schemas.microsoft.com/office/drawing/2014/main" val="3533606866"/>
                    </a:ext>
                  </a:extLst>
                </a:gridCol>
                <a:gridCol w="1939637">
                  <a:extLst>
                    <a:ext uri="{9D8B030D-6E8A-4147-A177-3AD203B41FA5}">
                      <a16:colId xmlns:a16="http://schemas.microsoft.com/office/drawing/2014/main" val="2473987835"/>
                    </a:ext>
                  </a:extLst>
                </a:gridCol>
                <a:gridCol w="1420519">
                  <a:extLst>
                    <a:ext uri="{9D8B030D-6E8A-4147-A177-3AD203B41FA5}">
                      <a16:colId xmlns:a16="http://schemas.microsoft.com/office/drawing/2014/main" val="330848909"/>
                    </a:ext>
                  </a:extLst>
                </a:gridCol>
              </a:tblGrid>
              <a:tr h="3630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Supported By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030238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COM-GTRS-06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COM-GTRS-01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Downlink Rate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The S-Band transmitter shall support a downlink rate sufficient to clear the required </a:t>
                      </a:r>
                      <a:r>
                        <a:rPr lang="en-US" sz="1050" dirty="0">
                          <a:solidFill>
                            <a:srgbClr val="FF0000"/>
                          </a:solidFill>
                        </a:rPr>
                        <a:t>288 MB </a:t>
                      </a:r>
                      <a:r>
                        <a:rPr lang="en-US" sz="1050" dirty="0"/>
                        <a:t>within available ground station passes ,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263199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COM-GTRS-07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COM-GTRS-01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Ground Contact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The spacecraft shall transmit stored data during at least 2 ground station passes per day, leaving one additional pass margin.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19692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COM-GTRS-08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ASD-GTRS-018</a:t>
                      </a:r>
                    </a:p>
                    <a:p>
                      <a:pPr algn="ctr"/>
                      <a:endParaRPr lang="en-US" sz="180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Lifetime Operations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The communications subsystem shall maintain functional capability for at least six months without hardware degradation that prevents required data return.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82230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COM-GTRS-09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COM-GTRS-01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Link Redundancy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The comms subsystem shall include two independent paths: a high-rate downlink (PULSAR-STX) and a low-rate TT&amp;C fallback (AX100).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41077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COM-GTRS-10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COM-GTRS-01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Frequency Allocation Compliance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The S-Band system shall operate strictly within the 2.0–2.3 GHz CubeSat allocation to ensure regulatory compliance.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53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987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F5653-92F1-836B-8E36-06C7D927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EA572-7A2B-775C-C9C1-BB41107D3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3497"/>
            <a:ext cx="10653578" cy="1132258"/>
          </a:xfrm>
        </p:spPr>
        <p:txBody>
          <a:bodyPr/>
          <a:lstStyle/>
          <a:p>
            <a:r>
              <a:rPr lang="en-US" dirty="0"/>
              <a:t>Derived Requirements</a:t>
            </a: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13536156-B507-4765-1A85-496EED6E8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40" y="196315"/>
            <a:ext cx="1293894" cy="12886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EEF96F-9EBF-E346-53EA-C011D9D68A34}"/>
              </a:ext>
            </a:extLst>
          </p:cNvPr>
          <p:cNvCxnSpPr/>
          <p:nvPr/>
        </p:nvCxnSpPr>
        <p:spPr>
          <a:xfrm flipV="1">
            <a:off x="526142" y="1094617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DDFDF9-148F-1FF6-0383-7E5D9B05517A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  <a:latin typeface="Bierstadt"/>
              </a:rPr>
              <a:t>Noah Touchton – </a:t>
            </a:r>
            <a:r>
              <a:rPr lang="en-US" b="1" dirty="0" err="1">
                <a:solidFill>
                  <a:schemeClr val="bg1">
                    <a:lumMod val="49000"/>
                  </a:schemeClr>
                </a:solidFill>
                <a:latin typeface="Bierstadt"/>
              </a:rPr>
              <a:t>ntouchton@ufl.edu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1F673DC-1DE4-424C-CC92-BD4E890DDA83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084B7-F8DE-C85E-E3E6-B72A66FC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2D8523-B2AE-04A6-1618-3D46E631B9F6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51357-9568-F596-077D-38DEAD271AD7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AB63649B-52D9-F817-F125-056F9A5494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4405852"/>
              </p:ext>
            </p:extLst>
          </p:nvPr>
        </p:nvGraphicFramePr>
        <p:xfrm>
          <a:off x="244794" y="1378737"/>
          <a:ext cx="11219549" cy="4877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56">
                  <a:extLst>
                    <a:ext uri="{9D8B030D-6E8A-4147-A177-3AD203B41FA5}">
                      <a16:colId xmlns:a16="http://schemas.microsoft.com/office/drawing/2014/main" val="3098987667"/>
                    </a:ext>
                  </a:extLst>
                </a:gridCol>
                <a:gridCol w="1695801">
                  <a:extLst>
                    <a:ext uri="{9D8B030D-6E8A-4147-A177-3AD203B41FA5}">
                      <a16:colId xmlns:a16="http://schemas.microsoft.com/office/drawing/2014/main" val="3687653135"/>
                    </a:ext>
                  </a:extLst>
                </a:gridCol>
                <a:gridCol w="1643605">
                  <a:extLst>
                    <a:ext uri="{9D8B030D-6E8A-4147-A177-3AD203B41FA5}">
                      <a16:colId xmlns:a16="http://schemas.microsoft.com/office/drawing/2014/main" val="908228730"/>
                    </a:ext>
                  </a:extLst>
                </a:gridCol>
                <a:gridCol w="3142544">
                  <a:extLst>
                    <a:ext uri="{9D8B030D-6E8A-4147-A177-3AD203B41FA5}">
                      <a16:colId xmlns:a16="http://schemas.microsoft.com/office/drawing/2014/main" val="3533606866"/>
                    </a:ext>
                  </a:extLst>
                </a:gridCol>
                <a:gridCol w="1688634">
                  <a:extLst>
                    <a:ext uri="{9D8B030D-6E8A-4147-A177-3AD203B41FA5}">
                      <a16:colId xmlns:a16="http://schemas.microsoft.com/office/drawing/2014/main" val="2473987835"/>
                    </a:ext>
                  </a:extLst>
                </a:gridCol>
                <a:gridCol w="1355109">
                  <a:extLst>
                    <a:ext uri="{9D8B030D-6E8A-4147-A177-3AD203B41FA5}">
                      <a16:colId xmlns:a16="http://schemas.microsoft.com/office/drawing/2014/main" val="330848909"/>
                    </a:ext>
                  </a:extLst>
                </a:gridCol>
              </a:tblGrid>
              <a:tr h="3338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Supported By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030238"/>
                  </a:ext>
                </a:extLst>
              </a:tr>
              <a:tr h="9639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COM-GTRS-11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COM-GTRS-01,</a:t>
                      </a:r>
                      <a:r>
                        <a:rPr lang="en-US" b="1" dirty="0"/>
                        <a:t> </a:t>
                      </a:r>
                      <a:r>
                        <a:rPr lang="en-US" b="0" dirty="0"/>
                        <a:t>COM-GTRS-04</a:t>
                      </a:r>
                    </a:p>
                    <a:p>
                      <a:pPr algn="ctr"/>
                      <a:endParaRPr lang="en-US" sz="180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Antenna Configuration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The spacecraft shall use a nadir-facing S-Band patch antenna for Earth link and two omnidirectional whips for crosslinks.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263199"/>
                  </a:ext>
                </a:extLst>
              </a:tr>
              <a:tr h="8138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COM-GTRS-12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COM-GTRS-02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Data Prioritization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The onboard C&amp;DH system shall prioritize transmission of housekeeping + health data before payload data in the event of bandwidth limitations.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19692"/>
                  </a:ext>
                </a:extLst>
              </a:tr>
              <a:tr h="11060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COM-GTRS-13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ASD-GTRS-020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Data Formatting Standard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The spacecraft shall package payload and housekeeping data in a standardized frame structure (header, payload, checksum) so that ground stations can parse data consistently and in the correct sequence.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82230"/>
                  </a:ext>
                </a:extLst>
              </a:tr>
              <a:tr h="8138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COM-GTRS-14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ASD-GTRS-020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Data Source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The spacecraft shall implement a method to verify that all uplinked commands originate from authorized ground stations, preventing unauthorized tampering.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41077"/>
                  </a:ext>
                </a:extLst>
              </a:tr>
              <a:tr h="8138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COM-GTRS-15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ASD-GTRS-020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Data Receipt Confirmation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The spacecraft shall support a positive acknowledgment protocol (ACK/NACK) to confirm that transmitted frames are received correctly by the ground system.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53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8845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0683B-3725-8868-2043-1D1115B2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6044-C90F-D572-BF88-2A503F2E8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3497"/>
            <a:ext cx="10653578" cy="1132258"/>
          </a:xfrm>
        </p:spPr>
        <p:txBody>
          <a:bodyPr/>
          <a:lstStyle/>
          <a:p>
            <a:r>
              <a:rPr lang="en-US" dirty="0"/>
              <a:t>Derived Requirements</a:t>
            </a: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A775BFF0-4136-AF27-3923-8475EF55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40" y="196315"/>
            <a:ext cx="1293894" cy="12886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9AB97F-0585-FF54-191F-1AAD1F972716}"/>
              </a:ext>
            </a:extLst>
          </p:cNvPr>
          <p:cNvCxnSpPr/>
          <p:nvPr/>
        </p:nvCxnSpPr>
        <p:spPr>
          <a:xfrm flipV="1">
            <a:off x="526142" y="1094617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7B3058-6A59-4AC6-430F-E1266069C8A3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  <a:latin typeface="Bierstadt"/>
              </a:rPr>
              <a:t>Noah Touchton – </a:t>
            </a:r>
            <a:r>
              <a:rPr lang="en-US" b="1" dirty="0" err="1">
                <a:solidFill>
                  <a:schemeClr val="bg1">
                    <a:lumMod val="49000"/>
                  </a:schemeClr>
                </a:solidFill>
                <a:latin typeface="Bierstadt"/>
              </a:rPr>
              <a:t>ntouchton@ufl.edu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2EA0BBB-F8DC-419F-909A-F033157E3299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F7D40-D50D-7A2E-4FB7-F11ADAC8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0B9A80-9305-6557-1B36-B3F4EBDF2B86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637122-EC9C-9489-55E8-B8A0649F128E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FDF8B3DC-5963-2B71-3055-6A44D071F4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9368806"/>
              </p:ext>
            </p:extLst>
          </p:nvPr>
        </p:nvGraphicFramePr>
        <p:xfrm>
          <a:off x="244794" y="1378737"/>
          <a:ext cx="11219549" cy="469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56">
                  <a:extLst>
                    <a:ext uri="{9D8B030D-6E8A-4147-A177-3AD203B41FA5}">
                      <a16:colId xmlns:a16="http://schemas.microsoft.com/office/drawing/2014/main" val="3098987667"/>
                    </a:ext>
                  </a:extLst>
                </a:gridCol>
                <a:gridCol w="1695801">
                  <a:extLst>
                    <a:ext uri="{9D8B030D-6E8A-4147-A177-3AD203B41FA5}">
                      <a16:colId xmlns:a16="http://schemas.microsoft.com/office/drawing/2014/main" val="3687653135"/>
                    </a:ext>
                  </a:extLst>
                </a:gridCol>
                <a:gridCol w="1643605">
                  <a:extLst>
                    <a:ext uri="{9D8B030D-6E8A-4147-A177-3AD203B41FA5}">
                      <a16:colId xmlns:a16="http://schemas.microsoft.com/office/drawing/2014/main" val="908228730"/>
                    </a:ext>
                  </a:extLst>
                </a:gridCol>
                <a:gridCol w="3142544">
                  <a:extLst>
                    <a:ext uri="{9D8B030D-6E8A-4147-A177-3AD203B41FA5}">
                      <a16:colId xmlns:a16="http://schemas.microsoft.com/office/drawing/2014/main" val="3533606866"/>
                    </a:ext>
                  </a:extLst>
                </a:gridCol>
                <a:gridCol w="1688634">
                  <a:extLst>
                    <a:ext uri="{9D8B030D-6E8A-4147-A177-3AD203B41FA5}">
                      <a16:colId xmlns:a16="http://schemas.microsoft.com/office/drawing/2014/main" val="2473987835"/>
                    </a:ext>
                  </a:extLst>
                </a:gridCol>
                <a:gridCol w="1355109">
                  <a:extLst>
                    <a:ext uri="{9D8B030D-6E8A-4147-A177-3AD203B41FA5}">
                      <a16:colId xmlns:a16="http://schemas.microsoft.com/office/drawing/2014/main" val="330848909"/>
                    </a:ext>
                  </a:extLst>
                </a:gridCol>
              </a:tblGrid>
              <a:tr h="3338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Supported By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030238"/>
                  </a:ext>
                </a:extLst>
              </a:tr>
              <a:tr h="7787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COM-GTRS-16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COM-GTRS-13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Sequential Data Ordering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The spacecraft shall include frame counters or time tags in each transmission so the ground station can verify that data is received in the correct order without loss or duplication.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263199"/>
                  </a:ext>
                </a:extLst>
              </a:tr>
              <a:tr h="8138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COM-GTRS-17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COM-GTRS-02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Data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The spacecraft shall have enough onboard storage to store the buffered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19692"/>
                  </a:ext>
                </a:extLst>
              </a:tr>
              <a:tr h="110603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82230"/>
                  </a:ext>
                </a:extLst>
              </a:tr>
              <a:tr h="8138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41077"/>
                  </a:ext>
                </a:extLst>
              </a:tr>
              <a:tr h="8138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53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575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51197-4795-5659-2CB8-DBBAF6B24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88714-DC36-A76F-B7E1-7D1FE291C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3497"/>
            <a:ext cx="10653578" cy="1132258"/>
          </a:xfrm>
        </p:spPr>
        <p:txBody>
          <a:bodyPr/>
          <a:lstStyle/>
          <a:p>
            <a:r>
              <a:rPr lang="en-US" dirty="0"/>
              <a:t>Microcontroller Trade Study</a:t>
            </a: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0365DBE0-2AE7-677B-4FD8-F2D85BACE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40" y="196315"/>
            <a:ext cx="1293894" cy="12886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BDEFAC-8FBE-72DD-FAEF-B55633EF76D4}"/>
              </a:ext>
            </a:extLst>
          </p:cNvPr>
          <p:cNvCxnSpPr/>
          <p:nvPr/>
        </p:nvCxnSpPr>
        <p:spPr>
          <a:xfrm flipV="1">
            <a:off x="526142" y="1094617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8433813-A313-D048-9117-2CB975DC1B7F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  <a:latin typeface="Bierstadt"/>
              </a:rPr>
              <a:t>Noah Touchton – </a:t>
            </a:r>
            <a:r>
              <a:rPr lang="en-US" b="1" dirty="0" err="1">
                <a:solidFill>
                  <a:schemeClr val="bg1">
                    <a:lumMod val="49000"/>
                  </a:schemeClr>
                </a:solidFill>
                <a:latin typeface="Bierstadt"/>
              </a:rPr>
              <a:t>ntouchton@ufl.edu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3EDCF6-D22C-C409-4A14-4188A7C8C565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BD599-9281-40AD-AFF0-37EACDED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725A21-6B39-FEB4-3915-BF9A2250E3FC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61D73-99A4-DCD1-EAF4-32B915FEEA42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71506E-095B-AE63-2EAB-3965BB879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79" y="1815976"/>
            <a:ext cx="11594755" cy="19844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C68068-6A26-57E8-4B6B-7240489A0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096" y="4004783"/>
            <a:ext cx="2868468" cy="223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30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D4D68-6306-E2A8-FBD0-594BFECE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8608E-E8D0-3AF8-2DC7-5D7302CCE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3497"/>
            <a:ext cx="10653578" cy="1132258"/>
          </a:xfrm>
        </p:spPr>
        <p:txBody>
          <a:bodyPr/>
          <a:lstStyle/>
          <a:p>
            <a:r>
              <a:rPr lang="en-US" dirty="0"/>
              <a:t>Downlink Antenna Trade Study</a:t>
            </a: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951C0031-A988-D1A3-A821-74D7C5EEB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40" y="196315"/>
            <a:ext cx="1293894" cy="12886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A48782-E4B7-1114-7654-044DBDCF9BA8}"/>
              </a:ext>
            </a:extLst>
          </p:cNvPr>
          <p:cNvCxnSpPr/>
          <p:nvPr/>
        </p:nvCxnSpPr>
        <p:spPr>
          <a:xfrm flipV="1">
            <a:off x="526142" y="1094617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194406A-E5B1-6350-E0CD-25126F4E38D6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  <a:latin typeface="Bierstadt"/>
              </a:rPr>
              <a:t>Noah Touchton – </a:t>
            </a:r>
            <a:r>
              <a:rPr lang="en-US" b="1" dirty="0" err="1">
                <a:solidFill>
                  <a:schemeClr val="bg1">
                    <a:lumMod val="49000"/>
                  </a:schemeClr>
                </a:solidFill>
                <a:latin typeface="Bierstadt"/>
              </a:rPr>
              <a:t>ntouchton@ufl.edu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CE686E3-2770-899E-E9A6-66A5F4C909BD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2206F-975C-D3E4-ED0B-09FA75B3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C0E57B-CE66-BA43-3D33-9F54C4BAC9B8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24B7D-2570-CD92-6E28-439DFD175B22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4DFE7B6-F598-5A81-8C1A-9E22234A6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0" y="1518967"/>
            <a:ext cx="10536553" cy="23636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7FE9357-8F6F-452F-220A-C858E06EE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080" y="4079394"/>
            <a:ext cx="2839344" cy="228078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1D30B54-6298-6867-EBC4-4F01BE0835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5144" y="3956231"/>
            <a:ext cx="2378939" cy="233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93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FE987-BA2B-BBC8-49EA-45A708E4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08EE9-4092-BE9A-7D80-34BB8DC5B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3497"/>
            <a:ext cx="10653578" cy="1132258"/>
          </a:xfrm>
        </p:spPr>
        <p:txBody>
          <a:bodyPr/>
          <a:lstStyle/>
          <a:p>
            <a:r>
              <a:rPr lang="en-US" dirty="0"/>
              <a:t>Transceiver Trade Study</a:t>
            </a: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B340A970-7F09-BA98-8606-0D9025B3E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40" y="196315"/>
            <a:ext cx="1293894" cy="12886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B73115-2195-2D58-3D71-1816D8783646}"/>
              </a:ext>
            </a:extLst>
          </p:cNvPr>
          <p:cNvCxnSpPr/>
          <p:nvPr/>
        </p:nvCxnSpPr>
        <p:spPr>
          <a:xfrm flipV="1">
            <a:off x="526142" y="1094617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D586AAC-F959-9D8C-0935-DD184E7285E9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  <a:latin typeface="Bierstadt"/>
              </a:rPr>
              <a:t>Noah Touchton – </a:t>
            </a:r>
            <a:r>
              <a:rPr lang="en-US" b="1" dirty="0" err="1">
                <a:solidFill>
                  <a:schemeClr val="bg1">
                    <a:lumMod val="49000"/>
                  </a:schemeClr>
                </a:solidFill>
                <a:latin typeface="Bierstadt"/>
              </a:rPr>
              <a:t>ntouchton@ufl.edu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5A884B9-7087-72BA-D8E8-3DE72BB8BA40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A1216-0177-EE25-1317-4C4BC09B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896F69-BF74-0856-05A1-1E3D8D2D1375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A886E-1A5E-4E8C-1DF3-EB3DBCFD67F3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F15DBD-E974-7458-6C80-A55BA51D1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72" y="1692106"/>
            <a:ext cx="10048617" cy="19703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4FFE0F-55D8-3701-1BA6-203AF8E9A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369" y="3795501"/>
            <a:ext cx="3614305" cy="250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2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D0C1C-8F18-A2CC-9132-A0870E11B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4757-3119-E992-2651-0810FB2F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3497"/>
            <a:ext cx="10653578" cy="1132258"/>
          </a:xfrm>
        </p:spPr>
        <p:txBody>
          <a:bodyPr/>
          <a:lstStyle/>
          <a:p>
            <a:r>
              <a:rPr lang="en-US" dirty="0"/>
              <a:t>Transmitter Trade Study</a:t>
            </a: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2178272F-A6A9-29A8-F319-E1B7A2505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40" y="196315"/>
            <a:ext cx="1293894" cy="12886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1440A1-3712-04E2-BB5C-9D1ABFC847E5}"/>
              </a:ext>
            </a:extLst>
          </p:cNvPr>
          <p:cNvCxnSpPr/>
          <p:nvPr/>
        </p:nvCxnSpPr>
        <p:spPr>
          <a:xfrm flipV="1">
            <a:off x="526142" y="1094617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874CED5-D91F-2C73-F3F9-6269E822FE48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  <a:latin typeface="Bierstadt"/>
              </a:rPr>
              <a:t>Noah Touchton – </a:t>
            </a:r>
            <a:r>
              <a:rPr lang="en-US" b="1" dirty="0" err="1">
                <a:solidFill>
                  <a:schemeClr val="bg1">
                    <a:lumMod val="49000"/>
                  </a:schemeClr>
                </a:solidFill>
                <a:latin typeface="Bierstadt"/>
              </a:rPr>
              <a:t>ntouchton@ufl.edu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B6F461D-A385-803A-8E6D-ACFA76423524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B38E8-C08E-0E25-217F-928D9655C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A67132-E52A-3EA8-6615-BEA8CFDA19CF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0EF45-EB15-48D9-D01C-75D543BCEC3F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502CFF-6D53-6040-7656-07C4F543B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35" y="1637157"/>
            <a:ext cx="9429572" cy="20569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921C6B3-C96A-4E4C-BA2B-08BF17CB0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241" y="3928650"/>
            <a:ext cx="2538269" cy="219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097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4136E-A3E7-C1DA-DD4D-5CBAB1A7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3F36-E43E-FC73-B6F0-9D1446D2C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3497"/>
            <a:ext cx="10653578" cy="1132258"/>
          </a:xfrm>
        </p:spPr>
        <p:txBody>
          <a:bodyPr/>
          <a:lstStyle/>
          <a:p>
            <a:r>
              <a:rPr lang="en-US" dirty="0" err="1"/>
              <a:t>InterSat</a:t>
            </a:r>
            <a:r>
              <a:rPr lang="en-US" dirty="0"/>
              <a:t> Antenna Trade Study</a:t>
            </a: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EF052AC8-608E-1E3F-8C34-71C0F1D71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40" y="196315"/>
            <a:ext cx="1293894" cy="12886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83F62F-133F-5A00-34A9-45DEE7741374}"/>
              </a:ext>
            </a:extLst>
          </p:cNvPr>
          <p:cNvCxnSpPr/>
          <p:nvPr/>
        </p:nvCxnSpPr>
        <p:spPr>
          <a:xfrm flipV="1">
            <a:off x="526142" y="1094617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A87D8B3-88F5-EC3A-DC46-4D8FBBA806E1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  <a:latin typeface="Bierstadt"/>
              </a:rPr>
              <a:t>Noah Touchton – </a:t>
            </a:r>
            <a:r>
              <a:rPr lang="en-US" b="1" dirty="0" err="1">
                <a:solidFill>
                  <a:schemeClr val="bg1">
                    <a:lumMod val="49000"/>
                  </a:schemeClr>
                </a:solidFill>
                <a:latin typeface="Bierstadt"/>
              </a:rPr>
              <a:t>ntouchton@ufl.edu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3D902DA-E3EE-7C9D-F502-DC21A27CE8EF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AD10D-38C3-0419-EA34-D0CC744B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2879E0-AC52-F193-D596-1E747D2D6099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8DE57-E3F0-DA31-75E4-576C814999CC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8EDB98-7E1F-3D11-58B8-E93CBB7F6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41" y="1621122"/>
            <a:ext cx="10905050" cy="19466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8EE4B3-D4D9-AE18-86EE-834BB3163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619" y="3944485"/>
            <a:ext cx="2175799" cy="220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68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BEFDC-B5F9-617B-7929-16B70A725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66DCD-C099-074B-AD6B-AD21B0D5E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3497"/>
            <a:ext cx="10653578" cy="1132258"/>
          </a:xfrm>
        </p:spPr>
        <p:txBody>
          <a:bodyPr/>
          <a:lstStyle/>
          <a:p>
            <a:r>
              <a:rPr lang="en-US" dirty="0" err="1"/>
              <a:t>InterSat</a:t>
            </a:r>
            <a:r>
              <a:rPr lang="en-US" dirty="0"/>
              <a:t> </a:t>
            </a:r>
            <a:r>
              <a:rPr lang="en-US" dirty="0" err="1"/>
              <a:t>Transciever</a:t>
            </a:r>
            <a:r>
              <a:rPr lang="en-US" dirty="0"/>
              <a:t> Trade Study</a:t>
            </a: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BF221991-9C59-BAAC-DBD8-E0CA42CBF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40" y="196315"/>
            <a:ext cx="1293894" cy="12886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F32349-4457-1E4E-7BF3-575A4147113A}"/>
              </a:ext>
            </a:extLst>
          </p:cNvPr>
          <p:cNvCxnSpPr/>
          <p:nvPr/>
        </p:nvCxnSpPr>
        <p:spPr>
          <a:xfrm flipV="1">
            <a:off x="526142" y="1094617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45C3BAE-B6FC-7BEB-98DD-7FAC3573F90F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49000"/>
                  </a:schemeClr>
                </a:solidFill>
                <a:latin typeface="Bierstadt"/>
              </a:rPr>
              <a:t>Noah Touchton – </a:t>
            </a:r>
            <a:r>
              <a:rPr lang="en-US" b="1" dirty="0" err="1">
                <a:solidFill>
                  <a:schemeClr val="bg1">
                    <a:lumMod val="49000"/>
                  </a:schemeClr>
                </a:solidFill>
                <a:latin typeface="Bierstadt"/>
              </a:rPr>
              <a:t>ntouchton@ufl.edu</a:t>
            </a:r>
            <a:endParaRPr lang="en-US" dirty="0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F47C103-D8DD-B29F-0CF2-0E31AFD76A46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24928-3066-6CA6-1FA2-A38B7F01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C5B527-B186-FEC8-4A13-E7F58EA6AA29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C40851-17E0-6BA9-9607-0B835A0422DA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E883F-22BE-7E5D-441D-BE1FCA9F8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4" y="1535755"/>
            <a:ext cx="9551389" cy="21342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5C65EA-32BB-5EBF-CA41-6EFD66075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050" y="3840948"/>
            <a:ext cx="2215989" cy="251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724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DEB81-246B-A57E-5029-3C7298F8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4FA1-A116-4260-A14C-D0ED6CCFC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71" y="217882"/>
            <a:ext cx="10653578" cy="1132258"/>
          </a:xfrm>
        </p:spPr>
        <p:txBody>
          <a:bodyPr/>
          <a:lstStyle/>
          <a:p>
            <a:r>
              <a:rPr lang="en-US"/>
              <a:t>Requirements</a:t>
            </a: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BDFBEC2A-5025-5514-BAD5-5A5E57D08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308" y="929"/>
            <a:ext cx="1147356" cy="108345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CEAD82-5EFE-CC06-BE5D-3C951CC73F43}"/>
              </a:ext>
            </a:extLst>
          </p:cNvPr>
          <p:cNvCxnSpPr/>
          <p:nvPr/>
        </p:nvCxnSpPr>
        <p:spPr>
          <a:xfrm flipV="1">
            <a:off x="526142" y="821078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3E22B2A-103F-2BA4-60CD-9FC7B52AA23E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bg1">
                    <a:lumMod val="49000"/>
                  </a:schemeClr>
                </a:solidFill>
                <a:latin typeface="Bierstadt"/>
              </a:rPr>
              <a:t>Name - Email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6BD4093-C407-3F84-5768-0FE30B60EAF5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9FD7C-D347-6E60-5B8D-03A2C351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B6C6CE-3440-8D93-EEF7-DB9B24C66D11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4AD9A-E5E5-5CA9-B6B1-A408DC021E99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4A9B0C3D-6086-3FAF-18AF-D65A3B83A5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367392"/>
              </p:ext>
            </p:extLst>
          </p:nvPr>
        </p:nvGraphicFramePr>
        <p:xfrm>
          <a:off x="417390" y="1081087"/>
          <a:ext cx="11348677" cy="5215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998">
                  <a:extLst>
                    <a:ext uri="{9D8B030D-6E8A-4147-A177-3AD203B41FA5}">
                      <a16:colId xmlns:a16="http://schemas.microsoft.com/office/drawing/2014/main" val="3098987667"/>
                    </a:ext>
                  </a:extLst>
                </a:gridCol>
                <a:gridCol w="5352142">
                  <a:extLst>
                    <a:ext uri="{9D8B030D-6E8A-4147-A177-3AD203B41FA5}">
                      <a16:colId xmlns:a16="http://schemas.microsoft.com/office/drawing/2014/main" val="3687653135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908228730"/>
                    </a:ext>
                  </a:extLst>
                </a:gridCol>
                <a:gridCol w="1502629">
                  <a:extLst>
                    <a:ext uri="{9D8B030D-6E8A-4147-A177-3AD203B41FA5}">
                      <a16:colId xmlns:a16="http://schemas.microsoft.com/office/drawing/2014/main" val="2473987835"/>
                    </a:ext>
                  </a:extLst>
                </a:gridCol>
                <a:gridCol w="1409623">
                  <a:extLst>
                    <a:ext uri="{9D8B030D-6E8A-4147-A177-3AD203B41FA5}">
                      <a16:colId xmlns:a16="http://schemas.microsoft.com/office/drawing/2014/main" val="330848909"/>
                    </a:ext>
                  </a:extLst>
                </a:gridCol>
              </a:tblGrid>
              <a:tr h="363062">
                <a:tc>
                  <a:txBody>
                    <a:bodyPr/>
                    <a:lstStyle/>
                    <a:p>
                      <a:r>
                        <a:rPr lang="en-US"/>
                        <a:t>Req #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System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Verification Method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Status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030238"/>
                  </a:ext>
                </a:extLst>
              </a:tr>
              <a:tr h="1269999">
                <a:tc>
                  <a:txBody>
                    <a:bodyPr/>
                    <a:lstStyle/>
                    <a:p>
                      <a:r>
                        <a:rPr lang="en-US" dirty="0"/>
                        <a:t>COM-GTRS-01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</a:rPr>
                        <a:t>The GATOR-SAT </a:t>
                      </a:r>
                      <a:r>
                        <a:rPr lang="en-US" sz="1600" b="0" i="0" u="none" strike="noStrike" noProof="0" dirty="0" err="1">
                          <a:latin typeface="Arial"/>
                        </a:rPr>
                        <a:t>SmallSat</a:t>
                      </a:r>
                      <a:r>
                        <a:rPr lang="en-US" sz="1600" b="0" i="0" u="none" strike="noStrike" noProof="0" dirty="0">
                          <a:latin typeface="Arial"/>
                        </a:rPr>
                        <a:t> shall be capable of launching either as a Co-manifested Payload (CPL) or primary payload on a suitable government-owned or commercially owned launch vehicle that can accommodate </a:t>
                      </a:r>
                      <a:r>
                        <a:rPr lang="en-US" sz="1600" b="0" i="0" u="none" strike="noStrike" noProof="0" dirty="0" err="1">
                          <a:latin typeface="Arial"/>
                        </a:rPr>
                        <a:t>SmallSats</a:t>
                      </a:r>
                      <a:r>
                        <a:rPr lang="en-US" sz="1600" b="0" i="0" u="none" strike="noStrike" noProof="0" dirty="0">
                          <a:latin typeface="Arial"/>
                        </a:rPr>
                        <a:t>. </a:t>
                      </a:r>
                      <a:endParaRPr lang="en-US" sz="1600" dirty="0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Demonstration</a:t>
                      </a: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263199"/>
                  </a:ext>
                </a:extLst>
              </a:tr>
              <a:tr h="107042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noStrike" noProof="0">
                        <a:latin typeface="Bierstadt 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19692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82230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41077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53279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48091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398252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299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3502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DEB81-246B-A57E-5029-3C7298F8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4FA1-A116-4260-A14C-D0ED6CCFC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71" y="217882"/>
            <a:ext cx="10653578" cy="1132258"/>
          </a:xfrm>
        </p:spPr>
        <p:txBody>
          <a:bodyPr/>
          <a:lstStyle/>
          <a:p>
            <a:r>
              <a:rPr lang="en-US"/>
              <a:t>Requirements</a:t>
            </a:r>
          </a:p>
        </p:txBody>
      </p:sp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BDFBEC2A-5025-5514-BAD5-5A5E57D08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0771" y="108391"/>
            <a:ext cx="1245047" cy="123976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CEAD82-5EFE-CC06-BE5D-3C951CC73F43}"/>
              </a:ext>
            </a:extLst>
          </p:cNvPr>
          <p:cNvCxnSpPr/>
          <p:nvPr/>
        </p:nvCxnSpPr>
        <p:spPr>
          <a:xfrm flipV="1">
            <a:off x="526142" y="821078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3E22B2A-103F-2BA4-60CD-9FC7B52AA23E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bg1">
                    <a:lumMod val="49000"/>
                  </a:schemeClr>
                </a:solidFill>
                <a:latin typeface="Bierstadt"/>
              </a:rPr>
              <a:t>Name - Email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6BD4093-C407-3F84-5768-0FE30B60EAF5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9FD7C-D347-6E60-5B8D-03A2C351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B6C6CE-3440-8D93-EEF7-DB9B24C66D11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4AD9A-E5E5-5CA9-B6B1-A408DC021E99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4A9B0C3D-6086-3FAF-18AF-D65A3B83A5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2625204"/>
              </p:ext>
            </p:extLst>
          </p:nvPr>
        </p:nvGraphicFramePr>
        <p:xfrm>
          <a:off x="524852" y="1481626"/>
          <a:ext cx="1134869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740">
                  <a:extLst>
                    <a:ext uri="{9D8B030D-6E8A-4147-A177-3AD203B41FA5}">
                      <a16:colId xmlns:a16="http://schemas.microsoft.com/office/drawing/2014/main" val="3098987667"/>
                    </a:ext>
                  </a:extLst>
                </a:gridCol>
                <a:gridCol w="2910984">
                  <a:extLst>
                    <a:ext uri="{9D8B030D-6E8A-4147-A177-3AD203B41FA5}">
                      <a16:colId xmlns:a16="http://schemas.microsoft.com/office/drawing/2014/main" val="3687653135"/>
                    </a:ext>
                  </a:extLst>
                </a:gridCol>
                <a:gridCol w="1628494">
                  <a:extLst>
                    <a:ext uri="{9D8B030D-6E8A-4147-A177-3AD203B41FA5}">
                      <a16:colId xmlns:a16="http://schemas.microsoft.com/office/drawing/2014/main" val="908228730"/>
                    </a:ext>
                  </a:extLst>
                </a:gridCol>
                <a:gridCol w="3129856">
                  <a:extLst>
                    <a:ext uri="{9D8B030D-6E8A-4147-A177-3AD203B41FA5}">
                      <a16:colId xmlns:a16="http://schemas.microsoft.com/office/drawing/2014/main" val="2473987835"/>
                    </a:ext>
                  </a:extLst>
                </a:gridCol>
                <a:gridCol w="1409625">
                  <a:extLst>
                    <a:ext uri="{9D8B030D-6E8A-4147-A177-3AD203B41FA5}">
                      <a16:colId xmlns:a16="http://schemas.microsoft.com/office/drawing/2014/main" val="330848909"/>
                    </a:ext>
                  </a:extLst>
                </a:gridCol>
              </a:tblGrid>
              <a:tr h="363062">
                <a:tc>
                  <a:txBody>
                    <a:bodyPr/>
                    <a:lstStyle/>
                    <a:p>
                      <a:r>
                        <a:rPr lang="en-US"/>
                        <a:t>Req #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System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Verification Method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Status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030238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263199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19692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82230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41077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53279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48091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398252"/>
                  </a:ext>
                </a:extLst>
              </a:tr>
              <a:tr h="36306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299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429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5597-48E0-39CE-96E2-48B1E9C01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BE6-A1D4-2CAA-AFD4-B6A4D2A73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3497"/>
            <a:ext cx="10653578" cy="1132258"/>
          </a:xfrm>
        </p:spPr>
        <p:txBody>
          <a:bodyPr/>
          <a:lstStyle/>
          <a:p>
            <a:r>
              <a:rPr lang="en-US"/>
              <a:t>Risk Template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46DCD64-63C8-1027-D4F4-BE290C136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443843"/>
              </p:ext>
            </p:extLst>
          </p:nvPr>
        </p:nvGraphicFramePr>
        <p:xfrm>
          <a:off x="612775" y="1233716"/>
          <a:ext cx="7845420" cy="4755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919">
                  <a:extLst>
                    <a:ext uri="{9D8B030D-6E8A-4147-A177-3AD203B41FA5}">
                      <a16:colId xmlns:a16="http://schemas.microsoft.com/office/drawing/2014/main" val="3098987667"/>
                    </a:ext>
                  </a:extLst>
                </a:gridCol>
                <a:gridCol w="3029857">
                  <a:extLst>
                    <a:ext uri="{9D8B030D-6E8A-4147-A177-3AD203B41FA5}">
                      <a16:colId xmlns:a16="http://schemas.microsoft.com/office/drawing/2014/main" val="3687653135"/>
                    </a:ext>
                  </a:extLst>
                </a:gridCol>
                <a:gridCol w="731475">
                  <a:extLst>
                    <a:ext uri="{9D8B030D-6E8A-4147-A177-3AD203B41FA5}">
                      <a16:colId xmlns:a16="http://schemas.microsoft.com/office/drawing/2014/main" val="908228730"/>
                    </a:ext>
                  </a:extLst>
                </a:gridCol>
                <a:gridCol w="653630">
                  <a:extLst>
                    <a:ext uri="{9D8B030D-6E8A-4147-A177-3AD203B41FA5}">
                      <a16:colId xmlns:a16="http://schemas.microsoft.com/office/drawing/2014/main" val="3533606866"/>
                    </a:ext>
                  </a:extLst>
                </a:gridCol>
                <a:gridCol w="2484539">
                  <a:extLst>
                    <a:ext uri="{9D8B030D-6E8A-4147-A177-3AD203B41FA5}">
                      <a16:colId xmlns:a16="http://schemas.microsoft.com/office/drawing/2014/main" val="2473987835"/>
                    </a:ext>
                  </a:extLst>
                </a:gridCol>
              </a:tblGrid>
              <a:tr h="49800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Risk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Mitigation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030238"/>
                  </a:ext>
                </a:extLst>
              </a:tr>
              <a:tr h="49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263199"/>
                  </a:ext>
                </a:extLst>
              </a:tr>
              <a:tr h="49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19692"/>
                  </a:ext>
                </a:extLst>
              </a:tr>
              <a:tr h="49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82230"/>
                  </a:ext>
                </a:extLst>
              </a:tr>
              <a:tr h="49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41077"/>
                  </a:ext>
                </a:extLst>
              </a:tr>
              <a:tr h="49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53279"/>
                  </a:ext>
                </a:extLst>
              </a:tr>
              <a:tr h="57269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489102"/>
                  </a:ext>
                </a:extLst>
              </a:tr>
              <a:tr h="69719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A4C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186205"/>
                  </a:ext>
                </a:extLst>
              </a:tr>
              <a:tr h="49800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551909"/>
                  </a:ext>
                </a:extLst>
              </a:tr>
            </a:tbl>
          </a:graphicData>
        </a:graphic>
      </p:graphicFrame>
      <p:pic>
        <p:nvPicPr>
          <p:cNvPr id="9" name="Picture 8" descr="A logo of a planet&#10;&#10;AI-generated content may be incorrect.">
            <a:extLst>
              <a:ext uri="{FF2B5EF4-FFF2-40B4-BE49-F238E27FC236}">
                <a16:creationId xmlns:a16="http://schemas.microsoft.com/office/drawing/2014/main" id="{88AC2A4C-1C52-A648-BF43-EBF1F6905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40" y="196315"/>
            <a:ext cx="1293894" cy="12886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D52CF4-166D-5969-4292-CD482F679CF1}"/>
              </a:ext>
            </a:extLst>
          </p:cNvPr>
          <p:cNvCxnSpPr/>
          <p:nvPr/>
        </p:nvCxnSpPr>
        <p:spPr>
          <a:xfrm flipV="1">
            <a:off x="526142" y="1094617"/>
            <a:ext cx="9748761" cy="30239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CB1CA7B-0ABB-FE3A-A730-13EDEF268DB7}"/>
              </a:ext>
            </a:extLst>
          </p:cNvPr>
          <p:cNvCxnSpPr>
            <a:cxnSpLocks/>
          </p:cNvCxnSpPr>
          <p:nvPr/>
        </p:nvCxnSpPr>
        <p:spPr>
          <a:xfrm>
            <a:off x="526141" y="6362093"/>
            <a:ext cx="11151808" cy="18141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6B15C-DD99-386F-8EB9-CEE1AEFF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92C1BA-4FFF-2662-0694-D0CC09927459}"/>
              </a:ext>
            </a:extLst>
          </p:cNvPr>
          <p:cNvGraphicFramePr>
            <a:graphicFrameLocks noGrp="1"/>
          </p:cNvGraphicFramePr>
          <p:nvPr/>
        </p:nvGraphicFramePr>
        <p:xfrm>
          <a:off x="8816932" y="1933974"/>
          <a:ext cx="2960542" cy="3355380"/>
        </p:xfrm>
        <a:graphic>
          <a:graphicData uri="http://schemas.openxmlformats.org/drawingml/2006/table">
            <a:tbl>
              <a:tblPr/>
              <a:tblGrid>
                <a:gridCol w="377941">
                  <a:extLst>
                    <a:ext uri="{9D8B030D-6E8A-4147-A177-3AD203B41FA5}">
                      <a16:colId xmlns:a16="http://schemas.microsoft.com/office/drawing/2014/main" val="1978657172"/>
                    </a:ext>
                  </a:extLst>
                </a:gridCol>
                <a:gridCol w="377941">
                  <a:extLst>
                    <a:ext uri="{9D8B030D-6E8A-4147-A177-3AD203B41FA5}">
                      <a16:colId xmlns:a16="http://schemas.microsoft.com/office/drawing/2014/main" val="1617462491"/>
                    </a:ext>
                  </a:extLst>
                </a:gridCol>
                <a:gridCol w="440932">
                  <a:extLst>
                    <a:ext uri="{9D8B030D-6E8A-4147-A177-3AD203B41FA5}">
                      <a16:colId xmlns:a16="http://schemas.microsoft.com/office/drawing/2014/main" val="3708921764"/>
                    </a:ext>
                  </a:extLst>
                </a:gridCol>
                <a:gridCol w="440932">
                  <a:extLst>
                    <a:ext uri="{9D8B030D-6E8A-4147-A177-3AD203B41FA5}">
                      <a16:colId xmlns:a16="http://schemas.microsoft.com/office/drawing/2014/main" val="404409628"/>
                    </a:ext>
                  </a:extLst>
                </a:gridCol>
                <a:gridCol w="440932">
                  <a:extLst>
                    <a:ext uri="{9D8B030D-6E8A-4147-A177-3AD203B41FA5}">
                      <a16:colId xmlns:a16="http://schemas.microsoft.com/office/drawing/2014/main" val="2246665092"/>
                    </a:ext>
                  </a:extLst>
                </a:gridCol>
                <a:gridCol w="440932">
                  <a:extLst>
                    <a:ext uri="{9D8B030D-6E8A-4147-A177-3AD203B41FA5}">
                      <a16:colId xmlns:a16="http://schemas.microsoft.com/office/drawing/2014/main" val="3912443700"/>
                    </a:ext>
                  </a:extLst>
                </a:gridCol>
                <a:gridCol w="440932">
                  <a:extLst>
                    <a:ext uri="{9D8B030D-6E8A-4147-A177-3AD203B41FA5}">
                      <a16:colId xmlns:a16="http://schemas.microsoft.com/office/drawing/2014/main" val="3217327975"/>
                    </a:ext>
                  </a:extLst>
                </a:gridCol>
              </a:tblGrid>
              <a:tr h="470348">
                <a:tc rowSpan="5"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LIKELIHOOD</a:t>
                      </a:r>
                    </a:p>
                  </a:txBody>
                  <a:tcPr marL="6350" marR="6350" marT="635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752489"/>
                  </a:ext>
                </a:extLst>
              </a:tr>
              <a:tr h="4703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133591"/>
                  </a:ext>
                </a:extLst>
              </a:tr>
              <a:tr h="5442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146828"/>
                  </a:ext>
                </a:extLst>
              </a:tr>
              <a:tr h="4770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447491"/>
                  </a:ext>
                </a:extLst>
              </a:tr>
              <a:tr h="5576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306096"/>
                  </a:ext>
                </a:extLst>
              </a:tr>
              <a:tr h="38018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085256"/>
                  </a:ext>
                </a:extLst>
              </a:tr>
              <a:tr h="38018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01401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36705E2-5BA0-A397-45B4-60EE875B01B0}"/>
              </a:ext>
            </a:extLst>
          </p:cNvPr>
          <p:cNvSpPr txBox="1"/>
          <p:nvPr/>
        </p:nvSpPr>
        <p:spPr>
          <a:xfrm>
            <a:off x="3190350" y="6440249"/>
            <a:ext cx="581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bg1">
                    <a:lumMod val="49000"/>
                  </a:schemeClr>
                </a:solidFill>
                <a:latin typeface="Bierstadt"/>
              </a:rPr>
              <a:t>Name - Email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C3D293-80EE-F84A-DCE7-7FC3B72A861B}"/>
              </a:ext>
            </a:extLst>
          </p:cNvPr>
          <p:cNvSpPr txBox="1"/>
          <p:nvPr/>
        </p:nvSpPr>
        <p:spPr>
          <a:xfrm>
            <a:off x="611347" y="6442164"/>
            <a:ext cx="4138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10/09/25</a:t>
            </a:r>
            <a:r>
              <a:rPr lang="en-US">
                <a:latin typeface="Bierstadt Bold"/>
              </a:rPr>
              <a:t> 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89F7E6-4CE4-92E0-522E-6491CD43F6C7}"/>
              </a:ext>
            </a:extLst>
          </p:cNvPr>
          <p:cNvSpPr txBox="1"/>
          <p:nvPr/>
        </p:nvSpPr>
        <p:spPr>
          <a:xfrm>
            <a:off x="9638323" y="64437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>
                    <a:lumMod val="49000"/>
                  </a:schemeClr>
                </a:solidFill>
                <a:latin typeface="Bierstadt Bold"/>
              </a:rPr>
              <a:t>TANGO SDR​ - UF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71064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ero Design">
      <a:majorFont>
        <a:latin typeface="Bierstadt Bold"/>
        <a:ea typeface=""/>
        <a:cs typeface=""/>
      </a:majorFont>
      <a:minorFont>
        <a:latin typeface="Bierstadt 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311</TotalTime>
  <Words>989</Words>
  <Application>Microsoft Macintosh PowerPoint</Application>
  <PresentationFormat>Widescreen</PresentationFormat>
  <Paragraphs>234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Bierstadt</vt:lpstr>
      <vt:lpstr>Bierstadt </vt:lpstr>
      <vt:lpstr>Bierstadt Bold</vt:lpstr>
      <vt:lpstr>Calibri</vt:lpstr>
      <vt:lpstr>VanillaVTI</vt:lpstr>
      <vt:lpstr>TANGO GATOR-SAT Project </vt:lpstr>
      <vt:lpstr>Communications </vt:lpstr>
      <vt:lpstr>System Overview</vt:lpstr>
      <vt:lpstr>Requirements</vt:lpstr>
      <vt:lpstr>Derived Requirements</vt:lpstr>
      <vt:lpstr>Derived Requirements</vt:lpstr>
      <vt:lpstr>Derived Requirements</vt:lpstr>
      <vt:lpstr>Derived Requirements</vt:lpstr>
      <vt:lpstr>Microcontroller Trade Study</vt:lpstr>
      <vt:lpstr>Downlink Antenna Trade Study</vt:lpstr>
      <vt:lpstr>Transceiver Trade Study</vt:lpstr>
      <vt:lpstr>Transmitter Trade Study</vt:lpstr>
      <vt:lpstr>InterSat Antenna Trade Study</vt:lpstr>
      <vt:lpstr>InterSat Transciever Trade Study</vt:lpstr>
      <vt:lpstr>Requirements</vt:lpstr>
      <vt:lpstr>Requirements</vt:lpstr>
      <vt:lpstr>Risk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Touchton</dc:creator>
  <cp:lastModifiedBy>Noah Touchton</cp:lastModifiedBy>
  <cp:revision>13</cp:revision>
  <dcterms:created xsi:type="dcterms:W3CDTF">2025-09-23T20:49:02Z</dcterms:created>
  <dcterms:modified xsi:type="dcterms:W3CDTF">2025-10-02T22:33:30Z</dcterms:modified>
</cp:coreProperties>
</file>