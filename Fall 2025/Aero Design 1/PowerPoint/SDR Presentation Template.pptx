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omments/modernComment_10F_43BB5419.xml" ContentType="application/vnd.ms-powerpoint.comment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56" r:id="rId2"/>
    <p:sldId id="262" r:id="rId3"/>
    <p:sldId id="267" r:id="rId4"/>
    <p:sldId id="268" r:id="rId5"/>
    <p:sldId id="272" r:id="rId6"/>
    <p:sldId id="271" r:id="rId7"/>
    <p:sldId id="270" r:id="rId8"/>
    <p:sldId id="269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C9D694ED-FC33-40EA-AF97-62CA419D652F}" name="Camargo, Naomi" initials="CN" userId="S::anaomi.camargo@ufl.edu::06bc4c7e-40a3-4ed3-98c3-eb58ec89633d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4C9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50" d="100"/>
          <a:sy n="150" d="100"/>
        </p:scale>
        <p:origin x="65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microsoft.com/office/2018/10/relationships/authors" Target="authors.xml"/></Relationships>
</file>

<file path=ppt/comments/modernComment_10F_43BB5419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37AA5F30-97BC-4ED3-93FE-79C40F58F8CA}" authorId="{C9D694ED-FC33-40EA-AF97-62CA419D652F}" created="2025-09-30T19:21:28.232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1136350233" sldId="271"/>
      <ac:graphicFrameMk id="12" creationId="{4A9B0C3D-6086-3FAF-18AF-D65A3B83A526}"/>
      <ac:tblMk/>
      <ac:tcMk rowId="2334263199" colId="2473987835"/>
      <ac:txMk cp="0" len="13">
        <ac:context len="14" hash="147260756"/>
      </ac:txMk>
    </ac:txMkLst>
    <p188:pos x="9821333" y="973666"/>
    <p188:txBody>
      <a:bodyPr/>
      <a:lstStyle/>
      <a:p>
        <a:r>
          <a:rPr lang="en-US"/>
          <a:t>Example Format</a:t>
        </a:r>
      </a:p>
    </p188:txBody>
  </p188:cm>
</p188:cmLst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01923" y="1122363"/>
            <a:ext cx="7588155" cy="2621154"/>
          </a:xfrm>
        </p:spPr>
        <p:txBody>
          <a:bodyPr anchor="b">
            <a:normAutofit/>
          </a:bodyPr>
          <a:lstStyle>
            <a:lvl1pPr algn="ctr"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01923" y="3843708"/>
            <a:ext cx="7588155" cy="1414091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7418A7C-2B12-8D14-563D-9DCB36C271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332BE1-279E-4118-9FE3-7952B079A510}" type="datetimeFigureOut">
              <a:rPr lang="en-US" smtClean="0"/>
              <a:t>10/2/2025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FC884CD-E564-1556-AC37-875E5E1583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B7705BF-59F9-7D3A-4871-157F5B6C7C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4365885"/>
      </p:ext>
    </p:extLst>
  </p:cSld>
  <p:clrMapOvr>
    <a:masterClrMapping/>
  </p:clrMapOvr>
  <p:hf hdr="0" ftr="0"/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7156E-175E-4DBA-9D21-B772C320F342}" type="datetimeFigureOut">
              <a:rPr lang="en-US" dirty="0"/>
              <a:t>10/2/2025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5383890"/>
      </p:ext>
    </p:extLst>
  </p:cSld>
  <p:clrMapOvr>
    <a:masterClrMapping/>
  </p:clrMapOvr>
  <p:hf hdr="0" ftr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1D06AF-EF87-8489-2C82-DEB90B7EFE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381" y="553616"/>
            <a:ext cx="8273140" cy="4008859"/>
          </a:xfrm>
        </p:spPr>
        <p:txBody>
          <a:bodyPr anchor="t">
            <a:normAutofit/>
          </a:bodyPr>
          <a:lstStyle>
            <a:lvl1pPr>
              <a:defRPr sz="5400" cap="all" baseline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8E5678-CA38-1318-9EA2-5E0A4F9A59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3380" y="4589463"/>
            <a:ext cx="8273140" cy="1384617"/>
          </a:xfrm>
        </p:spPr>
        <p:txBody>
          <a:bodyPr anchor="b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E99186-7E5A-60AF-DE69-5C7DA71611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895F6E-3D02-4292-95D1-C62B3126321B}" type="datetimeFigureOut">
              <a:rPr lang="en-US" dirty="0"/>
              <a:t>10/2/2025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FA13D1-1FBA-E820-323B-77B41F1A6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39BE85-85F6-4636-C651-D87CC969A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0154458"/>
      </p:ext>
    </p:extLst>
  </p:cSld>
  <p:clrMapOvr>
    <a:masterClrMapping/>
  </p:clrMapOvr>
  <p:hf hdr="0" ftr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741152" cy="113225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2E861E-DFBA-B4AA-9356-CDE3D3F57C0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12648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1D7538-EC5A-3EE7-176F-A58920C507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CB5ACB-D10C-44A8-9570-124370F4CB38}" type="datetimeFigureOut">
              <a:rPr lang="en-US" dirty="0"/>
              <a:t>10/2/2025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0060793"/>
      </p:ext>
    </p:extLst>
  </p:cSld>
  <p:clrMapOvr>
    <a:masterClrMapping/>
  </p:clrMapOvr>
  <p:hf hdr="0" ftr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547396"/>
            <a:ext cx="10745788" cy="114329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1685735"/>
            <a:ext cx="5157787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4DA52B0-7419-A946-4523-6D34BCAD26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9600" y="2386894"/>
            <a:ext cx="5157787" cy="376508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5735"/>
            <a:ext cx="5183188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3BAE980-E611-98B5-04E9-DE4584B0E33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199" y="2386894"/>
            <a:ext cx="5183189" cy="376508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8D84F4-0E7A-4BDE-98C6-AE68FB974645}" type="datetimeFigureOut">
              <a:rPr lang="en-US" dirty="0"/>
              <a:t>10/2/2025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6430153"/>
      </p:ext>
    </p:extLst>
  </p:cSld>
  <p:clrMapOvr>
    <a:masterClrMapping/>
  </p:clrMapOvr>
  <p:hf hdr="0" ftr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EFF1D8-9801-4C4B-92F3-66C9A863BD74}" type="datetimeFigureOut">
              <a:rPr lang="en-US" dirty="0"/>
              <a:t>10/2/2025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1543976"/>
      </p:ext>
    </p:extLst>
  </p:cSld>
  <p:clrMapOvr>
    <a:masterClrMapping/>
  </p:clrMapOvr>
  <p:hf hdr="0" ftr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1FE8FD-B23E-4E1A-83EF-0847EBEA0105}" type="datetimeFigureOut">
              <a:rPr lang="en-US" dirty="0"/>
              <a:t>10/2/2025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556439"/>
      </p:ext>
    </p:extLst>
  </p:cSld>
  <p:clrMapOvr>
    <a:masterClrMapping/>
  </p:clrMapOvr>
  <p:hf hdr="0" ftr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7160" y="553616"/>
            <a:ext cx="3595634" cy="1757505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4708" y="553616"/>
            <a:ext cx="6279741" cy="548640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97160" y="2311121"/>
            <a:ext cx="3595634" cy="3728895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DF891E-A7C2-465C-AD39-8EDCB0F58E3C}" type="datetimeFigureOut">
              <a:rPr lang="en-US" dirty="0"/>
              <a:t>10/2/2025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7333672"/>
      </p:ext>
    </p:extLst>
  </p:cSld>
  <p:clrMapOvr>
    <a:masterClrMapping/>
  </p:clrMapOvr>
  <p:hf hdr="0" ftr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557784"/>
            <a:ext cx="3595634" cy="2212313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71C769-CEC8-962A-01E6-15B0E056791E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063319" y="657103"/>
            <a:ext cx="6483687" cy="5555904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09601" y="2826137"/>
            <a:ext cx="3585586" cy="3434638"/>
          </a:xfrm>
        </p:spPr>
        <p:txBody>
          <a:bodyPr anchor="b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9F93E5-AFB6-485C-8E3C-32F92A07875F}" type="datetimeFigureOut">
              <a:rPr lang="en-US" dirty="0"/>
              <a:t>10/2/2025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5727182"/>
      </p:ext>
    </p:extLst>
  </p:cSld>
  <p:clrMapOvr>
    <a:masterClrMapping/>
  </p:clrMapOvr>
  <p:hf hdr="0" ftr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4E956D-CB73-C986-F100-46487310D1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515600" cy="113225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E423E6A-A07C-BF0D-EA30-9A8A854E48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12648" y="1680898"/>
            <a:ext cx="10515600" cy="449606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DC9908-8F95-8DFC-72CC-158552B567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E76D0F-5A12-4D0A-80B0-1A6122B61E7B}" type="datetimeFigureOut">
              <a:rPr lang="en-US" dirty="0"/>
              <a:t>10/2/2025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26C9BE-9060-50CB-2BB7-07307FF89A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4A835B-97D3-BC22-F0B8-4986D46362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3393876"/>
      </p:ext>
    </p:extLst>
  </p:cSld>
  <p:clrMapOvr>
    <a:masterClrMapping/>
  </p:clrMapOvr>
  <p:hf hdr="0" ftr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85B0252-346C-F6F4-3642-19F571550D4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634888" y="578497"/>
            <a:ext cx="2047037" cy="5598466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98DA36-7351-9D6A-518B-678AB8A507D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578497"/>
            <a:ext cx="8796688" cy="559846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46BDFF-D746-836C-04B8-CA89AD5D14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9E8C84-89CA-44AB-B0BE-5C91BAF75478}" type="datetimeFigureOut">
              <a:rPr lang="en-US" dirty="0"/>
              <a:t>10/2/2025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9AA929-A9E6-FF9C-0C59-177F892D6A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16D893-7E81-90DC-4139-7687B39C3A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1395366"/>
      </p:ext>
    </p:extLst>
  </p:cSld>
  <p:clrMapOvr>
    <a:masterClrMapping/>
  </p:clrMapOvr>
  <p:hf hdr="0" ftr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715532"/>
            <a:ext cx="10653579" cy="4593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37160" y="6453002"/>
            <a:ext cx="34943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3A332BE1-279E-4118-9FE3-7952B079A510}" type="datetimeFigureOut">
              <a:rPr lang="en-US" dirty="0"/>
              <a:t>10/2/2025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876521" y="6453002"/>
            <a:ext cx="28054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32162" y="6453002"/>
            <a:ext cx="42920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27223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5" orient="horz" pos="2160">
          <p15:clr>
            <a:srgbClr val="F26B43"/>
          </p15:clr>
        </p15:guide>
        <p15:guide id="6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microsoft.com/office/2018/10/relationships/comments" Target="../comments/modernComment_10F_43BB5419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Premium Photo | Globe view of Planet Earth from space Shows the earth's ...">
            <a:extLst>
              <a:ext uri="{FF2B5EF4-FFF2-40B4-BE49-F238E27FC236}">
                <a16:creationId xmlns:a16="http://schemas.microsoft.com/office/drawing/2014/main" id="{0C6812E7-DFBA-EBB4-9F52-92085382EAE6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40000"/>
          </a:blip>
          <a:srcRect l="444"/>
          <a:stretch>
            <a:fillRect/>
          </a:stretch>
        </p:blipFill>
        <p:spPr>
          <a:xfrm>
            <a:off x="-2" y="-2"/>
            <a:ext cx="12192001" cy="6858001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98318" y="432497"/>
            <a:ext cx="9014269" cy="975396"/>
          </a:xfrm>
        </p:spPr>
        <p:txBody>
          <a:bodyPr anchor="t">
            <a:normAutofit fontScale="90000"/>
          </a:bodyPr>
          <a:lstStyle/>
          <a:p>
            <a:r>
              <a:rPr lang="en-US" sz="6000">
                <a:solidFill>
                  <a:srgbClr val="FFFFFF"/>
                </a:solidFill>
                <a:latin typeface="Bierstadt"/>
              </a:rPr>
              <a:t>TANGO GATOR-SAT Project</a:t>
            </a:r>
            <a:br>
              <a:rPr lang="en-US" sz="6000">
                <a:latin typeface="Bierstadt"/>
              </a:rPr>
            </a:br>
            <a:endParaRPr lang="en-US" sz="6000">
              <a:solidFill>
                <a:srgbClr val="FFFFFF"/>
              </a:solidFill>
              <a:latin typeface="Bierstadt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452974" y="1411703"/>
            <a:ext cx="3300696" cy="1348716"/>
          </a:xfrm>
        </p:spPr>
        <p:txBody>
          <a:bodyPr anchor="t">
            <a:normAutofit/>
          </a:bodyPr>
          <a:lstStyle/>
          <a:p>
            <a:r>
              <a:rPr lang="en-US" sz="2400" i="0">
                <a:solidFill>
                  <a:srgbClr val="FFFFFF"/>
                </a:solidFill>
                <a:latin typeface="Bierstadt"/>
              </a:rPr>
              <a:t>System Design Review</a:t>
            </a:r>
          </a:p>
          <a:p>
            <a:endParaRPr lang="en-US" sz="2400" i="0">
              <a:solidFill>
                <a:srgbClr val="FFFFFF"/>
              </a:solidFill>
              <a:latin typeface="Bierstadt"/>
            </a:endParaRP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C3C06EBE-E9C3-444A-210C-EBACF003A901}"/>
              </a:ext>
            </a:extLst>
          </p:cNvPr>
          <p:cNvSpPr txBox="1">
            <a:spLocks/>
          </p:cNvSpPr>
          <p:nvPr/>
        </p:nvSpPr>
        <p:spPr>
          <a:xfrm>
            <a:off x="920479" y="5135267"/>
            <a:ext cx="10363411" cy="172402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2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2400" i="0">
                <a:solidFill>
                  <a:srgbClr val="FFFFFF"/>
                </a:solidFill>
                <a:latin typeface="Bierstadt"/>
              </a:rPr>
              <a:t>Naomi Camargo, </a:t>
            </a:r>
            <a:r>
              <a:rPr lang="en-US" sz="2400" i="0" err="1">
                <a:solidFill>
                  <a:srgbClr val="FFFFFF"/>
                </a:solidFill>
                <a:latin typeface="Bierstadt"/>
              </a:rPr>
              <a:t>Shadalou</a:t>
            </a:r>
            <a:r>
              <a:rPr lang="en-US" sz="2400" i="0">
                <a:solidFill>
                  <a:srgbClr val="FFFFFF"/>
                </a:solidFill>
                <a:latin typeface="Bierstadt"/>
              </a:rPr>
              <a:t> Fernandez, Andre Hada, Nicholas Hirsh, Nicholas Kottas, Dhruv Mathuria, Nishtha Rajani, Noah Touchton, Ian Truelsegaard</a:t>
            </a:r>
            <a:endParaRPr lang="en-US">
              <a:solidFill>
                <a:srgbClr val="FFFFFF"/>
              </a:solidFill>
              <a:latin typeface="Bierstadt"/>
            </a:endParaRPr>
          </a:p>
          <a:p>
            <a:pPr algn="ctr"/>
            <a:r>
              <a:rPr lang="en-US" i="0">
                <a:latin typeface="Bierstadt"/>
              </a:rPr>
              <a:t>University of Florida – EAS4700  - October 9th, 2025</a:t>
            </a:r>
            <a:endParaRPr lang="en-US">
              <a:latin typeface="Bierstadt"/>
            </a:endParaRPr>
          </a:p>
        </p:txBody>
      </p:sp>
      <p:pic>
        <p:nvPicPr>
          <p:cNvPr id="6" name="Picture 5" descr="A logo of a planet&#10;&#10;AI-generated content may be incorrect.">
            <a:extLst>
              <a:ext uri="{FF2B5EF4-FFF2-40B4-BE49-F238E27FC236}">
                <a16:creationId xmlns:a16="http://schemas.microsoft.com/office/drawing/2014/main" id="{482A37D7-B211-E317-6F3D-B5EF854A0E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1224" y="1944077"/>
            <a:ext cx="2999322" cy="2969847"/>
          </a:xfrm>
          <a:prstGeom prst="rect">
            <a:avLst/>
          </a:prstGeom>
        </p:spPr>
      </p:pic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0AFBF62-DAFC-98A8-A6DC-DAE8EE2E64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32162" y="6453002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dirty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6080926-DADE-7FD2-0802-1D75C28AA5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Premium Photo | Globe view of Planet Earth from space Shows the earth's ...">
            <a:extLst>
              <a:ext uri="{FF2B5EF4-FFF2-40B4-BE49-F238E27FC236}">
                <a16:creationId xmlns:a16="http://schemas.microsoft.com/office/drawing/2014/main" id="{75C04BA0-6172-125A-4182-389C879964DB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40000"/>
          </a:blip>
          <a:srcRect l="444"/>
          <a:stretch>
            <a:fillRect/>
          </a:stretch>
        </p:blipFill>
        <p:spPr>
          <a:xfrm>
            <a:off x="-2" y="-2"/>
            <a:ext cx="12192001" cy="685800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BC9915F-44FE-A6E5-82B5-5D023366B8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93165" y="2454728"/>
            <a:ext cx="9014269" cy="975396"/>
          </a:xfrm>
        </p:spPr>
        <p:txBody>
          <a:bodyPr anchor="t">
            <a:normAutofit fontScale="90000"/>
          </a:bodyPr>
          <a:lstStyle/>
          <a:p>
            <a:r>
              <a:rPr lang="en-US" sz="6000" dirty="0">
                <a:solidFill>
                  <a:srgbClr val="FFFFFF"/>
                </a:solidFill>
                <a:latin typeface="Bierstadt"/>
              </a:rPr>
              <a:t>Communications</a:t>
            </a:r>
            <a:br>
              <a:rPr lang="en-US" sz="6000" dirty="0">
                <a:latin typeface="Bierstadt"/>
              </a:rPr>
            </a:br>
            <a:endParaRPr lang="en-US" sz="6000" dirty="0">
              <a:latin typeface="Bierstadt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4A4F2D-8B1D-5F28-0BB9-88DD5046C8E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47821" y="3433933"/>
            <a:ext cx="3300696" cy="1348716"/>
          </a:xfrm>
        </p:spPr>
        <p:txBody>
          <a:bodyPr anchor="t">
            <a:normAutofit/>
          </a:bodyPr>
          <a:lstStyle/>
          <a:p>
            <a:r>
              <a:rPr lang="en-US" sz="2800" dirty="0">
                <a:solidFill>
                  <a:srgbClr val="FFFFFF"/>
                </a:solidFill>
                <a:latin typeface="Bierstadt"/>
              </a:rPr>
              <a:t>Noah Touchton</a:t>
            </a:r>
            <a:endParaRPr lang="en-US" sz="2800" i="0" dirty="0">
              <a:solidFill>
                <a:srgbClr val="FFFFFF"/>
              </a:solidFill>
              <a:latin typeface="Bierstadt"/>
            </a:endParaRPr>
          </a:p>
          <a:p>
            <a:endParaRPr lang="en-US" sz="2400" i="0" dirty="0">
              <a:solidFill>
                <a:srgbClr val="FFFFFF"/>
              </a:solidFill>
              <a:latin typeface="Bierstadt"/>
            </a:endParaRPr>
          </a:p>
        </p:txBody>
      </p:sp>
      <p:pic>
        <p:nvPicPr>
          <p:cNvPr id="6" name="Picture 5" descr="A logo of a planet&#10;&#10;AI-generated content may be incorrect.">
            <a:extLst>
              <a:ext uri="{FF2B5EF4-FFF2-40B4-BE49-F238E27FC236}">
                <a16:creationId xmlns:a16="http://schemas.microsoft.com/office/drawing/2014/main" id="{8F7B27B6-1DC6-F11D-4D99-5F030A3633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87399" y="168402"/>
            <a:ext cx="1672568" cy="1582152"/>
          </a:xfrm>
          <a:prstGeom prst="rect">
            <a:avLst/>
          </a:prstGeom>
        </p:spPr>
      </p:pic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0F93B5F8-1909-5B8D-036E-75207B5BE2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32162" y="6453002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dirty="0"/>
              <a:t>2</a:t>
            </a:fld>
            <a:endParaRPr lang="en-US"/>
          </a:p>
        </p:txBody>
      </p:sp>
      <p:pic>
        <p:nvPicPr>
          <p:cNvPr id="4" name="Picture 3" descr="A black and white sign with white text&#10;&#10;AI-generated content may be incorrect.">
            <a:extLst>
              <a:ext uri="{FF2B5EF4-FFF2-40B4-BE49-F238E27FC236}">
                <a16:creationId xmlns:a16="http://schemas.microsoft.com/office/drawing/2014/main" id="{7DE0DF91-5BC1-0621-4E2F-80087AC14C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6538" y="168822"/>
            <a:ext cx="4103077" cy="10007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854053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231DDD-2837-2F06-3938-99A9ED1DA6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54D4A4-1DA0-41DE-33D4-7D34DCABFF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403497"/>
            <a:ext cx="10653578" cy="1132258"/>
          </a:xfrm>
        </p:spPr>
        <p:txBody>
          <a:bodyPr/>
          <a:lstStyle/>
          <a:p>
            <a:r>
              <a:rPr lang="en-US" dirty="0"/>
              <a:t>System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2E6774-84BA-5D10-9573-80AB216746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1708681"/>
            <a:ext cx="11155680" cy="3767328"/>
          </a:xfrm>
        </p:spPr>
        <p:txBody>
          <a:bodyPr vert="horz" lIns="91440" tIns="45720" rIns="91440" bIns="45720" rtlCol="0" anchor="t">
            <a:normAutofit lnSpcReduction="10000"/>
          </a:bodyPr>
          <a:lstStyle/>
          <a:p>
            <a:r>
              <a:rPr lang="en-US" sz="1400" dirty="0">
                <a:latin typeface="Bierstadt"/>
                <a:ea typeface="Calibri"/>
                <a:cs typeface="Calibri"/>
              </a:rPr>
              <a:t>One onboard computer in the main satellite manages data handling, with a 64GB eMMC for buffering payload data prior to downlink.</a:t>
            </a:r>
          </a:p>
          <a:p>
            <a:r>
              <a:rPr lang="en-US" sz="1400" dirty="0">
                <a:latin typeface="Bierstadt"/>
                <a:ea typeface="Calibri"/>
                <a:cs typeface="Calibri"/>
              </a:rPr>
              <a:t>The communication system has dedicated subsystems for downlink, telemetry and command, and inter-sat links.</a:t>
            </a:r>
          </a:p>
          <a:p>
            <a:r>
              <a:rPr lang="en-US" sz="1600" dirty="0">
                <a:latin typeface="Bierstadt"/>
                <a:ea typeface="Calibri"/>
                <a:cs typeface="Calibri"/>
              </a:rPr>
              <a:t>Data Handling</a:t>
            </a:r>
          </a:p>
          <a:p>
            <a:pPr lvl="1"/>
            <a:r>
              <a:rPr lang="en-US" sz="1400" dirty="0">
                <a:latin typeface="Bierstadt"/>
                <a:ea typeface="Calibri"/>
                <a:cs typeface="Calibri"/>
              </a:rPr>
              <a:t>Controlled by </a:t>
            </a:r>
            <a:r>
              <a:rPr lang="en-US" sz="1400" dirty="0"/>
              <a:t>STM32H723VET6 microcontroller.</a:t>
            </a:r>
          </a:p>
          <a:p>
            <a:pPr lvl="1"/>
            <a:r>
              <a:rPr lang="en-US" sz="1400" dirty="0">
                <a:latin typeface="Bierstadt"/>
                <a:ea typeface="Calibri"/>
                <a:cs typeface="Calibri"/>
              </a:rPr>
              <a:t>Buffered on a SDINBDG4-64G-ZA3 eMMC.</a:t>
            </a:r>
          </a:p>
          <a:p>
            <a:r>
              <a:rPr lang="en-US" sz="1600" dirty="0">
                <a:latin typeface="Bierstadt"/>
                <a:ea typeface="Calibri"/>
                <a:cs typeface="Calibri"/>
              </a:rPr>
              <a:t>Payload Downlink</a:t>
            </a:r>
          </a:p>
          <a:p>
            <a:pPr lvl="1"/>
            <a:r>
              <a:rPr lang="en-US" sz="1400" dirty="0">
                <a:latin typeface="Bierstadt"/>
                <a:ea typeface="Calibri"/>
                <a:cs typeface="Calibri"/>
              </a:rPr>
              <a:t>Downlink</a:t>
            </a:r>
          </a:p>
          <a:p>
            <a:r>
              <a:rPr lang="en-US" sz="1600" dirty="0">
                <a:latin typeface="Bierstadt"/>
                <a:ea typeface="Calibri"/>
                <a:cs typeface="Calibri"/>
              </a:rPr>
              <a:t>Telemetry &amp; Command</a:t>
            </a:r>
          </a:p>
          <a:p>
            <a:pPr lvl="1"/>
            <a:r>
              <a:rPr lang="en-US" sz="1400" dirty="0">
                <a:latin typeface="Bierstadt"/>
                <a:ea typeface="Calibri"/>
                <a:cs typeface="Calibri"/>
              </a:rPr>
              <a:t>System</a:t>
            </a:r>
          </a:p>
          <a:p>
            <a:r>
              <a:rPr lang="en-US" sz="1600" dirty="0">
                <a:latin typeface="Bierstadt"/>
                <a:ea typeface="Calibri"/>
                <a:cs typeface="Calibri"/>
              </a:rPr>
              <a:t>Inter-Sat Communication</a:t>
            </a:r>
          </a:p>
          <a:p>
            <a:pPr lvl="1"/>
            <a:r>
              <a:rPr lang="en-US" sz="1400">
                <a:latin typeface="Bierstadt"/>
                <a:ea typeface="Calibri"/>
                <a:cs typeface="Calibri"/>
              </a:rPr>
              <a:t>System</a:t>
            </a:r>
          </a:p>
          <a:p>
            <a:pPr lvl="1"/>
            <a:endParaRPr lang="en-US" sz="1400" dirty="0">
              <a:latin typeface="Bierstadt"/>
              <a:ea typeface="Calibri"/>
              <a:cs typeface="Calibri"/>
            </a:endParaRPr>
          </a:p>
        </p:txBody>
      </p:sp>
      <p:pic>
        <p:nvPicPr>
          <p:cNvPr id="9" name="Picture 8" descr="A logo of a planet&#10;&#10;AI-generated content may be incorrect.">
            <a:extLst>
              <a:ext uri="{FF2B5EF4-FFF2-40B4-BE49-F238E27FC236}">
                <a16:creationId xmlns:a16="http://schemas.microsoft.com/office/drawing/2014/main" id="{E6D4AEEB-DB8E-F994-0D5B-17DE16EA3F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10540" y="196315"/>
            <a:ext cx="1293894" cy="1288609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9B35ADC-BC7C-78F8-E57D-05D459293AD0}"/>
              </a:ext>
            </a:extLst>
          </p:cNvPr>
          <p:cNvCxnSpPr/>
          <p:nvPr/>
        </p:nvCxnSpPr>
        <p:spPr>
          <a:xfrm flipV="1">
            <a:off x="526142" y="1094617"/>
            <a:ext cx="9748761" cy="30239"/>
          </a:xfrm>
          <a:prstGeom prst="straightConnector1">
            <a:avLst/>
          </a:prstGeom>
          <a:ln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A4975F04-4B91-666F-69DB-04584D4B1539}"/>
              </a:ext>
            </a:extLst>
          </p:cNvPr>
          <p:cNvSpPr txBox="1"/>
          <p:nvPr/>
        </p:nvSpPr>
        <p:spPr>
          <a:xfrm>
            <a:off x="3190350" y="6440249"/>
            <a:ext cx="5811296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b="1">
                <a:solidFill>
                  <a:schemeClr val="bg1">
                    <a:lumMod val="49000"/>
                  </a:schemeClr>
                </a:solidFill>
                <a:latin typeface="Bierstadt"/>
              </a:rPr>
              <a:t>Name - Email</a:t>
            </a:r>
            <a:endParaRPr lang="en-US">
              <a:solidFill>
                <a:schemeClr val="bg1">
                  <a:lumMod val="49000"/>
                </a:schemeClr>
              </a:solidFill>
            </a:endParaRP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70F8EDEC-93BC-E121-CA40-9EC2EA066D25}"/>
              </a:ext>
            </a:extLst>
          </p:cNvPr>
          <p:cNvCxnSpPr>
            <a:cxnSpLocks/>
          </p:cNvCxnSpPr>
          <p:nvPr/>
        </p:nvCxnSpPr>
        <p:spPr>
          <a:xfrm>
            <a:off x="526141" y="6362093"/>
            <a:ext cx="11151808" cy="18141"/>
          </a:xfrm>
          <a:prstGeom prst="straightConnector1">
            <a:avLst/>
          </a:prstGeom>
          <a:ln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21C386-C1BF-1482-DDED-D1A12F0E2F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t>3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E412DE6-4D23-698E-E23D-88FDB8A0548C}"/>
              </a:ext>
            </a:extLst>
          </p:cNvPr>
          <p:cNvSpPr txBox="1"/>
          <p:nvPr/>
        </p:nvSpPr>
        <p:spPr>
          <a:xfrm>
            <a:off x="611347" y="6442164"/>
            <a:ext cx="4138811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solidFill>
                  <a:schemeClr val="bg1">
                    <a:lumMod val="49000"/>
                  </a:schemeClr>
                </a:solidFill>
                <a:latin typeface="Bierstadt Bold"/>
              </a:rPr>
              <a:t>10/09/25</a:t>
            </a:r>
            <a:r>
              <a:rPr lang="en-US">
                <a:latin typeface="Bierstadt Bold"/>
              </a:rPr>
              <a:t> 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7A0DBF7-B88D-71C3-1ED2-616A23DE1562}"/>
              </a:ext>
            </a:extLst>
          </p:cNvPr>
          <p:cNvSpPr txBox="1"/>
          <p:nvPr/>
        </p:nvSpPr>
        <p:spPr>
          <a:xfrm>
            <a:off x="9638323" y="6443785"/>
            <a:ext cx="274320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solidFill>
                  <a:schemeClr val="bg1">
                    <a:lumMod val="49000"/>
                  </a:schemeClr>
                </a:solidFill>
                <a:latin typeface="Bierstadt Bold"/>
              </a:rPr>
              <a:t>TANGO SDR​ - UF</a:t>
            </a:r>
            <a:endParaRPr lang="en-US">
              <a:solidFill>
                <a:schemeClr val="bg1">
                  <a:lumMod val="49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585816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538E7E-13FB-10B5-CA3C-FC5754B322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F01489-289E-1B22-7DC2-D485BBEBD0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403497"/>
            <a:ext cx="10653578" cy="1132258"/>
          </a:xfrm>
        </p:spPr>
        <p:txBody>
          <a:bodyPr/>
          <a:lstStyle/>
          <a:p>
            <a:r>
              <a:rPr lang="en-US" dirty="0"/>
              <a:t>Requirements</a:t>
            </a:r>
          </a:p>
        </p:txBody>
      </p:sp>
      <p:pic>
        <p:nvPicPr>
          <p:cNvPr id="9" name="Picture 8" descr="A logo of a planet&#10;&#10;AI-generated content may be incorrect.">
            <a:extLst>
              <a:ext uri="{FF2B5EF4-FFF2-40B4-BE49-F238E27FC236}">
                <a16:creationId xmlns:a16="http://schemas.microsoft.com/office/drawing/2014/main" id="{F798A9A5-36EF-B004-192C-4FB28AE318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10540" y="196315"/>
            <a:ext cx="1293894" cy="1288609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8B000819-6E64-184F-73BF-CD6E0A7B6718}"/>
              </a:ext>
            </a:extLst>
          </p:cNvPr>
          <p:cNvCxnSpPr/>
          <p:nvPr/>
        </p:nvCxnSpPr>
        <p:spPr>
          <a:xfrm flipV="1">
            <a:off x="526142" y="1094617"/>
            <a:ext cx="9748761" cy="30239"/>
          </a:xfrm>
          <a:prstGeom prst="straightConnector1">
            <a:avLst/>
          </a:prstGeom>
          <a:ln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0D9DAF19-741C-2FE8-2DD6-0DD25678C867}"/>
              </a:ext>
            </a:extLst>
          </p:cNvPr>
          <p:cNvSpPr txBox="1"/>
          <p:nvPr/>
        </p:nvSpPr>
        <p:spPr>
          <a:xfrm>
            <a:off x="3190350" y="6440249"/>
            <a:ext cx="5811296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b="1">
                <a:solidFill>
                  <a:schemeClr val="bg1">
                    <a:lumMod val="49000"/>
                  </a:schemeClr>
                </a:solidFill>
                <a:latin typeface="Bierstadt"/>
              </a:rPr>
              <a:t>Name - Email</a:t>
            </a:r>
            <a:endParaRPr lang="en-US">
              <a:solidFill>
                <a:schemeClr val="bg1">
                  <a:lumMod val="49000"/>
                </a:schemeClr>
              </a:solidFill>
            </a:endParaRP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E46E2994-DCCF-4011-33BB-2F1770E0E1A1}"/>
              </a:ext>
            </a:extLst>
          </p:cNvPr>
          <p:cNvCxnSpPr>
            <a:cxnSpLocks/>
          </p:cNvCxnSpPr>
          <p:nvPr/>
        </p:nvCxnSpPr>
        <p:spPr>
          <a:xfrm>
            <a:off x="526141" y="6362093"/>
            <a:ext cx="11151808" cy="18141"/>
          </a:xfrm>
          <a:prstGeom prst="straightConnector1">
            <a:avLst/>
          </a:prstGeom>
          <a:ln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66B0670-2369-BF90-550E-456C4CAE8D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t>4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010D935-00A0-36F6-B05A-A73F7B387750}"/>
              </a:ext>
            </a:extLst>
          </p:cNvPr>
          <p:cNvSpPr txBox="1"/>
          <p:nvPr/>
        </p:nvSpPr>
        <p:spPr>
          <a:xfrm>
            <a:off x="611347" y="6442164"/>
            <a:ext cx="4138811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solidFill>
                  <a:schemeClr val="bg1">
                    <a:lumMod val="49000"/>
                  </a:schemeClr>
                </a:solidFill>
                <a:latin typeface="Bierstadt Bold"/>
              </a:rPr>
              <a:t>10/09/25</a:t>
            </a:r>
            <a:r>
              <a:rPr lang="en-US">
                <a:latin typeface="Bierstadt Bold"/>
              </a:rPr>
              <a:t> 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AB1D8C5-5526-DC62-BD0B-8507E02330AB}"/>
              </a:ext>
            </a:extLst>
          </p:cNvPr>
          <p:cNvSpPr txBox="1"/>
          <p:nvPr/>
        </p:nvSpPr>
        <p:spPr>
          <a:xfrm>
            <a:off x="9638323" y="6443785"/>
            <a:ext cx="274320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solidFill>
                  <a:schemeClr val="bg1">
                    <a:lumMod val="49000"/>
                  </a:schemeClr>
                </a:solidFill>
                <a:latin typeface="Bierstadt Bold"/>
              </a:rPr>
              <a:t>TANGO SDR​ - UF</a:t>
            </a:r>
            <a:endParaRPr lang="en-US">
              <a:solidFill>
                <a:schemeClr val="bg1">
                  <a:lumMod val="49000"/>
                </a:schemeClr>
              </a:solidFill>
            </a:endParaRPr>
          </a:p>
        </p:txBody>
      </p:sp>
      <p:graphicFrame>
        <p:nvGraphicFramePr>
          <p:cNvPr id="12" name="Content Placeholder 4">
            <a:extLst>
              <a:ext uri="{FF2B5EF4-FFF2-40B4-BE49-F238E27FC236}">
                <a16:creationId xmlns:a16="http://schemas.microsoft.com/office/drawing/2014/main" id="{271F74EB-B326-9FE5-BC22-4B901197891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21582667"/>
              </p:ext>
            </p:extLst>
          </p:nvPr>
        </p:nvGraphicFramePr>
        <p:xfrm>
          <a:off x="612775" y="1716088"/>
          <a:ext cx="10653708" cy="3870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5618">
                  <a:extLst>
                    <a:ext uri="{9D8B030D-6E8A-4147-A177-3AD203B41FA5}">
                      <a16:colId xmlns:a16="http://schemas.microsoft.com/office/drawing/2014/main" val="3098987667"/>
                    </a:ext>
                  </a:extLst>
                </a:gridCol>
                <a:gridCol w="1775618">
                  <a:extLst>
                    <a:ext uri="{9D8B030D-6E8A-4147-A177-3AD203B41FA5}">
                      <a16:colId xmlns:a16="http://schemas.microsoft.com/office/drawing/2014/main" val="3687653135"/>
                    </a:ext>
                  </a:extLst>
                </a:gridCol>
                <a:gridCol w="1775618">
                  <a:extLst>
                    <a:ext uri="{9D8B030D-6E8A-4147-A177-3AD203B41FA5}">
                      <a16:colId xmlns:a16="http://schemas.microsoft.com/office/drawing/2014/main" val="908228730"/>
                    </a:ext>
                  </a:extLst>
                </a:gridCol>
                <a:gridCol w="1775618">
                  <a:extLst>
                    <a:ext uri="{9D8B030D-6E8A-4147-A177-3AD203B41FA5}">
                      <a16:colId xmlns:a16="http://schemas.microsoft.com/office/drawing/2014/main" val="3533606866"/>
                    </a:ext>
                  </a:extLst>
                </a:gridCol>
                <a:gridCol w="1775618">
                  <a:extLst>
                    <a:ext uri="{9D8B030D-6E8A-4147-A177-3AD203B41FA5}">
                      <a16:colId xmlns:a16="http://schemas.microsoft.com/office/drawing/2014/main" val="2473987835"/>
                    </a:ext>
                  </a:extLst>
                </a:gridCol>
                <a:gridCol w="1775618">
                  <a:extLst>
                    <a:ext uri="{9D8B030D-6E8A-4147-A177-3AD203B41FA5}">
                      <a16:colId xmlns:a16="http://schemas.microsoft.com/office/drawing/2014/main" val="330848909"/>
                    </a:ext>
                  </a:extLst>
                </a:gridCol>
              </a:tblGrid>
              <a:tr h="363062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Standard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Source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Name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Description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Supported By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Status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4030238"/>
                  </a:ext>
                </a:extLst>
              </a:tr>
              <a:tr h="363062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Give </a:t>
                      </a:r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EAS 4700 Project Requirements</a:t>
                      </a:r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Spacecraft Communication System</a:t>
                      </a:r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The GATOR-SAT </a:t>
                      </a:r>
                      <a:r>
                        <a:rPr lang="en-US" sz="1100" dirty="0" err="1"/>
                        <a:t>SmallSat</a:t>
                      </a:r>
                      <a:r>
                        <a:rPr lang="en-US" sz="1100" dirty="0"/>
                        <a:t> should be able to transmit and receive data such as position, health, and desired mission data to and from earth.</a:t>
                      </a:r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The S-Band antenna gives the transmitter and transceiver the ability to communicate with ground stations.</a:t>
                      </a:r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solidFill>
                      <a:srgbClr val="A4C9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4263199"/>
                  </a:ext>
                </a:extLst>
              </a:tr>
              <a:tr h="36306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ASD-GTRS-02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EAS 4700 Project Requirements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 err="1"/>
                        <a:t>InterSat</a:t>
                      </a:r>
                      <a:r>
                        <a:rPr lang="en-US" sz="1600" dirty="0"/>
                        <a:t> Communication System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The GATOR-SAT </a:t>
                      </a:r>
                      <a:r>
                        <a:rPr lang="en-US" sz="1100" dirty="0" err="1"/>
                        <a:t>SmallSat</a:t>
                      </a:r>
                      <a:r>
                        <a:rPr lang="en-US" sz="1100" dirty="0"/>
                        <a:t> must be able to send commands and data between the two Sats.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The UHF antennas on both Sats can send necessary data back and forth to one another.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2719692"/>
                  </a:ext>
                </a:extLst>
              </a:tr>
              <a:tr h="36306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COM-GTRS-03</a:t>
                      </a:r>
                    </a:p>
                    <a:p>
                      <a:pPr algn="ctr"/>
                      <a:endParaRPr lang="en-US" dirty="0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COM-GTRS-01</a:t>
                      </a:r>
                    </a:p>
                    <a:p>
                      <a:pPr algn="ctr"/>
                      <a:endParaRPr lang="en-US" dirty="0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Downlink Data System</a:t>
                      </a:r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The GATOR-Sat </a:t>
                      </a:r>
                      <a:r>
                        <a:rPr lang="en-US" sz="1100" dirty="0" err="1"/>
                        <a:t>SmallSat</a:t>
                      </a:r>
                      <a:r>
                        <a:rPr lang="en-US" sz="1100" dirty="0"/>
                        <a:t> must be able to provide access to experimental data regularly</a:t>
                      </a:r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The chose S-Band transceiver allows high data transfer which meets this requirement.</a:t>
                      </a:r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4782230"/>
                  </a:ext>
                </a:extLst>
              </a:tr>
              <a:tr h="363062"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3541077"/>
                  </a:ext>
                </a:extLst>
              </a:tr>
              <a:tr h="363062"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solidFill>
                      <a:srgbClr val="A4C9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325532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492483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8C66E8-30B1-7A8A-80F5-8E31C70428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EB1C14-F813-0542-072F-BEE89E4D3E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403497"/>
            <a:ext cx="10653578" cy="1132258"/>
          </a:xfrm>
        </p:spPr>
        <p:txBody>
          <a:bodyPr/>
          <a:lstStyle/>
          <a:p>
            <a:r>
              <a:rPr lang="en-US"/>
              <a:t>Table Template</a:t>
            </a:r>
          </a:p>
        </p:txBody>
      </p:sp>
      <p:pic>
        <p:nvPicPr>
          <p:cNvPr id="9" name="Picture 8" descr="A logo of a planet&#10;&#10;AI-generated content may be incorrect.">
            <a:extLst>
              <a:ext uri="{FF2B5EF4-FFF2-40B4-BE49-F238E27FC236}">
                <a16:creationId xmlns:a16="http://schemas.microsoft.com/office/drawing/2014/main" id="{21C9BFF6-5B8F-9368-222C-191C605A8D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10540" y="196315"/>
            <a:ext cx="1293894" cy="1288609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D93E29AB-3A55-96B8-D643-7D4D184CEE3B}"/>
              </a:ext>
            </a:extLst>
          </p:cNvPr>
          <p:cNvCxnSpPr/>
          <p:nvPr/>
        </p:nvCxnSpPr>
        <p:spPr>
          <a:xfrm flipV="1">
            <a:off x="526142" y="1094617"/>
            <a:ext cx="9748761" cy="30239"/>
          </a:xfrm>
          <a:prstGeom prst="straightConnector1">
            <a:avLst/>
          </a:prstGeom>
          <a:ln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C825C826-B380-9A4A-BE71-09F1659F92AA}"/>
              </a:ext>
            </a:extLst>
          </p:cNvPr>
          <p:cNvSpPr txBox="1"/>
          <p:nvPr/>
        </p:nvSpPr>
        <p:spPr>
          <a:xfrm>
            <a:off x="3190350" y="6440249"/>
            <a:ext cx="5811296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b="1">
                <a:solidFill>
                  <a:schemeClr val="bg1">
                    <a:lumMod val="49000"/>
                  </a:schemeClr>
                </a:solidFill>
                <a:latin typeface="Bierstadt"/>
              </a:rPr>
              <a:t>Name - Email</a:t>
            </a:r>
            <a:endParaRPr lang="en-US">
              <a:solidFill>
                <a:schemeClr val="bg1">
                  <a:lumMod val="49000"/>
                </a:schemeClr>
              </a:solidFill>
            </a:endParaRP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F10CE524-985D-A212-4CBE-D991CA1DE60F}"/>
              </a:ext>
            </a:extLst>
          </p:cNvPr>
          <p:cNvCxnSpPr>
            <a:cxnSpLocks/>
          </p:cNvCxnSpPr>
          <p:nvPr/>
        </p:nvCxnSpPr>
        <p:spPr>
          <a:xfrm>
            <a:off x="526141" y="6362093"/>
            <a:ext cx="11151808" cy="18141"/>
          </a:xfrm>
          <a:prstGeom prst="straightConnector1">
            <a:avLst/>
          </a:prstGeom>
          <a:ln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CA22233-1AAB-C5A7-CE99-8496CC9262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t>5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9B722C0-FCCC-60A9-1081-9D8C2DCC162E}"/>
              </a:ext>
            </a:extLst>
          </p:cNvPr>
          <p:cNvSpPr txBox="1"/>
          <p:nvPr/>
        </p:nvSpPr>
        <p:spPr>
          <a:xfrm>
            <a:off x="611347" y="6442164"/>
            <a:ext cx="4138811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solidFill>
                  <a:schemeClr val="bg1">
                    <a:lumMod val="49000"/>
                  </a:schemeClr>
                </a:solidFill>
                <a:latin typeface="Bierstadt Bold"/>
              </a:rPr>
              <a:t>10/09/25</a:t>
            </a:r>
            <a:r>
              <a:rPr lang="en-US">
                <a:latin typeface="Bierstadt Bold"/>
              </a:rPr>
              <a:t> 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CFCD2A7-08AE-26A6-AE84-79D127A82480}"/>
              </a:ext>
            </a:extLst>
          </p:cNvPr>
          <p:cNvSpPr txBox="1"/>
          <p:nvPr/>
        </p:nvSpPr>
        <p:spPr>
          <a:xfrm>
            <a:off x="9638323" y="6443785"/>
            <a:ext cx="274320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solidFill>
                  <a:schemeClr val="bg1">
                    <a:lumMod val="49000"/>
                  </a:schemeClr>
                </a:solidFill>
                <a:latin typeface="Bierstadt Bold"/>
              </a:rPr>
              <a:t>TANGO SDR​ - UF</a:t>
            </a:r>
            <a:endParaRPr lang="en-US">
              <a:solidFill>
                <a:schemeClr val="bg1">
                  <a:lumMod val="49000"/>
                </a:schemeClr>
              </a:solidFill>
            </a:endParaRPr>
          </a:p>
        </p:txBody>
      </p:sp>
      <p:graphicFrame>
        <p:nvGraphicFramePr>
          <p:cNvPr id="12" name="Content Placeholder 4">
            <a:extLst>
              <a:ext uri="{FF2B5EF4-FFF2-40B4-BE49-F238E27FC236}">
                <a16:creationId xmlns:a16="http://schemas.microsoft.com/office/drawing/2014/main" id="{AE62062F-6DA5-FEFA-CE18-FC56ADC15D4E}"/>
              </a:ext>
            </a:extLst>
          </p:cNvPr>
          <p:cNvGraphicFramePr>
            <a:graphicFrameLocks/>
          </p:cNvGraphicFramePr>
          <p:nvPr/>
        </p:nvGraphicFramePr>
        <p:xfrm>
          <a:off x="612775" y="1716088"/>
          <a:ext cx="10653708" cy="4038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5618">
                  <a:extLst>
                    <a:ext uri="{9D8B030D-6E8A-4147-A177-3AD203B41FA5}">
                      <a16:colId xmlns:a16="http://schemas.microsoft.com/office/drawing/2014/main" val="3098987667"/>
                    </a:ext>
                  </a:extLst>
                </a:gridCol>
                <a:gridCol w="1775618">
                  <a:extLst>
                    <a:ext uri="{9D8B030D-6E8A-4147-A177-3AD203B41FA5}">
                      <a16:colId xmlns:a16="http://schemas.microsoft.com/office/drawing/2014/main" val="3687653135"/>
                    </a:ext>
                  </a:extLst>
                </a:gridCol>
                <a:gridCol w="1775618">
                  <a:extLst>
                    <a:ext uri="{9D8B030D-6E8A-4147-A177-3AD203B41FA5}">
                      <a16:colId xmlns:a16="http://schemas.microsoft.com/office/drawing/2014/main" val="908228730"/>
                    </a:ext>
                  </a:extLst>
                </a:gridCol>
                <a:gridCol w="1775618">
                  <a:extLst>
                    <a:ext uri="{9D8B030D-6E8A-4147-A177-3AD203B41FA5}">
                      <a16:colId xmlns:a16="http://schemas.microsoft.com/office/drawing/2014/main" val="3533606866"/>
                    </a:ext>
                  </a:extLst>
                </a:gridCol>
                <a:gridCol w="1775618">
                  <a:extLst>
                    <a:ext uri="{9D8B030D-6E8A-4147-A177-3AD203B41FA5}">
                      <a16:colId xmlns:a16="http://schemas.microsoft.com/office/drawing/2014/main" val="2473987835"/>
                    </a:ext>
                  </a:extLst>
                </a:gridCol>
                <a:gridCol w="1775618">
                  <a:extLst>
                    <a:ext uri="{9D8B030D-6E8A-4147-A177-3AD203B41FA5}">
                      <a16:colId xmlns:a16="http://schemas.microsoft.com/office/drawing/2014/main" val="330848909"/>
                    </a:ext>
                  </a:extLst>
                </a:gridCol>
              </a:tblGrid>
              <a:tr h="363062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Standard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Source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Name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Description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Supported By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Status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4030238"/>
                  </a:ext>
                </a:extLst>
              </a:tr>
              <a:tr h="363062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COM-GTRS-01</a:t>
                      </a:r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EAS 4700 Project Requirements</a:t>
                      </a:r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Spacecraft Communication System</a:t>
                      </a:r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The GATOR-SAT </a:t>
                      </a:r>
                      <a:r>
                        <a:rPr lang="en-US" sz="1100" dirty="0" err="1"/>
                        <a:t>SmallSat</a:t>
                      </a:r>
                      <a:r>
                        <a:rPr lang="en-US" sz="1100" dirty="0"/>
                        <a:t> should be able to transmit and receive data such as position, health, and desired mission data to and from earth.</a:t>
                      </a:r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The S-Band antenna gives the transmitter and transceiver the ability to communicate with ground stations.</a:t>
                      </a:r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solidFill>
                      <a:srgbClr val="A4C9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4263199"/>
                  </a:ext>
                </a:extLst>
              </a:tr>
              <a:tr h="36306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COM-GTRS-02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EAS 4700 Project Requirements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 err="1"/>
                        <a:t>InterSat</a:t>
                      </a:r>
                      <a:r>
                        <a:rPr lang="en-US" sz="1600" dirty="0"/>
                        <a:t> Communication System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The GATOR-SAT </a:t>
                      </a:r>
                      <a:r>
                        <a:rPr lang="en-US" sz="1100" dirty="0" err="1"/>
                        <a:t>SmallSat</a:t>
                      </a:r>
                      <a:r>
                        <a:rPr lang="en-US" sz="1100" dirty="0"/>
                        <a:t> must be able to send commands and data between the two Sats.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The 915MHz antennas on both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2719692"/>
                  </a:ext>
                </a:extLst>
              </a:tr>
              <a:tr h="36306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COM-GTRS-03</a:t>
                      </a:r>
                    </a:p>
                    <a:p>
                      <a:pPr algn="ctr"/>
                      <a:endParaRPr lang="en-US" dirty="0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COM-GTRS-01</a:t>
                      </a:r>
                    </a:p>
                    <a:p>
                      <a:pPr algn="ctr"/>
                      <a:endParaRPr lang="en-US" dirty="0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The GATOR-Sat </a:t>
                      </a:r>
                      <a:r>
                        <a:rPr lang="en-US" sz="1100" dirty="0" err="1"/>
                        <a:t>SmallSat</a:t>
                      </a:r>
                      <a:r>
                        <a:rPr lang="en-US" sz="1100" dirty="0"/>
                        <a:t> must be able to communicate with ground stations to transmit and receive the data.</a:t>
                      </a:r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4782230"/>
                  </a:ext>
                </a:extLst>
              </a:tr>
              <a:tr h="363062"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3541077"/>
                  </a:ext>
                </a:extLst>
              </a:tr>
              <a:tr h="363062"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solidFill>
                      <a:srgbClr val="A4C9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325532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393750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5DEB81-246B-A57E-5029-3C7298F8F6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A94FA1-A116-4260-A14C-D0ED6CCFC5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3571" y="217882"/>
            <a:ext cx="10653578" cy="1132258"/>
          </a:xfrm>
        </p:spPr>
        <p:txBody>
          <a:bodyPr/>
          <a:lstStyle/>
          <a:p>
            <a:r>
              <a:rPr lang="en-US"/>
              <a:t>Requirements</a:t>
            </a:r>
          </a:p>
        </p:txBody>
      </p:sp>
      <p:pic>
        <p:nvPicPr>
          <p:cNvPr id="9" name="Picture 8" descr="A logo of a planet&#10;&#10;AI-generated content may be incorrect.">
            <a:extLst>
              <a:ext uri="{FF2B5EF4-FFF2-40B4-BE49-F238E27FC236}">
                <a16:creationId xmlns:a16="http://schemas.microsoft.com/office/drawing/2014/main" id="{BDFBEC2A-5025-5514-BAD5-5A5E57D08D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20308" y="929"/>
            <a:ext cx="1147356" cy="1083456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1CEAD82-5EFE-CC06-BE5D-3C951CC73F43}"/>
              </a:ext>
            </a:extLst>
          </p:cNvPr>
          <p:cNvCxnSpPr/>
          <p:nvPr/>
        </p:nvCxnSpPr>
        <p:spPr>
          <a:xfrm flipV="1">
            <a:off x="526142" y="821078"/>
            <a:ext cx="9748761" cy="30239"/>
          </a:xfrm>
          <a:prstGeom prst="straightConnector1">
            <a:avLst/>
          </a:prstGeom>
          <a:ln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03E22B2A-103F-2BA4-60CD-9FC7B52AA23E}"/>
              </a:ext>
            </a:extLst>
          </p:cNvPr>
          <p:cNvSpPr txBox="1"/>
          <p:nvPr/>
        </p:nvSpPr>
        <p:spPr>
          <a:xfrm>
            <a:off x="3190350" y="6440249"/>
            <a:ext cx="5811296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b="1">
                <a:solidFill>
                  <a:schemeClr val="bg1">
                    <a:lumMod val="49000"/>
                  </a:schemeClr>
                </a:solidFill>
                <a:latin typeface="Bierstadt"/>
              </a:rPr>
              <a:t>Name - Email</a:t>
            </a:r>
            <a:endParaRPr lang="en-US">
              <a:solidFill>
                <a:schemeClr val="bg1">
                  <a:lumMod val="49000"/>
                </a:schemeClr>
              </a:solidFill>
            </a:endParaRP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96BD4093-C407-3F84-5768-0FE30B60EAF5}"/>
              </a:ext>
            </a:extLst>
          </p:cNvPr>
          <p:cNvCxnSpPr>
            <a:cxnSpLocks/>
          </p:cNvCxnSpPr>
          <p:nvPr/>
        </p:nvCxnSpPr>
        <p:spPr>
          <a:xfrm>
            <a:off x="526141" y="6362093"/>
            <a:ext cx="11151808" cy="18141"/>
          </a:xfrm>
          <a:prstGeom prst="straightConnector1">
            <a:avLst/>
          </a:prstGeom>
          <a:ln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919FD7C-D347-6E60-5B8D-03A2C35172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t>6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6B6C6CE-3440-8D93-EEF7-DB9B24C66D11}"/>
              </a:ext>
            </a:extLst>
          </p:cNvPr>
          <p:cNvSpPr txBox="1"/>
          <p:nvPr/>
        </p:nvSpPr>
        <p:spPr>
          <a:xfrm>
            <a:off x="611347" y="6442164"/>
            <a:ext cx="4138811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solidFill>
                  <a:schemeClr val="bg1">
                    <a:lumMod val="49000"/>
                  </a:schemeClr>
                </a:solidFill>
                <a:latin typeface="Bierstadt Bold"/>
              </a:rPr>
              <a:t>10/09/25</a:t>
            </a:r>
            <a:r>
              <a:rPr lang="en-US">
                <a:latin typeface="Bierstadt Bold"/>
              </a:rPr>
              <a:t> 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C04AD9A-E5E5-5CA9-B6B1-A408DC021E99}"/>
              </a:ext>
            </a:extLst>
          </p:cNvPr>
          <p:cNvSpPr txBox="1"/>
          <p:nvPr/>
        </p:nvSpPr>
        <p:spPr>
          <a:xfrm>
            <a:off x="9638323" y="6443785"/>
            <a:ext cx="274320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solidFill>
                  <a:schemeClr val="bg1">
                    <a:lumMod val="49000"/>
                  </a:schemeClr>
                </a:solidFill>
                <a:latin typeface="Bierstadt Bold"/>
              </a:rPr>
              <a:t>TANGO SDR​ - UF</a:t>
            </a:r>
            <a:endParaRPr lang="en-US">
              <a:solidFill>
                <a:schemeClr val="bg1">
                  <a:lumMod val="49000"/>
                </a:schemeClr>
              </a:solidFill>
            </a:endParaRPr>
          </a:p>
        </p:txBody>
      </p:sp>
      <p:graphicFrame>
        <p:nvGraphicFramePr>
          <p:cNvPr id="12" name="Content Placeholder 4">
            <a:extLst>
              <a:ext uri="{FF2B5EF4-FFF2-40B4-BE49-F238E27FC236}">
                <a16:creationId xmlns:a16="http://schemas.microsoft.com/office/drawing/2014/main" id="{4A9B0C3D-6086-3FAF-18AF-D65A3B83A52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46367392"/>
              </p:ext>
            </p:extLst>
          </p:nvPr>
        </p:nvGraphicFramePr>
        <p:xfrm>
          <a:off x="417390" y="1081087"/>
          <a:ext cx="11348677" cy="52157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998">
                  <a:extLst>
                    <a:ext uri="{9D8B030D-6E8A-4147-A177-3AD203B41FA5}">
                      <a16:colId xmlns:a16="http://schemas.microsoft.com/office/drawing/2014/main" val="3098987667"/>
                    </a:ext>
                  </a:extLst>
                </a:gridCol>
                <a:gridCol w="5352142">
                  <a:extLst>
                    <a:ext uri="{9D8B030D-6E8A-4147-A177-3AD203B41FA5}">
                      <a16:colId xmlns:a16="http://schemas.microsoft.com/office/drawing/2014/main" val="3687653135"/>
                    </a:ext>
                  </a:extLst>
                </a:gridCol>
                <a:gridCol w="1306285">
                  <a:extLst>
                    <a:ext uri="{9D8B030D-6E8A-4147-A177-3AD203B41FA5}">
                      <a16:colId xmlns:a16="http://schemas.microsoft.com/office/drawing/2014/main" val="908228730"/>
                    </a:ext>
                  </a:extLst>
                </a:gridCol>
                <a:gridCol w="1502629">
                  <a:extLst>
                    <a:ext uri="{9D8B030D-6E8A-4147-A177-3AD203B41FA5}">
                      <a16:colId xmlns:a16="http://schemas.microsoft.com/office/drawing/2014/main" val="2473987835"/>
                    </a:ext>
                  </a:extLst>
                </a:gridCol>
                <a:gridCol w="1409623">
                  <a:extLst>
                    <a:ext uri="{9D8B030D-6E8A-4147-A177-3AD203B41FA5}">
                      <a16:colId xmlns:a16="http://schemas.microsoft.com/office/drawing/2014/main" val="330848909"/>
                    </a:ext>
                  </a:extLst>
                </a:gridCol>
              </a:tblGrid>
              <a:tr h="363062">
                <a:tc>
                  <a:txBody>
                    <a:bodyPr/>
                    <a:lstStyle/>
                    <a:p>
                      <a:r>
                        <a:rPr lang="en-US"/>
                        <a:t>Req #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Description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System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/>
                        <a:t>Verification Method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/>
                        <a:t>Status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4030238"/>
                  </a:ext>
                </a:extLst>
              </a:tr>
              <a:tr h="1269999">
                <a:tc>
                  <a:txBody>
                    <a:bodyPr/>
                    <a:lstStyle/>
                    <a:p>
                      <a:r>
                        <a:rPr lang="en-US" dirty="0"/>
                        <a:t>COM-GTRS-01</a:t>
                      </a:r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0" i="0" u="none" strike="noStrike" noProof="0" dirty="0">
                          <a:latin typeface="Arial"/>
                        </a:rPr>
                        <a:t>The GATOR-SAT </a:t>
                      </a:r>
                      <a:r>
                        <a:rPr lang="en-US" sz="1600" b="0" i="0" u="none" strike="noStrike" noProof="0" dirty="0" err="1">
                          <a:latin typeface="Arial"/>
                        </a:rPr>
                        <a:t>SmallSat</a:t>
                      </a:r>
                      <a:r>
                        <a:rPr lang="en-US" sz="1600" b="0" i="0" u="none" strike="noStrike" noProof="0" dirty="0">
                          <a:latin typeface="Arial"/>
                        </a:rPr>
                        <a:t> shall be capable of launching either as a Co-manifested Payload (CPL) or primary payload on a suitable government-owned or commercially owned launch vehicle that can accommodate </a:t>
                      </a:r>
                      <a:r>
                        <a:rPr lang="en-US" sz="1600" b="0" i="0" u="none" strike="noStrike" noProof="0" dirty="0" err="1">
                          <a:latin typeface="Arial"/>
                        </a:rPr>
                        <a:t>SmallSats</a:t>
                      </a:r>
                      <a:r>
                        <a:rPr lang="en-US" sz="1600" b="0" i="0" u="none" strike="noStrike" noProof="0" dirty="0">
                          <a:latin typeface="Arial"/>
                        </a:rPr>
                        <a:t>. </a:t>
                      </a:r>
                      <a:endParaRPr lang="en-US" sz="1600" dirty="0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All</a:t>
                      </a:r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Demonstration</a:t>
                      </a:r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4263199"/>
                  </a:ext>
                </a:extLst>
              </a:tr>
              <a:tr h="1070428"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 sz="1800" b="0" i="0" u="none" strike="noStrike" noProof="0">
                        <a:solidFill>
                          <a:srgbClr val="000000"/>
                        </a:solidFill>
                        <a:latin typeface="Bierstad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1600" b="0" i="0" u="none" strike="noStrike" noProof="0">
                        <a:latin typeface="Bierstadt 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2719692"/>
                  </a:ext>
                </a:extLst>
              </a:tr>
              <a:tr h="363062"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 sz="1800" b="0" i="0" u="none" strike="noStrike" noProof="0">
                        <a:solidFill>
                          <a:srgbClr val="000000"/>
                        </a:solidFill>
                        <a:latin typeface="Bierstadt"/>
                      </a:endParaRPr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4782230"/>
                  </a:ext>
                </a:extLst>
              </a:tr>
              <a:tr h="363062"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 sz="1800" b="0" i="0" u="none" strike="noStrike" noProof="0">
                        <a:solidFill>
                          <a:srgbClr val="000000"/>
                        </a:solidFill>
                        <a:latin typeface="Bierstad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3541077"/>
                  </a:ext>
                </a:extLst>
              </a:tr>
              <a:tr h="363062"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 sz="1800" b="0" i="0" u="none" strike="noStrike" noProof="0">
                        <a:solidFill>
                          <a:srgbClr val="000000"/>
                        </a:solidFill>
                        <a:latin typeface="Bierstadt"/>
                      </a:endParaRPr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32553279"/>
                  </a:ext>
                </a:extLst>
              </a:tr>
              <a:tr h="363062"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 sz="1800" b="0" i="0" u="none" strike="noStrike" noProof="0">
                        <a:solidFill>
                          <a:srgbClr val="000000"/>
                        </a:solidFill>
                        <a:latin typeface="Bierstad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5348091"/>
                  </a:ext>
                </a:extLst>
              </a:tr>
              <a:tr h="363062"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 sz="1800" b="0" i="0" u="none" strike="noStrike" noProof="0">
                        <a:solidFill>
                          <a:srgbClr val="000000"/>
                        </a:solidFill>
                        <a:latin typeface="Bierstadt"/>
                      </a:endParaRPr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3398252"/>
                  </a:ext>
                </a:extLst>
              </a:tr>
              <a:tr h="363062"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229968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36350233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5DEB81-246B-A57E-5029-3C7298F8F6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A94FA1-A116-4260-A14C-D0ED6CCFC5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3571" y="217882"/>
            <a:ext cx="10653578" cy="1132258"/>
          </a:xfrm>
        </p:spPr>
        <p:txBody>
          <a:bodyPr/>
          <a:lstStyle/>
          <a:p>
            <a:r>
              <a:rPr lang="en-US"/>
              <a:t>Requirements</a:t>
            </a:r>
          </a:p>
        </p:txBody>
      </p:sp>
      <p:pic>
        <p:nvPicPr>
          <p:cNvPr id="9" name="Picture 8" descr="A logo of a planet&#10;&#10;AI-generated content may be incorrect.">
            <a:extLst>
              <a:ext uri="{FF2B5EF4-FFF2-40B4-BE49-F238E27FC236}">
                <a16:creationId xmlns:a16="http://schemas.microsoft.com/office/drawing/2014/main" id="{BDFBEC2A-5025-5514-BAD5-5A5E57D08D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0771" y="108391"/>
            <a:ext cx="1245047" cy="1239763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1CEAD82-5EFE-CC06-BE5D-3C951CC73F43}"/>
              </a:ext>
            </a:extLst>
          </p:cNvPr>
          <p:cNvCxnSpPr/>
          <p:nvPr/>
        </p:nvCxnSpPr>
        <p:spPr>
          <a:xfrm flipV="1">
            <a:off x="526142" y="821078"/>
            <a:ext cx="9748761" cy="30239"/>
          </a:xfrm>
          <a:prstGeom prst="straightConnector1">
            <a:avLst/>
          </a:prstGeom>
          <a:ln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03E22B2A-103F-2BA4-60CD-9FC7B52AA23E}"/>
              </a:ext>
            </a:extLst>
          </p:cNvPr>
          <p:cNvSpPr txBox="1"/>
          <p:nvPr/>
        </p:nvSpPr>
        <p:spPr>
          <a:xfrm>
            <a:off x="3190350" y="6440249"/>
            <a:ext cx="5811296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b="1">
                <a:solidFill>
                  <a:schemeClr val="bg1">
                    <a:lumMod val="49000"/>
                  </a:schemeClr>
                </a:solidFill>
                <a:latin typeface="Bierstadt"/>
              </a:rPr>
              <a:t>Name - Email</a:t>
            </a:r>
            <a:endParaRPr lang="en-US">
              <a:solidFill>
                <a:schemeClr val="bg1">
                  <a:lumMod val="49000"/>
                </a:schemeClr>
              </a:solidFill>
            </a:endParaRP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96BD4093-C407-3F84-5768-0FE30B60EAF5}"/>
              </a:ext>
            </a:extLst>
          </p:cNvPr>
          <p:cNvCxnSpPr>
            <a:cxnSpLocks/>
          </p:cNvCxnSpPr>
          <p:nvPr/>
        </p:nvCxnSpPr>
        <p:spPr>
          <a:xfrm>
            <a:off x="526141" y="6362093"/>
            <a:ext cx="11151808" cy="18141"/>
          </a:xfrm>
          <a:prstGeom prst="straightConnector1">
            <a:avLst/>
          </a:prstGeom>
          <a:ln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919FD7C-D347-6E60-5B8D-03A2C35172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t>7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6B6C6CE-3440-8D93-EEF7-DB9B24C66D11}"/>
              </a:ext>
            </a:extLst>
          </p:cNvPr>
          <p:cNvSpPr txBox="1"/>
          <p:nvPr/>
        </p:nvSpPr>
        <p:spPr>
          <a:xfrm>
            <a:off x="611347" y="6442164"/>
            <a:ext cx="4138811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solidFill>
                  <a:schemeClr val="bg1">
                    <a:lumMod val="49000"/>
                  </a:schemeClr>
                </a:solidFill>
                <a:latin typeface="Bierstadt Bold"/>
              </a:rPr>
              <a:t>10/09/25</a:t>
            </a:r>
            <a:r>
              <a:rPr lang="en-US">
                <a:latin typeface="Bierstadt Bold"/>
              </a:rPr>
              <a:t> 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C04AD9A-E5E5-5CA9-B6B1-A408DC021E99}"/>
              </a:ext>
            </a:extLst>
          </p:cNvPr>
          <p:cNvSpPr txBox="1"/>
          <p:nvPr/>
        </p:nvSpPr>
        <p:spPr>
          <a:xfrm>
            <a:off x="9638323" y="6443785"/>
            <a:ext cx="274320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solidFill>
                  <a:schemeClr val="bg1">
                    <a:lumMod val="49000"/>
                  </a:schemeClr>
                </a:solidFill>
                <a:latin typeface="Bierstadt Bold"/>
              </a:rPr>
              <a:t>TANGO SDR​ - UF</a:t>
            </a:r>
            <a:endParaRPr lang="en-US">
              <a:solidFill>
                <a:schemeClr val="bg1">
                  <a:lumMod val="49000"/>
                </a:schemeClr>
              </a:solidFill>
            </a:endParaRPr>
          </a:p>
        </p:txBody>
      </p:sp>
      <p:graphicFrame>
        <p:nvGraphicFramePr>
          <p:cNvPr id="12" name="Content Placeholder 4">
            <a:extLst>
              <a:ext uri="{FF2B5EF4-FFF2-40B4-BE49-F238E27FC236}">
                <a16:creationId xmlns:a16="http://schemas.microsoft.com/office/drawing/2014/main" id="{4A9B0C3D-6086-3FAF-18AF-D65A3B83A52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972625204"/>
              </p:ext>
            </p:extLst>
          </p:nvPr>
        </p:nvGraphicFramePr>
        <p:xfrm>
          <a:off x="524852" y="1481626"/>
          <a:ext cx="11348699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9740">
                  <a:extLst>
                    <a:ext uri="{9D8B030D-6E8A-4147-A177-3AD203B41FA5}">
                      <a16:colId xmlns:a16="http://schemas.microsoft.com/office/drawing/2014/main" val="3098987667"/>
                    </a:ext>
                  </a:extLst>
                </a:gridCol>
                <a:gridCol w="2910984">
                  <a:extLst>
                    <a:ext uri="{9D8B030D-6E8A-4147-A177-3AD203B41FA5}">
                      <a16:colId xmlns:a16="http://schemas.microsoft.com/office/drawing/2014/main" val="3687653135"/>
                    </a:ext>
                  </a:extLst>
                </a:gridCol>
                <a:gridCol w="1628494">
                  <a:extLst>
                    <a:ext uri="{9D8B030D-6E8A-4147-A177-3AD203B41FA5}">
                      <a16:colId xmlns:a16="http://schemas.microsoft.com/office/drawing/2014/main" val="908228730"/>
                    </a:ext>
                  </a:extLst>
                </a:gridCol>
                <a:gridCol w="3129856">
                  <a:extLst>
                    <a:ext uri="{9D8B030D-6E8A-4147-A177-3AD203B41FA5}">
                      <a16:colId xmlns:a16="http://schemas.microsoft.com/office/drawing/2014/main" val="2473987835"/>
                    </a:ext>
                  </a:extLst>
                </a:gridCol>
                <a:gridCol w="1409625">
                  <a:extLst>
                    <a:ext uri="{9D8B030D-6E8A-4147-A177-3AD203B41FA5}">
                      <a16:colId xmlns:a16="http://schemas.microsoft.com/office/drawing/2014/main" val="330848909"/>
                    </a:ext>
                  </a:extLst>
                </a:gridCol>
              </a:tblGrid>
              <a:tr h="363062">
                <a:tc>
                  <a:txBody>
                    <a:bodyPr/>
                    <a:lstStyle/>
                    <a:p>
                      <a:r>
                        <a:rPr lang="en-US"/>
                        <a:t>Req #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Description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System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/>
                        <a:t>Verification Method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/>
                        <a:t>Status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4030238"/>
                  </a:ext>
                </a:extLst>
              </a:tr>
              <a:tr h="363062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4263199"/>
                  </a:ext>
                </a:extLst>
              </a:tr>
              <a:tr h="363062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2719692"/>
                  </a:ext>
                </a:extLst>
              </a:tr>
              <a:tr h="363062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4782230"/>
                  </a:ext>
                </a:extLst>
              </a:tr>
              <a:tr h="363062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3541077"/>
                  </a:ext>
                </a:extLst>
              </a:tr>
              <a:tr h="363062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32553279"/>
                  </a:ext>
                </a:extLst>
              </a:tr>
              <a:tr h="363062"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5348091"/>
                  </a:ext>
                </a:extLst>
              </a:tr>
              <a:tr h="363062"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3398252"/>
                  </a:ext>
                </a:extLst>
              </a:tr>
              <a:tr h="363062"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229968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284290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EE5597-48E0-39CE-96E2-48B1E9C01D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237BE6-A1D4-2CAA-AFD4-B6A4D2A732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403497"/>
            <a:ext cx="10653578" cy="1132258"/>
          </a:xfrm>
        </p:spPr>
        <p:txBody>
          <a:bodyPr/>
          <a:lstStyle/>
          <a:p>
            <a:r>
              <a:rPr lang="en-US"/>
              <a:t>Risk Template</a:t>
            </a: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546DCD64-63C8-1027-D4F4-BE290C13624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35443843"/>
              </p:ext>
            </p:extLst>
          </p:nvPr>
        </p:nvGraphicFramePr>
        <p:xfrm>
          <a:off x="612775" y="1233716"/>
          <a:ext cx="7845420" cy="475589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5919">
                  <a:extLst>
                    <a:ext uri="{9D8B030D-6E8A-4147-A177-3AD203B41FA5}">
                      <a16:colId xmlns:a16="http://schemas.microsoft.com/office/drawing/2014/main" val="3098987667"/>
                    </a:ext>
                  </a:extLst>
                </a:gridCol>
                <a:gridCol w="3029857">
                  <a:extLst>
                    <a:ext uri="{9D8B030D-6E8A-4147-A177-3AD203B41FA5}">
                      <a16:colId xmlns:a16="http://schemas.microsoft.com/office/drawing/2014/main" val="3687653135"/>
                    </a:ext>
                  </a:extLst>
                </a:gridCol>
                <a:gridCol w="731475">
                  <a:extLst>
                    <a:ext uri="{9D8B030D-6E8A-4147-A177-3AD203B41FA5}">
                      <a16:colId xmlns:a16="http://schemas.microsoft.com/office/drawing/2014/main" val="908228730"/>
                    </a:ext>
                  </a:extLst>
                </a:gridCol>
                <a:gridCol w="653630">
                  <a:extLst>
                    <a:ext uri="{9D8B030D-6E8A-4147-A177-3AD203B41FA5}">
                      <a16:colId xmlns:a16="http://schemas.microsoft.com/office/drawing/2014/main" val="3533606866"/>
                    </a:ext>
                  </a:extLst>
                </a:gridCol>
                <a:gridCol w="2484539">
                  <a:extLst>
                    <a:ext uri="{9D8B030D-6E8A-4147-A177-3AD203B41FA5}">
                      <a16:colId xmlns:a16="http://schemas.microsoft.com/office/drawing/2014/main" val="2473987835"/>
                    </a:ext>
                  </a:extLst>
                </a:gridCol>
              </a:tblGrid>
              <a:tr h="498000">
                <a:tc>
                  <a:txBody>
                    <a:bodyPr/>
                    <a:lstStyle/>
                    <a:p>
                      <a:r>
                        <a:rPr lang="en-US"/>
                        <a:t>ID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/>
                        <a:t>Risk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L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Mitigation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4030238"/>
                  </a:ext>
                </a:extLst>
              </a:tr>
              <a:tr h="49800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4263199"/>
                  </a:ext>
                </a:extLst>
              </a:tr>
              <a:tr h="49800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2719692"/>
                  </a:ext>
                </a:extLst>
              </a:tr>
              <a:tr h="49800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4782230"/>
                  </a:ext>
                </a:extLst>
              </a:tr>
              <a:tr h="49800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3541077"/>
                  </a:ext>
                </a:extLst>
              </a:tr>
              <a:tr h="49800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32553279"/>
                  </a:ext>
                </a:extLst>
              </a:tr>
              <a:tr h="572698"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48489102"/>
                  </a:ext>
                </a:extLst>
              </a:tr>
              <a:tr h="697199"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6186205"/>
                  </a:ext>
                </a:extLst>
              </a:tr>
              <a:tr h="498000"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99551909"/>
                  </a:ext>
                </a:extLst>
              </a:tr>
            </a:tbl>
          </a:graphicData>
        </a:graphic>
      </p:graphicFrame>
      <p:pic>
        <p:nvPicPr>
          <p:cNvPr id="9" name="Picture 8" descr="A logo of a planet&#10;&#10;AI-generated content may be incorrect.">
            <a:extLst>
              <a:ext uri="{FF2B5EF4-FFF2-40B4-BE49-F238E27FC236}">
                <a16:creationId xmlns:a16="http://schemas.microsoft.com/office/drawing/2014/main" id="{88AC2A4C-1C52-A648-BF43-EBF1F69059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10540" y="196315"/>
            <a:ext cx="1293894" cy="1288609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13D52CF4-166D-5969-4292-CD482F679CF1}"/>
              </a:ext>
            </a:extLst>
          </p:cNvPr>
          <p:cNvCxnSpPr/>
          <p:nvPr/>
        </p:nvCxnSpPr>
        <p:spPr>
          <a:xfrm flipV="1">
            <a:off x="526142" y="1094617"/>
            <a:ext cx="9748761" cy="30239"/>
          </a:xfrm>
          <a:prstGeom prst="straightConnector1">
            <a:avLst/>
          </a:prstGeom>
          <a:ln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6CB1CA7B-0ABB-FE3A-A730-13EDEF268DB7}"/>
              </a:ext>
            </a:extLst>
          </p:cNvPr>
          <p:cNvCxnSpPr>
            <a:cxnSpLocks/>
          </p:cNvCxnSpPr>
          <p:nvPr/>
        </p:nvCxnSpPr>
        <p:spPr>
          <a:xfrm>
            <a:off x="526141" y="6362093"/>
            <a:ext cx="11151808" cy="18141"/>
          </a:xfrm>
          <a:prstGeom prst="straightConnector1">
            <a:avLst/>
          </a:prstGeom>
          <a:ln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06B15C-DD99-386F-8EB9-CEE1AEFF59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t>8</a:t>
            </a:fld>
            <a:endParaRPr lang="en-US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8092C1BA-4FFF-2662-0694-D0CC09927459}"/>
              </a:ext>
            </a:extLst>
          </p:cNvPr>
          <p:cNvGraphicFramePr>
            <a:graphicFrameLocks noGrp="1"/>
          </p:cNvGraphicFramePr>
          <p:nvPr/>
        </p:nvGraphicFramePr>
        <p:xfrm>
          <a:off x="8816932" y="1933974"/>
          <a:ext cx="2960542" cy="3355380"/>
        </p:xfrm>
        <a:graphic>
          <a:graphicData uri="http://schemas.openxmlformats.org/drawingml/2006/table">
            <a:tbl>
              <a:tblPr/>
              <a:tblGrid>
                <a:gridCol w="377941">
                  <a:extLst>
                    <a:ext uri="{9D8B030D-6E8A-4147-A177-3AD203B41FA5}">
                      <a16:colId xmlns:a16="http://schemas.microsoft.com/office/drawing/2014/main" val="1978657172"/>
                    </a:ext>
                  </a:extLst>
                </a:gridCol>
                <a:gridCol w="377941">
                  <a:extLst>
                    <a:ext uri="{9D8B030D-6E8A-4147-A177-3AD203B41FA5}">
                      <a16:colId xmlns:a16="http://schemas.microsoft.com/office/drawing/2014/main" val="1617462491"/>
                    </a:ext>
                  </a:extLst>
                </a:gridCol>
                <a:gridCol w="440932">
                  <a:extLst>
                    <a:ext uri="{9D8B030D-6E8A-4147-A177-3AD203B41FA5}">
                      <a16:colId xmlns:a16="http://schemas.microsoft.com/office/drawing/2014/main" val="3708921764"/>
                    </a:ext>
                  </a:extLst>
                </a:gridCol>
                <a:gridCol w="440932">
                  <a:extLst>
                    <a:ext uri="{9D8B030D-6E8A-4147-A177-3AD203B41FA5}">
                      <a16:colId xmlns:a16="http://schemas.microsoft.com/office/drawing/2014/main" val="404409628"/>
                    </a:ext>
                  </a:extLst>
                </a:gridCol>
                <a:gridCol w="440932">
                  <a:extLst>
                    <a:ext uri="{9D8B030D-6E8A-4147-A177-3AD203B41FA5}">
                      <a16:colId xmlns:a16="http://schemas.microsoft.com/office/drawing/2014/main" val="2246665092"/>
                    </a:ext>
                  </a:extLst>
                </a:gridCol>
                <a:gridCol w="440932">
                  <a:extLst>
                    <a:ext uri="{9D8B030D-6E8A-4147-A177-3AD203B41FA5}">
                      <a16:colId xmlns:a16="http://schemas.microsoft.com/office/drawing/2014/main" val="3912443700"/>
                    </a:ext>
                  </a:extLst>
                </a:gridCol>
                <a:gridCol w="440932">
                  <a:extLst>
                    <a:ext uri="{9D8B030D-6E8A-4147-A177-3AD203B41FA5}">
                      <a16:colId xmlns:a16="http://schemas.microsoft.com/office/drawing/2014/main" val="3217327975"/>
                    </a:ext>
                  </a:extLst>
                </a:gridCol>
              </a:tblGrid>
              <a:tr h="470348">
                <a:tc rowSpan="5"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2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LIKELIHOOD</a:t>
                      </a:r>
                    </a:p>
                  </a:txBody>
                  <a:tcPr marL="6350" marR="6350" marT="6350" vert="vert27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DD6EE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24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</a:t>
                      </a:r>
                    </a:p>
                  </a:txBody>
                  <a:tcPr marL="6350" marR="6350" marT="635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47D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6666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6666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66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0752489"/>
                  </a:ext>
                </a:extLst>
              </a:tr>
              <a:tr h="470348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24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</a:t>
                      </a:r>
                    </a:p>
                  </a:txBody>
                  <a:tcPr marL="6350" marR="6350" marT="635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47D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endParaRPr lang="en-US" sz="22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6666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endParaRPr lang="en-US" sz="22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66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3133591"/>
                  </a:ext>
                </a:extLst>
              </a:tr>
              <a:tr h="544259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24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</a:t>
                      </a:r>
                    </a:p>
                  </a:txBody>
                  <a:tcPr marL="6350" marR="6350" marT="635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47D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47D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endParaRPr lang="en-US" sz="22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endParaRPr lang="en-US" sz="22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endParaRPr lang="en-US" sz="22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66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16146828"/>
                  </a:ext>
                </a:extLst>
              </a:tr>
              <a:tr h="477067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24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6350" marR="6350" marT="635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47D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endParaRPr lang="en-US" sz="22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47D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endParaRPr lang="en-US" sz="22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endParaRPr lang="en-US" sz="22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endParaRPr lang="en-US" sz="22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9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46447491"/>
                  </a:ext>
                </a:extLst>
              </a:tr>
              <a:tr h="557698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24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6350" marR="6350" marT="635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47D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47D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endParaRPr lang="en-US" sz="22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47D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47D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endParaRPr lang="en-US" sz="22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9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9306096"/>
                  </a:ext>
                </a:extLst>
              </a:tr>
              <a:tr h="380184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24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6350" marR="6350" marT="635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24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6350" marR="6350" marT="635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24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</a:t>
                      </a:r>
                    </a:p>
                  </a:txBody>
                  <a:tcPr marL="6350" marR="6350" marT="635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24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</a:t>
                      </a:r>
                    </a:p>
                  </a:txBody>
                  <a:tcPr marL="6350" marR="6350" marT="635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24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</a:t>
                      </a:r>
                    </a:p>
                  </a:txBody>
                  <a:tcPr marL="6350" marR="6350" marT="635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01085256"/>
                  </a:ext>
                </a:extLst>
              </a:tr>
              <a:tr h="380184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 gridSpan="5"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2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SEVERITY</a:t>
                      </a:r>
                    </a:p>
                  </a:txBody>
                  <a:tcPr marL="6350" marR="6350" marT="635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DD6E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37014013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B36705E2-5BA0-A397-45B4-60EE875B01B0}"/>
              </a:ext>
            </a:extLst>
          </p:cNvPr>
          <p:cNvSpPr txBox="1"/>
          <p:nvPr/>
        </p:nvSpPr>
        <p:spPr>
          <a:xfrm>
            <a:off x="3190350" y="6440249"/>
            <a:ext cx="5811296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b="1">
                <a:solidFill>
                  <a:schemeClr val="bg1">
                    <a:lumMod val="49000"/>
                  </a:schemeClr>
                </a:solidFill>
                <a:latin typeface="Bierstadt"/>
              </a:rPr>
              <a:t>Name - Email</a:t>
            </a:r>
            <a:endParaRPr lang="en-US">
              <a:solidFill>
                <a:schemeClr val="bg1">
                  <a:lumMod val="49000"/>
                </a:schemeClr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8C3D293-80EE-F84A-DCE7-7FC3B72A861B}"/>
              </a:ext>
            </a:extLst>
          </p:cNvPr>
          <p:cNvSpPr txBox="1"/>
          <p:nvPr/>
        </p:nvSpPr>
        <p:spPr>
          <a:xfrm>
            <a:off x="611347" y="6442164"/>
            <a:ext cx="4138811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solidFill>
                  <a:schemeClr val="bg1">
                    <a:lumMod val="49000"/>
                  </a:schemeClr>
                </a:solidFill>
                <a:latin typeface="Bierstadt Bold"/>
              </a:rPr>
              <a:t>10/09/25</a:t>
            </a:r>
            <a:r>
              <a:rPr lang="en-US">
                <a:latin typeface="Bierstadt Bold"/>
              </a:rPr>
              <a:t>  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989F7E6-4CE4-92E0-522E-6491CD43F6C7}"/>
              </a:ext>
            </a:extLst>
          </p:cNvPr>
          <p:cNvSpPr txBox="1"/>
          <p:nvPr/>
        </p:nvSpPr>
        <p:spPr>
          <a:xfrm>
            <a:off x="9638323" y="6443785"/>
            <a:ext cx="274320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solidFill>
                  <a:schemeClr val="bg1">
                    <a:lumMod val="49000"/>
                  </a:schemeClr>
                </a:solidFill>
                <a:latin typeface="Bierstadt Bold"/>
              </a:rPr>
              <a:t>TANGO SDR​ - UF</a:t>
            </a:r>
            <a:endParaRPr lang="en-US">
              <a:solidFill>
                <a:schemeClr val="bg1">
                  <a:lumMod val="49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22710644"/>
      </p:ext>
    </p:extLst>
  </p:cSld>
  <p:clrMapOvr>
    <a:masterClrMapping/>
  </p:clrMapOvr>
</p:sld>
</file>

<file path=ppt/theme/theme1.xml><?xml version="1.0" encoding="utf-8"?>
<a:theme xmlns:a="http://schemas.openxmlformats.org/drawingml/2006/main" name="VanillaVTI">
  <a:themeElements>
    <a:clrScheme name="Office 2007 - 2010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Aero Design">
      <a:majorFont>
        <a:latin typeface="Bierstadt Bold"/>
        <a:ea typeface=""/>
        <a:cs typeface=""/>
      </a:majorFont>
      <a:minorFont>
        <a:latin typeface="Bierstadt "/>
        <a:ea typeface=""/>
        <a:cs typeface=""/>
      </a:minorFont>
    </a:fontScheme>
    <a:fmtScheme name="VanillaVTI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nillaVTI" id="{AACC6CF0-9F86-48CC-9C4E-CA578EE0A0A0}" vid="{3BDE51FE-56D6-4100-AFB5-5B4AEDCE2EF6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116</TotalTime>
  <Words>483</Words>
  <Application>Microsoft Office PowerPoint</Application>
  <PresentationFormat>Widescreen</PresentationFormat>
  <Paragraphs>120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4" baseType="lpstr">
      <vt:lpstr>Arial</vt:lpstr>
      <vt:lpstr>Bierstadt</vt:lpstr>
      <vt:lpstr>Bierstadt </vt:lpstr>
      <vt:lpstr>Bierstadt Bold</vt:lpstr>
      <vt:lpstr>Calibri</vt:lpstr>
      <vt:lpstr>VanillaVTI</vt:lpstr>
      <vt:lpstr>TANGO GATOR-SAT Project </vt:lpstr>
      <vt:lpstr>Communications </vt:lpstr>
      <vt:lpstr>System Overview</vt:lpstr>
      <vt:lpstr>Requirements</vt:lpstr>
      <vt:lpstr>Table Template</vt:lpstr>
      <vt:lpstr>Requirements</vt:lpstr>
      <vt:lpstr>Requirements</vt:lpstr>
      <vt:lpstr>Risk Template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Noah Touchton</dc:creator>
  <cp:lastModifiedBy>Touchton, Noah A.</cp:lastModifiedBy>
  <cp:revision>5</cp:revision>
  <dcterms:created xsi:type="dcterms:W3CDTF">2025-09-23T20:49:02Z</dcterms:created>
  <dcterms:modified xsi:type="dcterms:W3CDTF">2025-10-02T17:48:19Z</dcterms:modified>
</cp:coreProperties>
</file>