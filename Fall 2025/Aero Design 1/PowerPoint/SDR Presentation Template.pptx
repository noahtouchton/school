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F_43BB541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2" r:id="rId3"/>
    <p:sldId id="267" r:id="rId4"/>
    <p:sldId id="268" r:id="rId5"/>
    <p:sldId id="271" r:id="rId6"/>
    <p:sldId id="270" r:id="rId7"/>
    <p:sldId id="26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D694ED-FC33-40EA-AF97-62CA419D652F}" name="Camargo, Naomi" initials="CN" userId="S::anaomi.camargo@ufl.edu::06bc4c7e-40a3-4ed3-98c3-eb58ec8963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C9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10F_43BB5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AA5F30-97BC-4ED3-93FE-79C40F58F8CA}" authorId="{C9D694ED-FC33-40EA-AF97-62CA419D652F}" created="2025-09-30T19:21:28.23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136350233" sldId="271"/>
      <ac:graphicFrameMk id="12" creationId="{4A9B0C3D-6086-3FAF-18AF-D65A3B83A526}"/>
      <ac:tblMk/>
      <ac:tcMk rowId="2334263199" colId="2473987835"/>
      <ac:txMk cp="0" len="13">
        <ac:context len="14" hash="147260756"/>
      </ac:txMk>
    </ac:txMkLst>
    <p188:pos x="9821333" y="973666"/>
    <p188:txBody>
      <a:bodyPr/>
      <a:lstStyle/>
      <a:p>
        <a:r>
          <a:rPr lang="en-US"/>
          <a:t>Example Format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18A7C-2B12-8D14-563D-9DCB36C2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32BE1-279E-4118-9FE3-7952B079A510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884CD-E564-1556-AC37-875E5E15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705BF-59F9-7D3A-4871-157F5B6C7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65885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838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445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60793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10/1/2025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3015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543976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10/1/2025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6439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33672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718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393876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536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2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0F_43BB5419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0C6812E7-DFBA-EBB4-9F52-92085382EA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8318" y="432497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>
                <a:solidFill>
                  <a:srgbClr val="FFFFFF"/>
                </a:solidFill>
                <a:latin typeface="Bierstadt"/>
              </a:rPr>
              <a:t>TANGO GATOR-SAT Project</a:t>
            </a:r>
            <a:br>
              <a:rPr lang="en-US" sz="6000">
                <a:latin typeface="Bierstadt"/>
              </a:rPr>
            </a:br>
            <a:endParaRPr lang="en-US" sz="600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2974" y="141170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400" i="0">
                <a:solidFill>
                  <a:srgbClr val="FFFFFF"/>
                </a:solidFill>
                <a:latin typeface="Bierstadt"/>
              </a:rPr>
              <a:t>System Design Review</a:t>
            </a:r>
          </a:p>
          <a:p>
            <a:endParaRPr lang="en-US" sz="2400" i="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3C06EBE-E9C3-444A-210C-EBACF003A901}"/>
              </a:ext>
            </a:extLst>
          </p:cNvPr>
          <p:cNvSpPr txBox="1">
            <a:spLocks/>
          </p:cNvSpPr>
          <p:nvPr/>
        </p:nvSpPr>
        <p:spPr>
          <a:xfrm>
            <a:off x="920479" y="5135267"/>
            <a:ext cx="10363411" cy="17240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i="0">
                <a:solidFill>
                  <a:srgbClr val="FFFFFF"/>
                </a:solidFill>
                <a:latin typeface="Bierstadt"/>
              </a:rPr>
              <a:t>Naomi Camargo, </a:t>
            </a:r>
            <a:r>
              <a:rPr lang="en-US" sz="2400" i="0" err="1">
                <a:solidFill>
                  <a:srgbClr val="FFFFFF"/>
                </a:solidFill>
                <a:latin typeface="Bierstadt"/>
              </a:rPr>
              <a:t>Shadalou</a:t>
            </a:r>
            <a:r>
              <a:rPr lang="en-US" sz="2400" i="0">
                <a:solidFill>
                  <a:srgbClr val="FFFFFF"/>
                </a:solidFill>
                <a:latin typeface="Bierstadt"/>
              </a:rPr>
              <a:t> Fernandez, Andre Hada, Nicholas Hirsh, Nicholas Kottas, Dhruv Mathuria, Nishtha Rajani, Noah Touchton, Ian Truelsegaard</a:t>
            </a:r>
            <a:endParaRPr lang="en-US">
              <a:solidFill>
                <a:srgbClr val="FFFFFF"/>
              </a:solidFill>
              <a:latin typeface="Bierstadt"/>
            </a:endParaRPr>
          </a:p>
          <a:p>
            <a:pPr algn="ctr"/>
            <a:r>
              <a:rPr lang="en-US" i="0">
                <a:latin typeface="Bierstadt"/>
              </a:rPr>
              <a:t>University of Florida – EAS4700  - October 9th, 2025</a:t>
            </a:r>
            <a:endParaRPr lang="en-US"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482A37D7-B211-E317-6F3D-B5EF854A0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224" y="1944077"/>
            <a:ext cx="2999322" cy="296984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AFBF62-DAFC-98A8-A6DC-DAE8EE2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0926-DADE-7FD2-0802-1D75C28A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75C04BA0-6172-125A-4182-389C879964D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C9915F-44FE-A6E5-82B5-5D023366B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Communications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A4F2D-8B1D-5F28-0BB9-88DD5046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8F7B27B6-1DC6-F11D-4D99-5F030A36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93B5F8-1909-5B8D-036E-75207B5B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2</a:t>
            </a:fld>
            <a:endParaRPr lang="en-US"/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7DE0DF91-5BC1-0621-4E2F-80087AC1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40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DDD-2837-2F06-3938-99A9ED1D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D4A4-1DA0-41DE-33D4-7D34DCAB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E6774-84BA-5D10-9573-80AB21674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08681"/>
            <a:ext cx="11155680" cy="3767328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>
              <a:latin typeface="Bierstadt"/>
              <a:ea typeface="Calibri"/>
              <a:cs typeface="Calibri"/>
            </a:endParaRP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6D4AEEB-DB8E-F994-0D5B-17DE16EA3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35ADC-BC7C-78F8-E57D-05D459293AD0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975F04-4B91-666F-69DB-04584D4B153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F8EDEC-93BC-E121-CA40-9EC2EA066D2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1C386-C1BF-1482-DDED-D1A12F0E2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12DE6-4D23-698E-E23D-88FDB8A054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0DBF7-B88D-71C3-1ED2-616A23DE156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58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8E7E-13FB-10B5-CA3C-FC5754B3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1489-289E-1B22-7DC2-D485BBEBD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Table Template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F798A9A5-36EF-B004-192C-4FB28AE31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000819-6E64-184F-73BF-CD6E0A7B671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9DAF19-741C-2FE8-2DD6-0DD25678C867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46E2994-DCCF-4011-33BB-2F1770E0E1A1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B0670-2369-BF90-550E-456C4CAE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10D935-00A0-36F6-B05A-A73F7B38775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1D8C5-5526-DC62-BD0B-8507E02330AB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271F74EB-B326-9FE5-BC22-4B9011978910}"/>
              </a:ext>
            </a:extLst>
          </p:cNvPr>
          <p:cNvGraphicFramePr>
            <a:graphicFrameLocks/>
          </p:cNvGraphicFramePr>
          <p:nvPr/>
        </p:nvGraphicFramePr>
        <p:xfrm>
          <a:off x="612775" y="1716088"/>
          <a:ext cx="1065370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248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308" y="929"/>
            <a:ext cx="1147356" cy="10834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4074455"/>
              </p:ext>
            </p:extLst>
          </p:nvPr>
        </p:nvGraphicFramePr>
        <p:xfrm>
          <a:off x="417390" y="1081087"/>
          <a:ext cx="11348677" cy="521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9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5352142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50262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3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269999">
                <a:tc>
                  <a:txBody>
                    <a:bodyPr/>
                    <a:lstStyle/>
                    <a:p>
                      <a:r>
                        <a:rPr lang="en-US"/>
                        <a:t>ASD-GTRS-01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>
                          <a:latin typeface="Arial"/>
                        </a:rPr>
                        <a:t>The GATOR-SAT </a:t>
                      </a:r>
                      <a:r>
                        <a:rPr lang="en-US" sz="1600" b="0" i="0" u="none" strike="noStrike" noProof="0" err="1">
                          <a:latin typeface="Arial"/>
                        </a:rPr>
                        <a:t>SmallSat</a:t>
                      </a:r>
                      <a:r>
                        <a:rPr lang="en-US" sz="1600" b="0" i="0" u="none" strike="noStrike" noProof="0">
                          <a:latin typeface="Arial"/>
                        </a:rPr>
                        <a:t> shall be capable of launching either as a Co-manifested Payload (CPL) or primary payload on a suitable government-owned or commercially owned launch vehicle that can accommodate </a:t>
                      </a:r>
                      <a:r>
                        <a:rPr lang="en-US" sz="1600" b="0" i="0" u="none" strike="noStrike" noProof="0" err="1">
                          <a:latin typeface="Arial"/>
                        </a:rPr>
                        <a:t>SmallSats</a:t>
                      </a:r>
                      <a:r>
                        <a:rPr lang="en-US" sz="1600" b="0" i="0" u="none" strike="noStrike" noProof="0">
                          <a:latin typeface="Arial"/>
                        </a:rPr>
                        <a:t>. </a:t>
                      </a:r>
                      <a:endParaRPr lang="en-US" sz="160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Demonstration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7042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0" i="0" u="none" strike="noStrike" noProof="0">
                        <a:latin typeface="Bierstadt 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350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771" y="108391"/>
            <a:ext cx="1245047" cy="123976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2625204"/>
              </p:ext>
            </p:extLst>
          </p:nvPr>
        </p:nvGraphicFramePr>
        <p:xfrm>
          <a:off x="524852" y="1481626"/>
          <a:ext cx="113486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740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2910984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28494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29856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5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429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5597-48E0-39CE-96E2-48B1E9C01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BE6-A1D4-2CAA-AFD4-B6A4D2A7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Risk Template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46DCD64-63C8-1027-D4F4-BE290C136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5443843"/>
              </p:ext>
            </p:extLst>
          </p:nvPr>
        </p:nvGraphicFramePr>
        <p:xfrm>
          <a:off x="612775" y="1233716"/>
          <a:ext cx="7845420" cy="4755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5919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3029857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73147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653630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248453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</a:tblGrid>
              <a:tr h="498000">
                <a:tc>
                  <a:txBody>
                    <a:bodyPr/>
                    <a:lstStyle/>
                    <a:p>
                      <a:r>
                        <a:rPr lang="en-US"/>
                        <a:t>ID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Mitigation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57269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89102"/>
                  </a:ext>
                </a:extLst>
              </a:tr>
              <a:tr h="697199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186205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51909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88AC2A4C-1C52-A648-BF43-EBF1F690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2CF4-166D-5969-4292-CD482F679C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B1CA7B-0ABB-FE3A-A730-13EDEF268DB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06B15C-DD99-386F-8EB9-CEE1AEFF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7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92C1BA-4FFF-2662-0694-D0CC09927459}"/>
              </a:ext>
            </a:extLst>
          </p:cNvPr>
          <p:cNvGraphicFramePr>
            <a:graphicFrameLocks noGrp="1"/>
          </p:cNvGraphicFramePr>
          <p:nvPr/>
        </p:nvGraphicFramePr>
        <p:xfrm>
          <a:off x="8816932" y="1933974"/>
          <a:ext cx="2960542" cy="3355380"/>
        </p:xfrm>
        <a:graphic>
          <a:graphicData uri="http://schemas.openxmlformats.org/drawingml/2006/table">
            <a:tbl>
              <a:tblPr/>
              <a:tblGrid>
                <a:gridCol w="377941">
                  <a:extLst>
                    <a:ext uri="{9D8B030D-6E8A-4147-A177-3AD203B41FA5}">
                      <a16:colId xmlns:a16="http://schemas.microsoft.com/office/drawing/2014/main" val="1978657172"/>
                    </a:ext>
                  </a:extLst>
                </a:gridCol>
                <a:gridCol w="377941">
                  <a:extLst>
                    <a:ext uri="{9D8B030D-6E8A-4147-A177-3AD203B41FA5}">
                      <a16:colId xmlns:a16="http://schemas.microsoft.com/office/drawing/2014/main" val="1617462491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708921764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404409628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2246665092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912443700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217327975"/>
                    </a:ext>
                  </a:extLst>
                </a:gridCol>
              </a:tblGrid>
              <a:tr h="470348">
                <a:tc rowSpan="5"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LIKELIHOOD</a:t>
                      </a:r>
                    </a:p>
                  </a:txBody>
                  <a:tcPr marL="6350" marR="6350" marT="6350" vert="vert27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52489"/>
                  </a:ext>
                </a:extLst>
              </a:tr>
              <a:tr h="47034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133591"/>
                  </a:ext>
                </a:extLst>
              </a:tr>
              <a:tr h="5442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46828"/>
                  </a:ext>
                </a:extLst>
              </a:tr>
              <a:tr h="4770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447491"/>
                  </a:ext>
                </a:extLst>
              </a:tr>
              <a:tr h="55769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30609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08525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014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6705E2-5BA0-A397-45B4-60EE875B01B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3D293-80EE-F84A-DCE7-7FC3B72A86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9F7E6-4CE4-92E0-522E-6491CD43F6C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7106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ero Design">
      <a:majorFont>
        <a:latin typeface="Bierstadt Bold"/>
        <a:ea typeface=""/>
        <a:cs typeface=""/>
      </a:majorFont>
      <a:minorFont>
        <a:latin typeface="Bierstadt 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174</Words>
  <Application>Microsoft Office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Bierstadt</vt:lpstr>
      <vt:lpstr>Bierstadt </vt:lpstr>
      <vt:lpstr>Bierstadt Bold</vt:lpstr>
      <vt:lpstr>Calibri</vt:lpstr>
      <vt:lpstr>VanillaVTI</vt:lpstr>
      <vt:lpstr>TANGO GATOR-SAT Project </vt:lpstr>
      <vt:lpstr>Communications </vt:lpstr>
      <vt:lpstr>System Overview</vt:lpstr>
      <vt:lpstr>Table Template</vt:lpstr>
      <vt:lpstr>Requirements</vt:lpstr>
      <vt:lpstr>Requirements</vt:lpstr>
      <vt:lpstr>Risk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Noah Touchton</dc:creator>
  <cp:lastModifiedBy>Touchton, Noah A.</cp:lastModifiedBy>
  <cp:revision>3</cp:revision>
  <dcterms:created xsi:type="dcterms:W3CDTF">2025-09-23T20:49:02Z</dcterms:created>
  <dcterms:modified xsi:type="dcterms:W3CDTF">2025-10-01T20:43:05Z</dcterms:modified>
</cp:coreProperties>
</file>